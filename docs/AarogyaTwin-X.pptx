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0" r:id="rId2"/>
    <p:sldMasterId id="2147483652" r:id="rId3"/>
  </p:sldMasterIdLst>
  <p:notesMasterIdLst>
    <p:notesMasterId r:id="rId16"/>
  </p:notesMasterIdLst>
  <p:sldIdLst>
    <p:sldId id="256" r:id="rId4"/>
    <p:sldId id="257" r:id="rId5"/>
    <p:sldId id="258" r:id="rId6"/>
    <p:sldId id="259" r:id="rId7"/>
    <p:sldId id="260" r:id="rId8"/>
    <p:sldId id="265" r:id="rId9"/>
    <p:sldId id="266" r:id="rId10"/>
    <p:sldId id="267" r:id="rId11"/>
    <p:sldId id="268" r:id="rId12"/>
    <p:sldId id="269" r:id="rId13"/>
    <p:sldId id="270" r:id="rId14"/>
    <p:sldId id="271" r:id="rId15"/>
  </p:sldIdLst>
  <p:sldSz cx="12192000" cy="6858000"/>
  <p:notesSz cx="6858000" cy="12192000"/>
  <p:embeddedFontLst>
    <p:embeddedFont>
      <p:font typeface="IBM Plex Sans" panose="020B0503050203000203" pitchFamily="34" charset="0"/>
      <p:regular r:id="rId17"/>
      <p:bold r:id="rId18"/>
      <p:italic r:id="rId19"/>
    </p:embeddedFont>
    <p:embeddedFont>
      <p:font typeface="Inter"/>
      <p:bold r:id="rId20"/>
    </p:embeddedFont>
    <p:embeddedFont>
      <p:font typeface="JetBrains Mono"/>
      <p:bold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snapToObjects="1">
      <p:cViewPr varScale="1">
        <p:scale>
          <a:sx n="82" d="100"/>
          <a:sy n="82" d="100"/>
        </p:scale>
        <p:origin x="6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2.fntdata"/><Relationship Id="rId3" Type="http://schemas.openxmlformats.org/officeDocument/2006/relationships/slideMaster" Target="slideMasters/slideMaster3.xml"/><Relationship Id="rId21" Type="http://schemas.openxmlformats.org/officeDocument/2006/relationships/font" Target="fonts/font5.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font" Target="fonts/font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B7A97D9-1E28-4E96-A35E-EFCDB2F22B78}" type="datetimeFigureOut">
              <a:rPr lang="en-IN"/>
              <a:t>19-10-2026</a:t>
            </a:fld>
            <a:endParaRPr lang="en-IN"/>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24A4B5-672E-4B56-921B-E3F07B443AC5}" type="slidenum">
              <a:rPr lang="en-IN"/>
              <a:t>‹#›</a:t>
            </a:fld>
            <a:endParaRPr lang="en-IN"/>
          </a:p>
        </p:txBody>
      </p:sp>
    </p:spTree>
    <p:extLst>
      <p:ext uri="{BB962C8B-B14F-4D97-AF65-F5344CB8AC3E}">
        <p14:creationId xmlns:p14="http://schemas.microsoft.com/office/powerpoint/2010/main" val="523041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in today’s diabetes AI. 1) Overconfident point estimates: the system says “your sugar will be 185 mg/dL” with no uncertainty range, a patient doses insulin on a number that may be wrong, and the result can be hypoglycemic shock. Studies show single-point forecasts lead to dangerous over-correction. 2) Alert fatigue: hospital CGM alarms run at 80–95% false positives, so clinicians start ignoring all alarms and real critical alerts get lost in the noise. More technology, worse outcomes. 3) Sensor dropout hallucination: when a CGM disconnects or its signal degrades, traditional AI keeps predicting from stale or missing data. The forecasts look confident but are fabricated, and no system ever says “I don’t know”. Common thread to close on: none of these systems tell you how sure they 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AarogyaTwin-X answers the three failures with four innovation pillars. 1) Multi-horizon forecasting: calibrated forecast heads at 30, 60 and 120 minutes, so clinicians get three named horizons instead of one number. Features are past-only, so there is zero future leakage. 2) A 90% conformal uncertainty band: split-conformal prediction intervals with a mathematical 90% coverage guarantee. The doctor sees a range like 92–122 mg/dL, not just “107”. 3) Safety abstention: when CGM data is stale (more than 15 minutes) or dropped, the system refuses to predict and returns an explicit warning, “Data too stale — abstained”. Better to stay silent than give a dangerous wrong answer. 4) What-if scenario sandbox: the clinician adjusts activity (0–30 min) and carbs (0–100g) and sees the prospective glucose trajectory change. It carries an explicit “Not medical advice” disclaimer and uses bounded assumptions, not treatment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four layers, flowing left to right. Layer 1, data input: a synthetic patient cohort of 60 patients over 5 days, with CGM glucose at 5-minute intervals, heart rate and HRV, sleep duration, activity and steps, meal and carbohydrate intake, and a static profile (age, BMI, HbA1c). Raw signals flow into Layer 2, feature engineering and the safety gate: past-only temporal lag vectors (rolling windows of glucose, slope, heart rate and meals, with a strict causal boundary and no future data access), plus a sensor freshness checker that flags CGM data older than 15 minutes as stale, computes the missing-data fraction, and decides to predict or abstain. Temporal features then feed Layer 3, the ML engine core, which runs three engines in parallel: the forecast engine (HistGradientBoostingRegressor with 30, 60 and 120 minute heads and causal-in-time adaptive residual personalization), the uncertainty engine (split-conformal prediction, 90% target coverage, calibrated on a separate patient cohort), and the event risk engine (logistic fusion classifier with Platt sigmoid calibration, detecting sustained readings above 180 mg/dL). Predictions and intervals go to Layer 4, the presentation layer: a local FastAPI REST API (health, patients, twin by id, simulate, metrics) that returns JSON responses to a React and TypeScript dashboard with a patient replay timeline, forecast and conformal band charts, dropout abstention alerts, and the scenario sandbox simulator, giving the clinician an interactive visualization.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Patient-disjoint evaluation: the 60 patients (5 days each, 300 patient-days in total) are split so that no patient appears in more than one split. 36 patients (60%) train the model to learn glucose patterns. 6 patients (10%) tune probabilities with Platt sigmoid calibration for event risk. 6 patients (10%) calibrate the prediction intervals, setting the split-conformal band widths. 12 patients (20%) are held out and never seen during training; they are used for the final evaluation only. Training patients are never used for calibration or testing, which removes identity leakage and temporal leakage that affect most healthcare AI benchmarks. Observations sit on a 5-minute grid, and the whole pipeline is deterministic with seed 2026 for full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the working dashboard, which runs locally on synthetic data. Top: patient selection and replay controls. Pick a held-out test patient from the dropdown (the “test split” tag confirms the patient was never used in training), scrub the replay clock through the 5-day timeline, advance one sensor reading at a time with Replay +5 min, and flip the Simulate CGM dropout toggle to test how the system behaves when the sensor fails. The API ready badge confirms the backend connection. Bottom: telemetry and signal quality. Current glucose is 113 mg/dL with a slope of 0.16 mg/dL per minute, heart rate is 66 bpm, and the signal integrity panel shows the CGM connected with 0% missing data. The replay history chart shows the past observed glucose curve, and the observed drivers panel lists context signals, not causal explanations.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forward forecast for one held-out synthetic patient. The model gives three calibrated heads at exactly 30, 60 and 120 minutes: 107, 105 and 104 mg/dL, each with a 90% split-conformal interval (92–122, 89–121 and 86–121 mg/dL). The 120-minute incident risk is 0.0%, so no sustained hyperglycemia is expected, and the sampled peak across the three horizons is 107 mg/dL. The dashed orange line is the 180 mg/dL threshold. The shaded band is the conformal prediction interval. The line between the dots is visual interpolation only; just the three heads are calibrated.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changer is intentional abstention. Left, a traditional model: the CGM sensor drops for 30 minutes, but the model keeps predicting from stale data and hallucinates a forecast. The clinician sees a confident number, acts on it, and the result can be a dangerous wrong insulin dose. Right, AarogyaTwin-X: it detects that the CGM is stale for more than 15 minutes, forecast fields become null, and the dashboard shows “Prediction abstained — CGM data too stale”, so the clinician knows to wait for fresh data. The two screenshots at the bottom are from the real dashboard: the Simulate CGM dropout toggle switched on, which removes the latest 30 minutes from model input, and the forecast view showing the risk as not estimable, the peak unavailable and the message that the engine abstains. Close with the line: in medical AI, staying silent when uncertain is far safer than giving a confident wrong answer.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sandbox lets a clinician explore bounded assumptions on top of the current forecast. Two sliders set an activity assumption (0 to 30 minutes of exercise) and a carbohydrate assumption (0 to 100 grams). Run comparison sends the scenario to the API and overlays the result on the baseline; Reset clears it back to baseline. The amber warning is always on screen: not medical advice, not a treatment estimate. In the screenshot, a 20-minute activity plus 40 g carbohydrate scenario moves the forecast from 107, 105 and 104 mg/dL at the baseline to 128, 119 and 110 mg/dL, and the table lists the intervals for each horizon. Example uses: a patient wants to eat 40 g of carbs (about 2 rotis), so how much will glucose spike? The patient can walk for 20 minutes, so will walking offset the spike? Combine both for the net effect of meal plus exercise. Close on the disclaimer: all outputs are bounded sandbox assumptions, not treatment effects, medication recommendations or dosing guidance. The scenario bands are inherited illustrative bounds and are not calibrated for interventions.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on the 12 held-out test patients, 60 patient-days, none of which were used for training or calibration. Table one: forecast accuracy and uncertainty coverage. MAE is 7.21, 7.85 and 8.38 mg/dL and RMSE is 9.76, 10.42 and 11.00 mg/dL at 30, 60 and 120 minutes. The 90% conformal intervals cover 89.95%, 89.36% and 90.00% of observations, so coverage lands on the 90% target, with interval widths of 30.04, 32.08 and 34.93 mg/dL. Table two: event risk calibration before and after Platt scaling. AUROC is unchanged at 0.94330 because the ranking is preserved. Brier score improves from 0.05035 to 0.02437 (51.6% better), log loss from 0.18466 to 0.13559 (26.6% better), and expected calibration error from 0.05814 to 0.02387 (58.9% better). Coverage of 89.36% at 60 minutes is just under the nominal 90%; be ready to describe it as within sampling tolerance on 12 patients.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has four phases. Phase 1, the synthetic prototype, is complete: the 60-patient synthetic cohort validation, conformal calibration with Platt probability scaling, the full dashboard with abstention and the scenario sandbox, and 6 of 6 automated tests passing. Phase 2, in progress next, is real-world dataset validation on OhioT1DM (12 real Type-1 diabetes patients) and the D1NAMO wearable glucose dataset, with cross-cohort generalization testing. Phase 3 is live sensor integration: real-time Dexcom G7 and Libre 3 APIs, a streaming CGM to real-time inference pipeline, and edge deployment on a Raspberry Pi or hospital workstation. Phase 4 is the clinical research partnership: an IRB-approved pilot study with an endocrinology department, formal calibration on diverse patient populations, and exploring the regulatory pathway for Software as a Medical Device. Phases 3 and 4 have dashed borders because they are planned, not started. Today the system is a research prototype on synthetic data only.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AarogyaTwin-X forecasts with evidence, not unsupported certainty: calibrated multi-horizon forecasts, a 90% conformal band, intentional abstention when the sensor data cannot be trusted, and a bounded what-if sandbox, all evaluated on patients the model never saw. Replace the bracketed placeholders with the real GitHub username and demo video link before presenting. The project is MIT licensed. Team40: Amit and Hansraj, Arya College of Engineering and IT. Close on the line that the courage to say “I don’t know” is the most important feature in healthcare AI,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11200" y="565150"/>
            <a:ext cx="5831800" cy="530860"/>
          </a:xfrm>
          <a:prstGeom prst="rect">
            <a:avLst/>
          </a:prstGeom>
          <a:noFill/>
          <a:ln/>
        </p:spPr>
        <p:txBody>
          <a:bodyPr wrap="square" lIns="0" tIns="0" rIns="0" bIns="0" rtlCol="0" anchor="t"/>
          <a:lstStyle>
            <a:lvl1pPr marL="0" indent="0" algn="l">
              <a:lnSpc>
                <a:spcPct val="110000"/>
              </a:lnSpc>
              <a:buNone/>
              <a:defRPr lang="en-US" sz="3500" dirty="0">
                <a:solidFill>
                  <a:srgbClr val="F1F5F9"/>
                </a:solidFill>
                <a:latin typeface="IBM Plex Sans" pitchFamily="34" charset="0"/>
                <a:ea typeface="IBM Plex Sans" pitchFamily="34" charset="-122"/>
                <a:cs typeface="IBM Plex Sans" pitchFamily="34" charset="-120"/>
              </a:defRPr>
            </a:lvl1pPr>
          </a:lstStyle>
          <a:p>
            <a:pPr marL="0" indent="0" algn="l">
              <a:lnSpc>
                <a:spcPct val="110000"/>
              </a:lnSpc>
              <a:buNone/>
            </a:pPr>
            <a:endParaRPr lang="en-US" sz="3500" dirty="0"/>
          </a:p>
        </p:txBody>
      </p:sp>
      <p:sp>
        <p:nvSpPr>
          <p:cNvPr id="3" name="Text Placeholder 2"/>
          <p:cNvSpPr>
            <a:spLocks noGrp="1"/>
          </p:cNvSpPr>
          <p:nvPr>
            <p:ph type="body" idx="101"/>
          </p:nvPr>
        </p:nvSpPr>
        <p:spPr>
          <a:xfrm>
            <a:off x="711200" y="1400810"/>
            <a:ext cx="10668000" cy="4644390"/>
          </a:xfrm>
          <a:prstGeom prst="rect">
            <a:avLst/>
          </a:prstGeom>
          <a:noFill/>
          <a:ln/>
        </p:spPr>
        <p:txBody>
          <a:bodyPr wrap="square" lIns="0" tIns="0" rIns="0" bIns="0" rtlCol="0" anchor="t"/>
          <a:lstStyle>
            <a:lvl1pPr marL="0" indent="0" algn="l">
              <a:lnSpc>
                <a:spcPct val="140000"/>
              </a:lnSpc>
              <a:buNone/>
              <a:defRPr lang="en-US" sz="1600" dirty="0">
                <a:solidFill>
                  <a:srgbClr val="F1F5F9"/>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5600" y="397511"/>
            <a:ext cx="6358652" cy="447040"/>
          </a:xfrm>
          <a:prstGeom prst="rect">
            <a:avLst/>
          </a:prstGeom>
          <a:noFill/>
          <a:ln/>
        </p:spPr>
        <p:txBody>
          <a:bodyPr wrap="square" lIns="0" tIns="0" rIns="0" bIns="0" rtlCol="0" anchor="t"/>
          <a:lstStyle>
            <a:lvl1pPr marL="0" indent="0" algn="l">
              <a:lnSpc>
                <a:spcPct val="110000"/>
              </a:lnSpc>
              <a:buNone/>
              <a:defRPr lang="en-US" sz="3200" dirty="0">
                <a:solidFill>
                  <a:srgbClr val="F1F5F9"/>
                </a:solidFill>
                <a:latin typeface="IBM Plex Sans" pitchFamily="34" charset="0"/>
                <a:ea typeface="IBM Plex Sans" pitchFamily="34" charset="-122"/>
                <a:cs typeface="IBM Plex Sans" pitchFamily="34" charset="-120"/>
              </a:defRPr>
            </a:lvl1pPr>
          </a:lstStyle>
          <a:p>
            <a:pPr marL="0" indent="0" algn="l">
              <a:lnSpc>
                <a:spcPct val="110000"/>
              </a:lnSpc>
              <a:buNone/>
            </a:pPr>
            <a:endParaRPr lang="en-US" sz="3200" dirty="0"/>
          </a:p>
        </p:txBody>
      </p:sp>
      <p:sp>
        <p:nvSpPr>
          <p:cNvPr id="3" name="Text Placeholder 2"/>
          <p:cNvSpPr>
            <a:spLocks noGrp="1"/>
          </p:cNvSpPr>
          <p:nvPr>
            <p:ph type="body" idx="101"/>
          </p:nvPr>
        </p:nvSpPr>
        <p:spPr>
          <a:xfrm>
            <a:off x="355600" y="1149351"/>
            <a:ext cx="11023600" cy="4895849"/>
          </a:xfrm>
          <a:prstGeom prst="rect">
            <a:avLst/>
          </a:prstGeom>
          <a:noFill/>
          <a:ln/>
        </p:spPr>
        <p:txBody>
          <a:bodyPr wrap="square" lIns="0" tIns="0" rIns="0" bIns="0" rtlCol="0" anchor="t"/>
          <a:lstStyle>
            <a:lvl1pPr marL="0" indent="0" algn="l">
              <a:lnSpc>
                <a:spcPct val="140000"/>
              </a:lnSpc>
              <a:buNone/>
              <a:defRPr lang="en-US" sz="1600" dirty="0">
                <a:solidFill>
                  <a:srgbClr val="F1F5F9"/>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5600" y="397511"/>
            <a:ext cx="6358652" cy="447040"/>
          </a:xfrm>
          <a:prstGeom prst="rect">
            <a:avLst/>
          </a:prstGeom>
          <a:noFill/>
          <a:ln/>
        </p:spPr>
        <p:txBody>
          <a:bodyPr wrap="square" lIns="0" tIns="0" rIns="0" bIns="0" rtlCol="0" anchor="t"/>
          <a:lstStyle>
            <a:lvl1pPr marL="0" indent="0" algn="l">
              <a:lnSpc>
                <a:spcPct val="110000"/>
              </a:lnSpc>
              <a:buNone/>
              <a:defRPr lang="en-US" sz="3200" dirty="0">
                <a:solidFill>
                  <a:srgbClr val="2DD4BF"/>
                </a:solidFill>
                <a:latin typeface="IBM Plex Sans" pitchFamily="34" charset="0"/>
                <a:ea typeface="IBM Plex Sans" pitchFamily="34" charset="-122"/>
                <a:cs typeface="IBM Plex Sans" pitchFamily="34" charset="-120"/>
              </a:defRPr>
            </a:lvl1pPr>
          </a:lstStyle>
          <a:p>
            <a:pPr marL="0" indent="0" algn="l">
              <a:lnSpc>
                <a:spcPct val="110000"/>
              </a:lnSpc>
              <a:buNone/>
            </a:pPr>
            <a:endParaRPr lang="en-US" sz="3200" dirty="0"/>
          </a:p>
        </p:txBody>
      </p:sp>
      <p:sp>
        <p:nvSpPr>
          <p:cNvPr id="3" name="Text Placeholder 2"/>
          <p:cNvSpPr>
            <a:spLocks noGrp="1"/>
          </p:cNvSpPr>
          <p:nvPr>
            <p:ph type="body" idx="101"/>
          </p:nvPr>
        </p:nvSpPr>
        <p:spPr>
          <a:xfrm>
            <a:off x="355600" y="1149351"/>
            <a:ext cx="11023600" cy="4895849"/>
          </a:xfrm>
          <a:prstGeom prst="rect">
            <a:avLst/>
          </a:prstGeom>
          <a:noFill/>
          <a:ln/>
        </p:spPr>
        <p:txBody>
          <a:bodyPr wrap="square" lIns="0" tIns="0" rIns="0" bIns="0" rtlCol="0" anchor="t"/>
          <a:lstStyle>
            <a:lvl1pPr marL="0" indent="0" algn="l">
              <a:lnSpc>
                <a:spcPct val="140000"/>
              </a:lnSpc>
              <a:buNone/>
              <a:defRPr lang="en-US" sz="1600" dirty="0">
                <a:solidFill>
                  <a:srgbClr val="E2E8F0"/>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F1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11200" y="565150"/>
            <a:ext cx="5831800" cy="530860"/>
          </a:xfrm>
          <a:prstGeom prst="rect">
            <a:avLst/>
          </a:prstGeom>
          <a:noFill/>
          <a:ln/>
        </p:spPr>
        <p:txBody>
          <a:bodyPr wrap="square" lIns="0" tIns="0" rIns="0" bIns="0" rtlCol="0" anchor="t"/>
          <a:lstStyle>
            <a:lvl1pPr marL="0" indent="0" algn="l">
              <a:lnSpc>
                <a:spcPct val="110000"/>
              </a:lnSpc>
              <a:buNone/>
              <a:defRPr lang="en-US" sz="3500" dirty="0">
                <a:solidFill>
                  <a:srgbClr val="F1F5F9"/>
                </a:solidFill>
                <a:latin typeface="IBM Plex Sans" pitchFamily="34" charset="0"/>
                <a:ea typeface="IBM Plex Sans" pitchFamily="34" charset="-122"/>
                <a:cs typeface="IBM Plex Sans" pitchFamily="34" charset="-120"/>
              </a:defRPr>
            </a:lvl1pPr>
          </a:lstStyle>
          <a:p>
            <a:pPr marL="0" indent="0" algn="l">
              <a:lnSpc>
                <a:spcPct val="110000"/>
              </a:lnSpc>
              <a:buNone/>
            </a:pPr>
            <a:endParaRPr lang="en-US" sz="3500" dirty="0"/>
          </a:p>
        </p:txBody>
      </p:sp>
      <p:sp>
        <p:nvSpPr>
          <p:cNvPr id="3" name="Text Placeholder 2"/>
          <p:cNvSpPr>
            <a:spLocks noGrp="1"/>
          </p:cNvSpPr>
          <p:nvPr>
            <p:ph type="body" idx="101"/>
          </p:nvPr>
        </p:nvSpPr>
        <p:spPr>
          <a:xfrm>
            <a:off x="711200" y="1400810"/>
            <a:ext cx="10668000" cy="4644390"/>
          </a:xfrm>
          <a:prstGeom prst="rect">
            <a:avLst/>
          </a:prstGeom>
          <a:noFill/>
          <a:ln/>
        </p:spPr>
        <p:txBody>
          <a:bodyPr wrap="square" lIns="0" tIns="0" rIns="0" bIns="0" rtlCol="0" anchor="t"/>
          <a:lstStyle>
            <a:lvl1pPr marL="0" indent="0" algn="l">
              <a:lnSpc>
                <a:spcPct val="140000"/>
              </a:lnSpc>
              <a:buNone/>
              <a:defRPr lang="en-US" sz="1600" dirty="0">
                <a:solidFill>
                  <a:srgbClr val="F1F5F9"/>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A0F1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5600" y="397511"/>
            <a:ext cx="6358652" cy="447040"/>
          </a:xfrm>
          <a:prstGeom prst="rect">
            <a:avLst/>
          </a:prstGeom>
          <a:noFill/>
          <a:ln/>
        </p:spPr>
        <p:txBody>
          <a:bodyPr wrap="square" lIns="0" tIns="0" rIns="0" bIns="0" rtlCol="0" anchor="t"/>
          <a:lstStyle>
            <a:lvl1pPr marL="0" indent="0" algn="l">
              <a:lnSpc>
                <a:spcPct val="110000"/>
              </a:lnSpc>
              <a:buNone/>
              <a:defRPr lang="en-US" sz="3200" dirty="0">
                <a:solidFill>
                  <a:srgbClr val="F1F5F9"/>
                </a:solidFill>
                <a:latin typeface="IBM Plex Sans" pitchFamily="34" charset="0"/>
                <a:ea typeface="IBM Plex Sans" pitchFamily="34" charset="-122"/>
                <a:cs typeface="IBM Plex Sans" pitchFamily="34" charset="-120"/>
              </a:defRPr>
            </a:lvl1pPr>
          </a:lstStyle>
          <a:p>
            <a:pPr marL="0" indent="0" algn="l">
              <a:lnSpc>
                <a:spcPct val="110000"/>
              </a:lnSpc>
              <a:buNone/>
            </a:pPr>
            <a:endParaRPr lang="en-US" sz="3200" dirty="0"/>
          </a:p>
        </p:txBody>
      </p:sp>
      <p:sp>
        <p:nvSpPr>
          <p:cNvPr id="3" name="Text Placeholder 2"/>
          <p:cNvSpPr>
            <a:spLocks noGrp="1"/>
          </p:cNvSpPr>
          <p:nvPr>
            <p:ph type="body" idx="101"/>
          </p:nvPr>
        </p:nvSpPr>
        <p:spPr>
          <a:xfrm>
            <a:off x="355600" y="1149351"/>
            <a:ext cx="11023600" cy="4895849"/>
          </a:xfrm>
          <a:prstGeom prst="rect">
            <a:avLst/>
          </a:prstGeom>
          <a:noFill/>
          <a:ln/>
        </p:spPr>
        <p:txBody>
          <a:bodyPr wrap="square" lIns="0" tIns="0" rIns="0" bIns="0" rtlCol="0" anchor="t"/>
          <a:lstStyle>
            <a:lvl1pPr marL="0" indent="0" algn="l">
              <a:lnSpc>
                <a:spcPct val="140000"/>
              </a:lnSpc>
              <a:buNone/>
              <a:defRPr lang="en-US" sz="1600" dirty="0">
                <a:solidFill>
                  <a:srgbClr val="F1F5F9"/>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55" r:id="rId1"/>
    <p:sldLayoutId id="214748365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1"/>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832" y="0"/>
            <a:ext cx="12192000" cy="6858000"/>
          </a:xfrm>
          <a:prstGeom prst="rect">
            <a:avLst/>
          </a:prstGeom>
        </p:spPr>
      </p:pic>
      <p:sp>
        <p:nvSpPr>
          <p:cNvPr id="3" name="Rectangle 2"/>
          <p:cNvSpPr/>
          <p:nvPr/>
        </p:nvSpPr>
        <p:spPr>
          <a:xfrm>
            <a:off x="504825" y="5524500"/>
            <a:ext cx="11182350" cy="10001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27639" y="1271587"/>
            <a:ext cx="4859535" cy="3781425"/>
          </a:xfrm>
          <a:prstGeom prst="roundRect">
            <a:avLst>
              <a:gd name="adj" fmla="val 4534"/>
            </a:avLst>
          </a:prstGeom>
          <a:solidFill>
            <a:srgbClr val="0D1426"/>
          </a:solidFill>
          <a:ln w="9525">
            <a:solidFill>
              <a:srgbClr val="033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4825" y="5667375"/>
            <a:ext cx="7059959" cy="857250"/>
          </a:xfrm>
          <a:prstGeom prst="roundRect">
            <a:avLst>
              <a:gd name="adj" fmla="val 17777"/>
            </a:avLst>
          </a:prstGeom>
          <a:solidFill>
            <a:srgbClr val="0C1325"/>
          </a:solidFill>
          <a:ln w="9525">
            <a:solidFill>
              <a:srgbClr val="033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4825" y="5524500"/>
            <a:ext cx="111823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4825" y="342900"/>
            <a:ext cx="2838450" cy="304800"/>
          </a:xfrm>
          <a:prstGeom prst="roundRect">
            <a:avLst>
              <a:gd name="adj" fmla="val 25000"/>
            </a:avLst>
          </a:prstGeom>
          <a:solidFill>
            <a:srgbClr val="051F2D"/>
          </a:solidFill>
          <a:ln w="9525">
            <a:solidFill>
              <a:srgbClr val="0344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86625" y="333375"/>
            <a:ext cx="2247900" cy="323850"/>
          </a:xfrm>
          <a:prstGeom prst="roundRect">
            <a:avLst>
              <a:gd name="adj" fmla="val 50000"/>
            </a:avLst>
          </a:prstGeom>
          <a:solidFill>
            <a:srgbClr val="053C31"/>
          </a:solidFill>
          <a:ln w="9525">
            <a:solidFill>
              <a:srgbClr val="0A68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648825" y="333375"/>
            <a:ext cx="2038350" cy="323850"/>
          </a:xfrm>
          <a:prstGeom prst="roundRect">
            <a:avLst>
              <a:gd name="adj" fmla="val 50000"/>
            </a:avLst>
          </a:prstGeom>
          <a:solidFill>
            <a:srgbClr val="3A0E0A"/>
          </a:solidFill>
          <a:ln w="9525">
            <a:solidFill>
              <a:srgbClr val="9647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4825" y="3100387"/>
            <a:ext cx="5979914" cy="495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027664" y="2024062"/>
            <a:ext cx="4459485" cy="2095500"/>
          </a:xfrm>
          <a:prstGeom prst="roundRect">
            <a:avLst>
              <a:gd name="adj" fmla="val 5454"/>
            </a:avLst>
          </a:prstGeom>
          <a:solidFill>
            <a:srgbClr val="030713"/>
          </a:solidFill>
          <a:ln w="9525">
            <a:solidFill>
              <a:srgbClr val="1D28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4825" y="1747837"/>
            <a:ext cx="4838700" cy="295275"/>
          </a:xfrm>
          <a:prstGeom prst="roundRect">
            <a:avLst>
              <a:gd name="adj" fmla="val 50000"/>
            </a:avLst>
          </a:prstGeom>
          <a:solidFill>
            <a:srgbClr val="041820"/>
          </a:solidFill>
          <a:ln w="9525">
            <a:solidFill>
              <a:srgbClr val="0E4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4825" y="2219325"/>
            <a:ext cx="704850" cy="704850"/>
          </a:xfrm>
          <a:prstGeom prst="roundRect">
            <a:avLst>
              <a:gd name="adj" fmla="val 21621"/>
            </a:avLst>
          </a:prstGeom>
          <a:solidFill>
            <a:srgbClr val="072532"/>
          </a:solidFill>
          <a:ln w="9525">
            <a:solidFill>
              <a:srgbClr val="1062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4825" y="3100387"/>
            <a:ext cx="38100" cy="4953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4825" y="4243387"/>
            <a:ext cx="2257425" cy="333375"/>
          </a:xfrm>
          <a:prstGeom prst="roundRect">
            <a:avLst>
              <a:gd name="adj" fmla="val 28571"/>
            </a:avLst>
          </a:prstGeom>
          <a:solidFill>
            <a:srgbClr val="0D1426"/>
          </a:solidFill>
          <a:ln w="9525">
            <a:solidFill>
              <a:srgbClr val="2C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857500" y="4243387"/>
            <a:ext cx="1924050" cy="333375"/>
          </a:xfrm>
          <a:prstGeom prst="roundRect">
            <a:avLst>
              <a:gd name="adj" fmla="val 28571"/>
            </a:avLst>
          </a:prstGeom>
          <a:solidFill>
            <a:srgbClr val="0D1426"/>
          </a:solidFill>
          <a:ln w="9525">
            <a:solidFill>
              <a:srgbClr val="2C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876800" y="4243387"/>
            <a:ext cx="1362075" cy="333375"/>
          </a:xfrm>
          <a:prstGeom prst="roundRect">
            <a:avLst>
              <a:gd name="adj" fmla="val 28571"/>
            </a:avLst>
          </a:prstGeom>
          <a:solidFill>
            <a:srgbClr val="0D1426"/>
          </a:solidFill>
          <a:ln w="9525">
            <a:solidFill>
              <a:srgbClr val="2C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591800" y="1504950"/>
            <a:ext cx="895350" cy="266700"/>
          </a:xfrm>
          <a:prstGeom prst="roundRect">
            <a:avLst>
              <a:gd name="adj" fmla="val 21428"/>
            </a:avLst>
          </a:prstGeom>
          <a:solidFill>
            <a:srgbClr val="0C2E42"/>
          </a:solidFill>
          <a:ln w="9525">
            <a:solidFill>
              <a:srgbClr val="1457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151489" y="3738562"/>
            <a:ext cx="4211835" cy="257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027664" y="4233862"/>
            <a:ext cx="1422945" cy="619125"/>
          </a:xfrm>
          <a:prstGeom prst="roundRect">
            <a:avLst>
              <a:gd name="adj" fmla="val 15384"/>
            </a:avLst>
          </a:prstGeom>
          <a:solidFill>
            <a:srgbClr val="050A16"/>
          </a:solidFill>
          <a:ln w="9525">
            <a:solidFill>
              <a:srgbClr val="1C2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545859" y="4233862"/>
            <a:ext cx="1422945" cy="619125"/>
          </a:xfrm>
          <a:prstGeom prst="roundRect">
            <a:avLst>
              <a:gd name="adj" fmla="val 15384"/>
            </a:avLst>
          </a:prstGeom>
          <a:solidFill>
            <a:srgbClr val="050A16"/>
          </a:solidFill>
          <a:ln w="9525">
            <a:solidFill>
              <a:srgbClr val="1C2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064055" y="4233862"/>
            <a:ext cx="1422945" cy="619125"/>
          </a:xfrm>
          <a:prstGeom prst="roundRect">
            <a:avLst>
              <a:gd name="adj" fmla="val 15384"/>
            </a:avLst>
          </a:prstGeom>
          <a:solidFill>
            <a:srgbClr val="050A16"/>
          </a:solidFill>
          <a:ln w="9525">
            <a:solidFill>
              <a:srgbClr val="1C2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23900" y="5748338"/>
            <a:ext cx="371177" cy="381000"/>
          </a:xfrm>
          <a:prstGeom prst="roundRect">
            <a:avLst>
              <a:gd name="adj" fmla="val 25661"/>
            </a:avLst>
          </a:prstGeom>
          <a:solidFill>
            <a:srgbClr val="0B2D41"/>
          </a:solidFill>
          <a:ln w="9525">
            <a:solidFill>
              <a:srgbClr val="1560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151489" y="3738562"/>
            <a:ext cx="4211835"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mage.png"/>
          <p:cNvPicPr>
            <a:picLocks noChangeAspect="1"/>
          </p:cNvPicPr>
          <p:nvPr/>
        </p:nvPicPr>
        <p:blipFill>
          <a:blip r:embed="rId3"/>
          <a:stretch>
            <a:fillRect/>
          </a:stretch>
        </p:blipFill>
        <p:spPr>
          <a:xfrm>
            <a:off x="628650" y="457200"/>
            <a:ext cx="76200" cy="76200"/>
          </a:xfrm>
          <a:prstGeom prst="rect">
            <a:avLst/>
          </a:prstGeom>
        </p:spPr>
      </p:pic>
      <p:pic>
        <p:nvPicPr>
          <p:cNvPr id="26" name="Picture 25" descr="image.png"/>
          <p:cNvPicPr>
            <a:picLocks noChangeAspect="1"/>
          </p:cNvPicPr>
          <p:nvPr/>
        </p:nvPicPr>
        <p:blipFill>
          <a:blip r:embed="rId4"/>
          <a:stretch>
            <a:fillRect/>
          </a:stretch>
        </p:blipFill>
        <p:spPr>
          <a:xfrm>
            <a:off x="7439025" y="428625"/>
            <a:ext cx="114300" cy="133350"/>
          </a:xfrm>
          <a:prstGeom prst="rect">
            <a:avLst/>
          </a:prstGeom>
        </p:spPr>
      </p:pic>
      <p:pic>
        <p:nvPicPr>
          <p:cNvPr id="27" name="Picture 26" descr="image.png"/>
          <p:cNvPicPr>
            <a:picLocks noChangeAspect="1"/>
          </p:cNvPicPr>
          <p:nvPr/>
        </p:nvPicPr>
        <p:blipFill>
          <a:blip r:embed="rId5"/>
          <a:stretch>
            <a:fillRect/>
          </a:stretch>
        </p:blipFill>
        <p:spPr>
          <a:xfrm>
            <a:off x="9801225" y="428625"/>
            <a:ext cx="133350" cy="133350"/>
          </a:xfrm>
          <a:prstGeom prst="rect">
            <a:avLst/>
          </a:prstGeom>
        </p:spPr>
      </p:pic>
      <p:pic>
        <p:nvPicPr>
          <p:cNvPr id="28" name="Picture 27" descr="image.png"/>
          <p:cNvPicPr>
            <a:picLocks noChangeAspect="1"/>
          </p:cNvPicPr>
          <p:nvPr/>
        </p:nvPicPr>
        <p:blipFill>
          <a:blip r:embed="rId6"/>
          <a:stretch>
            <a:fillRect/>
          </a:stretch>
        </p:blipFill>
        <p:spPr>
          <a:xfrm>
            <a:off x="504825" y="3748087"/>
            <a:ext cx="5979914" cy="342900"/>
          </a:xfrm>
          <a:prstGeom prst="rect">
            <a:avLst/>
          </a:prstGeom>
        </p:spPr>
      </p:pic>
      <p:pic>
        <p:nvPicPr>
          <p:cNvPr id="29" name="Picture 28" descr="image.png"/>
          <p:cNvPicPr>
            <a:picLocks noChangeAspect="1"/>
          </p:cNvPicPr>
          <p:nvPr/>
        </p:nvPicPr>
        <p:blipFill>
          <a:blip r:embed="rId7"/>
          <a:stretch>
            <a:fillRect/>
          </a:stretch>
        </p:blipFill>
        <p:spPr>
          <a:xfrm>
            <a:off x="7151489" y="2376487"/>
            <a:ext cx="4211835" cy="1285875"/>
          </a:xfrm>
          <a:prstGeom prst="rect">
            <a:avLst/>
          </a:prstGeom>
        </p:spPr>
      </p:pic>
      <p:pic>
        <p:nvPicPr>
          <p:cNvPr id="30" name="Picture 29" descr="image.png"/>
          <p:cNvPicPr>
            <a:picLocks noChangeAspect="1"/>
          </p:cNvPicPr>
          <p:nvPr/>
        </p:nvPicPr>
        <p:blipFill>
          <a:blip r:embed="rId8"/>
          <a:stretch>
            <a:fillRect/>
          </a:stretch>
        </p:blipFill>
        <p:spPr>
          <a:xfrm>
            <a:off x="647700" y="1828800"/>
            <a:ext cx="133350" cy="133350"/>
          </a:xfrm>
          <a:prstGeom prst="rect">
            <a:avLst/>
          </a:prstGeom>
        </p:spPr>
      </p:pic>
      <p:pic>
        <p:nvPicPr>
          <p:cNvPr id="31" name="Picture 30" descr="image.png"/>
          <p:cNvPicPr>
            <a:picLocks noChangeAspect="1"/>
          </p:cNvPicPr>
          <p:nvPr/>
        </p:nvPicPr>
        <p:blipFill>
          <a:blip r:embed="rId9"/>
          <a:stretch>
            <a:fillRect/>
          </a:stretch>
        </p:blipFill>
        <p:spPr>
          <a:xfrm>
            <a:off x="590550" y="2305050"/>
            <a:ext cx="533400" cy="361950"/>
          </a:xfrm>
          <a:prstGeom prst="rect">
            <a:avLst/>
          </a:prstGeom>
        </p:spPr>
      </p:pic>
      <p:pic>
        <p:nvPicPr>
          <p:cNvPr id="32" name="Picture 31" descr="image.png"/>
          <p:cNvPicPr>
            <a:picLocks noChangeAspect="1"/>
          </p:cNvPicPr>
          <p:nvPr/>
        </p:nvPicPr>
        <p:blipFill>
          <a:blip r:embed="rId3"/>
          <a:stretch>
            <a:fillRect/>
          </a:stretch>
        </p:blipFill>
        <p:spPr>
          <a:xfrm>
            <a:off x="628650" y="4371975"/>
            <a:ext cx="76200" cy="76200"/>
          </a:xfrm>
          <a:prstGeom prst="rect">
            <a:avLst/>
          </a:prstGeom>
        </p:spPr>
      </p:pic>
      <p:pic>
        <p:nvPicPr>
          <p:cNvPr id="33" name="Picture 32" descr="image.png"/>
          <p:cNvPicPr>
            <a:picLocks noChangeAspect="1"/>
          </p:cNvPicPr>
          <p:nvPr/>
        </p:nvPicPr>
        <p:blipFill>
          <a:blip r:embed="rId10"/>
          <a:stretch>
            <a:fillRect/>
          </a:stretch>
        </p:blipFill>
        <p:spPr>
          <a:xfrm>
            <a:off x="2981325" y="4371975"/>
            <a:ext cx="76200" cy="76200"/>
          </a:xfrm>
          <a:prstGeom prst="rect">
            <a:avLst/>
          </a:prstGeom>
        </p:spPr>
      </p:pic>
      <p:pic>
        <p:nvPicPr>
          <p:cNvPr id="34" name="Picture 33" descr="image.png"/>
          <p:cNvPicPr>
            <a:picLocks noChangeAspect="1"/>
          </p:cNvPicPr>
          <p:nvPr/>
        </p:nvPicPr>
        <p:blipFill>
          <a:blip r:embed="rId11"/>
          <a:stretch>
            <a:fillRect/>
          </a:stretch>
        </p:blipFill>
        <p:spPr>
          <a:xfrm>
            <a:off x="5000625" y="4371975"/>
            <a:ext cx="76200" cy="76200"/>
          </a:xfrm>
          <a:prstGeom prst="rect">
            <a:avLst/>
          </a:prstGeom>
        </p:spPr>
      </p:pic>
      <p:pic>
        <p:nvPicPr>
          <p:cNvPr id="35" name="Picture 34" descr="image.png"/>
          <p:cNvPicPr>
            <a:picLocks noChangeAspect="1"/>
          </p:cNvPicPr>
          <p:nvPr/>
        </p:nvPicPr>
        <p:blipFill>
          <a:blip r:embed="rId12"/>
          <a:stretch>
            <a:fillRect/>
          </a:stretch>
        </p:blipFill>
        <p:spPr>
          <a:xfrm>
            <a:off x="7027664" y="1590675"/>
            <a:ext cx="95250" cy="95250"/>
          </a:xfrm>
          <a:prstGeom prst="rect">
            <a:avLst/>
          </a:prstGeom>
        </p:spPr>
      </p:pic>
      <p:pic>
        <p:nvPicPr>
          <p:cNvPr id="36" name="Picture 35" descr="image.png"/>
          <p:cNvPicPr>
            <a:picLocks noChangeAspect="1"/>
          </p:cNvPicPr>
          <p:nvPr/>
        </p:nvPicPr>
        <p:blipFill>
          <a:blip r:embed="rId13"/>
          <a:stretch>
            <a:fillRect/>
          </a:stretch>
        </p:blipFill>
        <p:spPr>
          <a:xfrm>
            <a:off x="4131851" y="6015037"/>
            <a:ext cx="180975" cy="142875"/>
          </a:xfrm>
          <a:prstGeom prst="rect">
            <a:avLst/>
          </a:prstGeom>
        </p:spPr>
      </p:pic>
      <p:sp>
        <p:nvSpPr>
          <p:cNvPr id="37" name="TextBox 36"/>
          <p:cNvSpPr txBox="1"/>
          <p:nvPr/>
        </p:nvSpPr>
        <p:spPr>
          <a:xfrm>
            <a:off x="7564784" y="6200775"/>
            <a:ext cx="4217640" cy="323850"/>
          </a:xfrm>
          <a:prstGeom prst="rect">
            <a:avLst/>
          </a:prstGeom>
          <a:noFill/>
        </p:spPr>
        <p:txBody>
          <a:bodyPr wrap="square" lIns="0" tIns="0" rIns="0" bIns="0" anchor="t">
            <a:spAutoFit/>
          </a:bodyPr>
          <a:lstStyle/>
          <a:p>
            <a:pPr algn="l"/>
            <a:r>
              <a:rPr sz="1050" b="0" i="0" u="none">
                <a:solidFill>
                  <a:srgbClr val="94A3B8"/>
                </a:solidFill>
                <a:latin typeface="Inter"/>
              </a:rPr>
              <a:t>Not a diagnostic device. Not clinical validation. Not medical advice.</a:t>
            </a:r>
          </a:p>
        </p:txBody>
      </p:sp>
      <p:sp>
        <p:nvSpPr>
          <p:cNvPr id="38" name="TextBox 37"/>
          <p:cNvSpPr txBox="1"/>
          <p:nvPr/>
        </p:nvSpPr>
        <p:spPr>
          <a:xfrm>
            <a:off x="3457575" y="409575"/>
            <a:ext cx="3619500" cy="171450"/>
          </a:xfrm>
          <a:prstGeom prst="rect">
            <a:avLst/>
          </a:prstGeom>
          <a:noFill/>
        </p:spPr>
        <p:txBody>
          <a:bodyPr wrap="none" lIns="0" tIns="0" rIns="0" bIns="0" anchor="t">
            <a:spAutoFit/>
          </a:bodyPr>
          <a:lstStyle/>
          <a:p>
            <a:pPr algn="l"/>
            <a:r>
              <a:rPr sz="1050" b="0" i="0" u="none">
                <a:solidFill>
                  <a:srgbClr val="64748B"/>
                </a:solidFill>
                <a:latin typeface="JetBrains Mono"/>
              </a:rPr>
              <a:t>[CONFORMAL QUANTILE REGRESSION ENGINE]</a:t>
            </a:r>
          </a:p>
        </p:txBody>
      </p:sp>
      <p:sp>
        <p:nvSpPr>
          <p:cNvPr id="39" name="TextBox 38"/>
          <p:cNvSpPr txBox="1"/>
          <p:nvPr/>
        </p:nvSpPr>
        <p:spPr>
          <a:xfrm>
            <a:off x="781050" y="409575"/>
            <a:ext cx="3048000" cy="171450"/>
          </a:xfrm>
          <a:prstGeom prst="rect">
            <a:avLst/>
          </a:prstGeom>
          <a:noFill/>
        </p:spPr>
        <p:txBody>
          <a:bodyPr wrap="none" lIns="0" tIns="0" rIns="0" bIns="0" anchor="t">
            <a:spAutoFit/>
          </a:bodyPr>
          <a:lstStyle/>
          <a:p>
            <a:pPr algn="l"/>
            <a:r>
              <a:rPr sz="1050" b="1" i="0" u="none">
                <a:solidFill>
                  <a:srgbClr val="67E8F9"/>
                </a:solidFill>
                <a:latin typeface="JetBrains Mono"/>
              </a:rPr>
              <a:t>SYS.MOD // BIO-DIGITAL TWIN v2.4</a:t>
            </a:r>
          </a:p>
        </p:txBody>
      </p:sp>
      <p:sp>
        <p:nvSpPr>
          <p:cNvPr id="40" name="TextBox 39"/>
          <p:cNvSpPr txBox="1"/>
          <p:nvPr/>
        </p:nvSpPr>
        <p:spPr>
          <a:xfrm>
            <a:off x="7629525" y="409575"/>
            <a:ext cx="2190750" cy="171450"/>
          </a:xfrm>
          <a:prstGeom prst="rect">
            <a:avLst/>
          </a:prstGeom>
          <a:noFill/>
        </p:spPr>
        <p:txBody>
          <a:bodyPr wrap="none" lIns="0" tIns="0" rIns="0" bIns="0" anchor="t">
            <a:spAutoFit/>
          </a:bodyPr>
          <a:lstStyle/>
          <a:p>
            <a:pPr algn="l"/>
            <a:r>
              <a:rPr sz="1050" b="1" i="0" u="none">
                <a:solidFill>
                  <a:srgbClr val="6EE7B7"/>
                </a:solidFill>
                <a:latin typeface="JetBrains Mono"/>
              </a:rPr>
              <a:t>SYNTHETIC RESEARCH ONLY</a:t>
            </a:r>
          </a:p>
        </p:txBody>
      </p:sp>
      <p:sp>
        <p:nvSpPr>
          <p:cNvPr id="41" name="TextBox 40"/>
          <p:cNvSpPr txBox="1"/>
          <p:nvPr/>
        </p:nvSpPr>
        <p:spPr>
          <a:xfrm>
            <a:off x="10010775" y="409575"/>
            <a:ext cx="1905000" cy="171450"/>
          </a:xfrm>
          <a:prstGeom prst="rect">
            <a:avLst/>
          </a:prstGeom>
          <a:noFill/>
        </p:spPr>
        <p:txBody>
          <a:bodyPr wrap="none" lIns="0" tIns="0" rIns="0" bIns="0" anchor="t">
            <a:spAutoFit/>
          </a:bodyPr>
          <a:lstStyle/>
          <a:p>
            <a:pPr algn="l"/>
            <a:r>
              <a:rPr sz="1050" b="1" i="0" u="none">
                <a:solidFill>
                  <a:srgbClr val="FDBA74"/>
                </a:solidFill>
                <a:latin typeface="JetBrains Mono"/>
              </a:rPr>
              <a:t>NOT FOR CLINICAL USE</a:t>
            </a:r>
          </a:p>
        </p:txBody>
      </p:sp>
      <p:sp>
        <p:nvSpPr>
          <p:cNvPr id="42" name="TextBox 41"/>
          <p:cNvSpPr txBox="1"/>
          <p:nvPr/>
        </p:nvSpPr>
        <p:spPr>
          <a:xfrm>
            <a:off x="1381125" y="2195512"/>
            <a:ext cx="5580970" cy="752475"/>
          </a:xfrm>
          <a:prstGeom prst="rect">
            <a:avLst/>
          </a:prstGeom>
          <a:noFill/>
        </p:spPr>
        <p:txBody>
          <a:bodyPr wrap="none" lIns="0" tIns="0" rIns="0" bIns="0" anchor="t">
            <a:spAutoFit/>
          </a:bodyPr>
          <a:lstStyle/>
          <a:p>
            <a:pPr algn="l"/>
            <a:r>
              <a:rPr sz="4500" b="1" i="0" u="none" dirty="0" err="1">
                <a:solidFill>
                  <a:srgbClr val="F8FAFC"/>
                </a:solidFill>
                <a:latin typeface="Inter"/>
              </a:rPr>
              <a:t>AarogyaTwin</a:t>
            </a:r>
            <a:r>
              <a:rPr sz="4500" b="1" i="0" u="none" dirty="0">
                <a:solidFill>
                  <a:srgbClr val="22D3EE"/>
                </a:solidFill>
                <a:latin typeface="Inter"/>
              </a:rPr>
              <a:t>-X</a:t>
            </a:r>
          </a:p>
        </p:txBody>
      </p:sp>
      <p:sp>
        <p:nvSpPr>
          <p:cNvPr id="43" name="TextBox 42"/>
          <p:cNvSpPr txBox="1"/>
          <p:nvPr/>
        </p:nvSpPr>
        <p:spPr>
          <a:xfrm>
            <a:off x="714375" y="3100387"/>
            <a:ext cx="6158894" cy="495300"/>
          </a:xfrm>
          <a:prstGeom prst="rect">
            <a:avLst/>
          </a:prstGeom>
          <a:noFill/>
        </p:spPr>
        <p:txBody>
          <a:bodyPr wrap="square" lIns="0" tIns="0" rIns="0" bIns="0" anchor="t">
            <a:spAutoFit/>
          </a:bodyPr>
          <a:lstStyle/>
          <a:p>
            <a:pPr algn="l"/>
            <a:r>
              <a:rPr sz="1650" b="0" i="0" u="none">
                <a:solidFill>
                  <a:srgbClr val="E2E8F0"/>
                </a:solidFill>
                <a:latin typeface="Inter"/>
              </a:rPr>
              <a:t>Clinician Research Digital Twin for </a:t>
            </a:r>
            <a:r>
              <a:rPr sz="1650" b="1" i="0" u="none">
                <a:solidFill>
                  <a:srgbClr val="67E8F9"/>
                </a:solidFill>
                <a:latin typeface="Inter"/>
              </a:rPr>
              <a:t>Longitudinal Glucose Forecasting</a:t>
            </a:r>
            <a:r>
              <a:rPr sz="1650" b="0" i="0" u="none">
                <a:solidFill>
                  <a:srgbClr val="E2E8F0"/>
                </a:solidFill>
                <a:latin typeface="Inter"/>
              </a:rPr>
              <a:t> &amp; </a:t>
            </a:r>
            <a:r>
              <a:rPr sz="1650" b="1" i="0" u="none">
                <a:solidFill>
                  <a:srgbClr val="5EEAD4"/>
                </a:solidFill>
                <a:latin typeface="Inter"/>
              </a:rPr>
              <a:t>Conformal Risk Estimation</a:t>
            </a:r>
          </a:p>
        </p:txBody>
      </p:sp>
      <p:sp>
        <p:nvSpPr>
          <p:cNvPr id="44" name="TextBox 43"/>
          <p:cNvSpPr txBox="1"/>
          <p:nvPr/>
        </p:nvSpPr>
        <p:spPr>
          <a:xfrm>
            <a:off x="2343001" y="5791200"/>
            <a:ext cx="1661479" cy="171450"/>
          </a:xfrm>
          <a:prstGeom prst="rect">
            <a:avLst/>
          </a:prstGeom>
          <a:noFill/>
        </p:spPr>
        <p:txBody>
          <a:bodyPr wrap="none" lIns="0" tIns="0" rIns="0" bIns="0" anchor="t">
            <a:spAutoFit/>
          </a:bodyPr>
          <a:lstStyle/>
          <a:p>
            <a:pPr algn="l"/>
            <a:r>
              <a:rPr sz="1050" b="0" i="0" u="none">
                <a:solidFill>
                  <a:srgbClr val="94A3B8"/>
                </a:solidFill>
                <a:latin typeface="JetBrains Mono"/>
              </a:rPr>
              <a:t>TEAM MEMBERS</a:t>
            </a:r>
          </a:p>
        </p:txBody>
      </p:sp>
      <p:sp>
        <p:nvSpPr>
          <p:cNvPr id="45" name="TextBox 44"/>
          <p:cNvSpPr txBox="1"/>
          <p:nvPr/>
        </p:nvSpPr>
        <p:spPr>
          <a:xfrm>
            <a:off x="2343001" y="5962650"/>
            <a:ext cx="1424433" cy="438150"/>
          </a:xfrm>
          <a:prstGeom prst="rect">
            <a:avLst/>
          </a:prstGeom>
          <a:noFill/>
        </p:spPr>
        <p:txBody>
          <a:bodyPr wrap="square" lIns="0" tIns="0" rIns="0" bIns="0" anchor="t">
            <a:spAutoFit/>
          </a:bodyPr>
          <a:lstStyle/>
          <a:p>
            <a:pPr algn="l"/>
            <a:r>
              <a:rPr sz="1350" b="1" i="0" u="none">
                <a:solidFill>
                  <a:srgbClr val="F8FAFC"/>
                </a:solidFill>
                <a:latin typeface="JetBrains Mono"/>
              </a:rPr>
              <a:t>AMIT, HANSRAJ</a:t>
            </a:r>
          </a:p>
        </p:txBody>
      </p:sp>
      <p:sp>
        <p:nvSpPr>
          <p:cNvPr id="46" name="TextBox 45"/>
          <p:cNvSpPr txBox="1"/>
          <p:nvPr/>
        </p:nvSpPr>
        <p:spPr>
          <a:xfrm>
            <a:off x="4138612" y="5819775"/>
            <a:ext cx="4008685" cy="171450"/>
          </a:xfrm>
          <a:prstGeom prst="rect">
            <a:avLst/>
          </a:prstGeom>
          <a:noFill/>
        </p:spPr>
        <p:txBody>
          <a:bodyPr wrap="none" lIns="0" tIns="0" rIns="0" bIns="0" anchor="t">
            <a:spAutoFit/>
          </a:bodyPr>
          <a:lstStyle/>
          <a:p>
            <a:pPr algn="l"/>
            <a:r>
              <a:rPr sz="1050" b="0" i="0" u="none">
                <a:solidFill>
                  <a:srgbClr val="94A3B8"/>
                </a:solidFill>
                <a:latin typeface="JetBrains Mono"/>
              </a:rPr>
              <a:t>INSTITUTION / COLLEGE</a:t>
            </a:r>
          </a:p>
        </p:txBody>
      </p:sp>
      <p:sp>
        <p:nvSpPr>
          <p:cNvPr id="47" name="TextBox 46"/>
          <p:cNvSpPr txBox="1"/>
          <p:nvPr/>
        </p:nvSpPr>
        <p:spPr>
          <a:xfrm>
            <a:off x="857250" y="1814512"/>
            <a:ext cx="5429250" cy="161925"/>
          </a:xfrm>
          <a:prstGeom prst="rect">
            <a:avLst/>
          </a:prstGeom>
          <a:noFill/>
        </p:spPr>
        <p:txBody>
          <a:bodyPr wrap="none" lIns="0" tIns="0" rIns="0" bIns="0" anchor="t">
            <a:spAutoFit/>
          </a:bodyPr>
          <a:lstStyle/>
          <a:p>
            <a:pPr algn="l"/>
            <a:r>
              <a:rPr sz="1050" b="0" i="0" u="none">
                <a:solidFill>
                  <a:srgbClr val="5EEAD4"/>
                </a:solidFill>
                <a:latin typeface="Inter"/>
              </a:rPr>
              <a:t>Next-Gen Computational Endocrinology &amp; Uncertainty Quantification</a:t>
            </a:r>
          </a:p>
        </p:txBody>
      </p:sp>
      <p:sp>
        <p:nvSpPr>
          <p:cNvPr id="48" name="TextBox 47"/>
          <p:cNvSpPr txBox="1"/>
          <p:nvPr/>
        </p:nvSpPr>
        <p:spPr>
          <a:xfrm>
            <a:off x="742950" y="2667000"/>
            <a:ext cx="514350" cy="171450"/>
          </a:xfrm>
          <a:prstGeom prst="rect">
            <a:avLst/>
          </a:prstGeom>
          <a:noFill/>
        </p:spPr>
        <p:txBody>
          <a:bodyPr wrap="none" lIns="0" tIns="0" rIns="0" bIns="0" anchor="t">
            <a:spAutoFit/>
          </a:bodyPr>
          <a:lstStyle/>
          <a:p>
            <a:pPr algn="l"/>
            <a:r>
              <a:rPr sz="1050" b="1" i="0" u="none">
                <a:solidFill>
                  <a:srgbClr val="67E8F9"/>
                </a:solidFill>
                <a:latin typeface="JetBrains Mono"/>
              </a:rPr>
              <a:t>CGM</a:t>
            </a:r>
          </a:p>
        </p:txBody>
      </p:sp>
      <p:sp>
        <p:nvSpPr>
          <p:cNvPr id="49" name="TextBox 48"/>
          <p:cNvSpPr txBox="1"/>
          <p:nvPr/>
        </p:nvSpPr>
        <p:spPr>
          <a:xfrm>
            <a:off x="781050" y="4329112"/>
            <a:ext cx="2321718" cy="161925"/>
          </a:xfrm>
          <a:prstGeom prst="rect">
            <a:avLst/>
          </a:prstGeom>
          <a:noFill/>
        </p:spPr>
        <p:txBody>
          <a:bodyPr wrap="none" lIns="0" tIns="0" rIns="0" bIns="0" anchor="t">
            <a:spAutoFit/>
          </a:bodyPr>
          <a:lstStyle/>
          <a:p>
            <a:pPr algn="l"/>
            <a:r>
              <a:rPr sz="1050" b="0" i="0" u="none">
                <a:solidFill>
                  <a:srgbClr val="CBD5E1"/>
                </a:solidFill>
                <a:latin typeface="Inter"/>
              </a:rPr>
              <a:t>Multi-Horizon CGM Trajectory</a:t>
            </a:r>
          </a:p>
        </p:txBody>
      </p:sp>
      <p:sp>
        <p:nvSpPr>
          <p:cNvPr id="50" name="TextBox 49"/>
          <p:cNvSpPr txBox="1"/>
          <p:nvPr/>
        </p:nvSpPr>
        <p:spPr>
          <a:xfrm>
            <a:off x="3133725" y="4329112"/>
            <a:ext cx="1905000" cy="161925"/>
          </a:xfrm>
          <a:prstGeom prst="rect">
            <a:avLst/>
          </a:prstGeom>
          <a:noFill/>
        </p:spPr>
        <p:txBody>
          <a:bodyPr wrap="none" lIns="0" tIns="0" rIns="0" bIns="0" anchor="t">
            <a:spAutoFit/>
          </a:bodyPr>
          <a:lstStyle/>
          <a:p>
            <a:pPr algn="l"/>
            <a:r>
              <a:rPr sz="1050" b="0" i="0" u="none">
                <a:solidFill>
                  <a:srgbClr val="CBD5E1"/>
                </a:solidFill>
                <a:latin typeface="Inter"/>
              </a:rPr>
              <a:t>Coverage Bounds (1 - α)</a:t>
            </a:r>
          </a:p>
        </p:txBody>
      </p:sp>
      <p:sp>
        <p:nvSpPr>
          <p:cNvPr id="51" name="TextBox 50"/>
          <p:cNvSpPr txBox="1"/>
          <p:nvPr/>
        </p:nvSpPr>
        <p:spPr>
          <a:xfrm>
            <a:off x="5153025" y="4329112"/>
            <a:ext cx="1247775" cy="161925"/>
          </a:xfrm>
          <a:prstGeom prst="rect">
            <a:avLst/>
          </a:prstGeom>
          <a:noFill/>
        </p:spPr>
        <p:txBody>
          <a:bodyPr wrap="none" lIns="0" tIns="0" rIns="0" bIns="0" anchor="t">
            <a:spAutoFit/>
          </a:bodyPr>
          <a:lstStyle/>
          <a:p>
            <a:pPr algn="l"/>
            <a:r>
              <a:rPr sz="1050" b="0" i="0" u="none">
                <a:solidFill>
                  <a:srgbClr val="CBD5E1"/>
                </a:solidFill>
                <a:latin typeface="Inter"/>
              </a:rPr>
              <a:t>In-Silico Replay</a:t>
            </a:r>
          </a:p>
        </p:txBody>
      </p:sp>
      <p:sp>
        <p:nvSpPr>
          <p:cNvPr id="52" name="TextBox 51"/>
          <p:cNvSpPr txBox="1"/>
          <p:nvPr/>
        </p:nvSpPr>
        <p:spPr>
          <a:xfrm>
            <a:off x="10696575" y="1552575"/>
            <a:ext cx="971550" cy="171450"/>
          </a:xfrm>
          <a:prstGeom prst="rect">
            <a:avLst/>
          </a:prstGeom>
          <a:noFill/>
        </p:spPr>
        <p:txBody>
          <a:bodyPr wrap="none" lIns="0" tIns="0" rIns="0" bIns="0" anchor="t">
            <a:spAutoFit/>
          </a:bodyPr>
          <a:lstStyle/>
          <a:p>
            <a:pPr algn="l"/>
            <a:r>
              <a:rPr sz="1050" b="1" i="0" u="none">
                <a:solidFill>
                  <a:srgbClr val="67E8F9"/>
                </a:solidFill>
                <a:latin typeface="JetBrains Mono"/>
              </a:rPr>
              <a:t>95% CONF.</a:t>
            </a:r>
          </a:p>
        </p:txBody>
      </p:sp>
      <p:sp>
        <p:nvSpPr>
          <p:cNvPr id="53" name="TextBox 52"/>
          <p:cNvSpPr txBox="1"/>
          <p:nvPr/>
        </p:nvSpPr>
        <p:spPr>
          <a:xfrm>
            <a:off x="7151489" y="2147887"/>
            <a:ext cx="1428750" cy="171450"/>
          </a:xfrm>
          <a:prstGeom prst="rect">
            <a:avLst/>
          </a:prstGeom>
          <a:noFill/>
        </p:spPr>
        <p:txBody>
          <a:bodyPr wrap="none" lIns="0" tIns="0" rIns="0" bIns="0" anchor="t">
            <a:spAutoFit/>
          </a:bodyPr>
          <a:lstStyle/>
          <a:p>
            <a:pPr algn="l"/>
            <a:r>
              <a:rPr sz="1050" b="0" i="0" u="none">
                <a:solidFill>
                  <a:srgbClr val="94A3B8"/>
                </a:solidFill>
                <a:latin typeface="JetBrains Mono"/>
              </a:rPr>
              <a:t>GLUCOSE (mg/dL)</a:t>
            </a:r>
          </a:p>
        </p:txBody>
      </p:sp>
      <p:sp>
        <p:nvSpPr>
          <p:cNvPr id="54" name="TextBox 53"/>
          <p:cNvSpPr txBox="1"/>
          <p:nvPr/>
        </p:nvSpPr>
        <p:spPr>
          <a:xfrm>
            <a:off x="9382125" y="2147887"/>
            <a:ext cx="2476500" cy="171450"/>
          </a:xfrm>
          <a:prstGeom prst="rect">
            <a:avLst/>
          </a:prstGeom>
          <a:noFill/>
        </p:spPr>
        <p:txBody>
          <a:bodyPr wrap="none" lIns="0" tIns="0" rIns="0" bIns="0" anchor="t">
            <a:spAutoFit/>
          </a:bodyPr>
          <a:lstStyle/>
          <a:p>
            <a:pPr algn="l"/>
            <a:r>
              <a:rPr sz="1050" b="0" i="0" u="none">
                <a:solidFill>
                  <a:srgbClr val="2DD4BF"/>
                </a:solidFill>
                <a:latin typeface="JetBrains Mono"/>
              </a:rPr>
              <a:t>HORIZON: +120 MIN FORECAST</a:t>
            </a:r>
          </a:p>
        </p:txBody>
      </p:sp>
      <p:sp>
        <p:nvSpPr>
          <p:cNvPr id="55" name="TextBox 54"/>
          <p:cNvSpPr txBox="1"/>
          <p:nvPr/>
        </p:nvSpPr>
        <p:spPr>
          <a:xfrm>
            <a:off x="7151489" y="3824287"/>
            <a:ext cx="1524000" cy="171450"/>
          </a:xfrm>
          <a:prstGeom prst="rect">
            <a:avLst/>
          </a:prstGeom>
          <a:noFill/>
        </p:spPr>
        <p:txBody>
          <a:bodyPr wrap="none" lIns="0" tIns="0" rIns="0" bIns="0" anchor="t">
            <a:spAutoFit/>
          </a:bodyPr>
          <a:lstStyle/>
          <a:p>
            <a:pPr algn="l"/>
            <a:r>
              <a:rPr sz="1050" b="0" i="0" u="none">
                <a:solidFill>
                  <a:srgbClr val="94A3B8"/>
                </a:solidFill>
                <a:latin typeface="JetBrains Mono"/>
              </a:rPr>
              <a:t>— Historical CGM</a:t>
            </a:r>
          </a:p>
        </p:txBody>
      </p:sp>
      <p:sp>
        <p:nvSpPr>
          <p:cNvPr id="56" name="TextBox 55"/>
          <p:cNvSpPr txBox="1"/>
          <p:nvPr/>
        </p:nvSpPr>
        <p:spPr>
          <a:xfrm>
            <a:off x="8645574" y="3824287"/>
            <a:ext cx="1619250" cy="171450"/>
          </a:xfrm>
          <a:prstGeom prst="rect">
            <a:avLst/>
          </a:prstGeom>
          <a:noFill/>
        </p:spPr>
        <p:txBody>
          <a:bodyPr wrap="none" lIns="0" tIns="0" rIns="0" bIns="0" anchor="t">
            <a:spAutoFit/>
          </a:bodyPr>
          <a:lstStyle/>
          <a:p>
            <a:pPr algn="l"/>
            <a:r>
              <a:rPr sz="1050" b="0" i="0" u="none">
                <a:solidFill>
                  <a:srgbClr val="67E8F9"/>
                </a:solidFill>
                <a:latin typeface="JetBrains Mono"/>
              </a:rPr>
              <a:t>-- Point Forecast</a:t>
            </a:r>
          </a:p>
        </p:txBody>
      </p:sp>
      <p:sp>
        <p:nvSpPr>
          <p:cNvPr id="57" name="TextBox 56"/>
          <p:cNvSpPr txBox="1"/>
          <p:nvPr/>
        </p:nvSpPr>
        <p:spPr>
          <a:xfrm>
            <a:off x="10215860" y="3824287"/>
            <a:ext cx="1434331" cy="171450"/>
          </a:xfrm>
          <a:prstGeom prst="rect">
            <a:avLst/>
          </a:prstGeom>
          <a:noFill/>
        </p:spPr>
        <p:txBody>
          <a:bodyPr wrap="none" lIns="0" tIns="0" rIns="0" bIns="0" anchor="t">
            <a:spAutoFit/>
          </a:bodyPr>
          <a:lstStyle/>
          <a:p>
            <a:pPr algn="l"/>
            <a:r>
              <a:rPr sz="1050" b="0" i="0" u="none">
                <a:solidFill>
                  <a:srgbClr val="5EEAD4"/>
                </a:solidFill>
                <a:latin typeface="JetBrains Mono"/>
              </a:rPr>
              <a:t>■ Conformal Set</a:t>
            </a:r>
          </a:p>
        </p:txBody>
      </p:sp>
      <p:sp>
        <p:nvSpPr>
          <p:cNvPr id="58" name="TextBox 57"/>
          <p:cNvSpPr txBox="1"/>
          <p:nvPr/>
        </p:nvSpPr>
        <p:spPr>
          <a:xfrm>
            <a:off x="7151489" y="4338637"/>
            <a:ext cx="1469119" cy="171450"/>
          </a:xfrm>
          <a:prstGeom prst="rect">
            <a:avLst/>
          </a:prstGeom>
          <a:noFill/>
        </p:spPr>
        <p:txBody>
          <a:bodyPr wrap="none" lIns="0" tIns="0" rIns="0" bIns="0" anchor="t">
            <a:spAutoFit/>
          </a:bodyPr>
          <a:lstStyle/>
          <a:p>
            <a:pPr algn="l"/>
            <a:r>
              <a:rPr sz="1050" b="0" i="0" u="none">
                <a:solidFill>
                  <a:srgbClr val="94A3B8"/>
                </a:solidFill>
                <a:latin typeface="JetBrains Mono"/>
              </a:rPr>
              <a:t>PRED. MEDIAN</a:t>
            </a:r>
          </a:p>
        </p:txBody>
      </p:sp>
      <p:sp>
        <p:nvSpPr>
          <p:cNvPr id="59" name="TextBox 58"/>
          <p:cNvSpPr txBox="1"/>
          <p:nvPr/>
        </p:nvSpPr>
        <p:spPr>
          <a:xfrm>
            <a:off x="7151489" y="4529137"/>
            <a:ext cx="1469119" cy="219075"/>
          </a:xfrm>
          <a:prstGeom prst="rect">
            <a:avLst/>
          </a:prstGeom>
          <a:noFill/>
        </p:spPr>
        <p:txBody>
          <a:bodyPr wrap="none" lIns="0" tIns="0" rIns="0" bIns="0" anchor="t">
            <a:spAutoFit/>
          </a:bodyPr>
          <a:lstStyle/>
          <a:p>
            <a:pPr algn="l"/>
            <a:r>
              <a:rPr sz="1350" b="1" i="0" u="none">
                <a:solidFill>
                  <a:srgbClr val="67E8F9"/>
                </a:solidFill>
                <a:latin typeface="JetBrains Mono"/>
              </a:rPr>
              <a:t>134 mg/dL</a:t>
            </a:r>
          </a:p>
        </p:txBody>
      </p:sp>
      <p:sp>
        <p:nvSpPr>
          <p:cNvPr id="60" name="TextBox 59"/>
          <p:cNvSpPr txBox="1"/>
          <p:nvPr/>
        </p:nvSpPr>
        <p:spPr>
          <a:xfrm>
            <a:off x="8669684" y="4338637"/>
            <a:ext cx="1469119" cy="171450"/>
          </a:xfrm>
          <a:prstGeom prst="rect">
            <a:avLst/>
          </a:prstGeom>
          <a:noFill/>
        </p:spPr>
        <p:txBody>
          <a:bodyPr wrap="none" lIns="0" tIns="0" rIns="0" bIns="0" anchor="t">
            <a:spAutoFit/>
          </a:bodyPr>
          <a:lstStyle/>
          <a:p>
            <a:pPr algn="l"/>
            <a:r>
              <a:rPr sz="1050" b="0" i="0" u="none">
                <a:solidFill>
                  <a:srgbClr val="94A3B8"/>
                </a:solidFill>
                <a:latin typeface="JetBrains Mono"/>
              </a:rPr>
              <a:t>CONF. BOUND</a:t>
            </a:r>
          </a:p>
        </p:txBody>
      </p:sp>
      <p:sp>
        <p:nvSpPr>
          <p:cNvPr id="61" name="TextBox 60"/>
          <p:cNvSpPr txBox="1"/>
          <p:nvPr/>
        </p:nvSpPr>
        <p:spPr>
          <a:xfrm>
            <a:off x="8669684" y="4529137"/>
            <a:ext cx="1469119" cy="219075"/>
          </a:xfrm>
          <a:prstGeom prst="rect">
            <a:avLst/>
          </a:prstGeom>
          <a:noFill/>
        </p:spPr>
        <p:txBody>
          <a:bodyPr wrap="none" lIns="0" tIns="0" rIns="0" bIns="0" anchor="t">
            <a:spAutoFit/>
          </a:bodyPr>
          <a:lstStyle/>
          <a:p>
            <a:pPr algn="l"/>
            <a:r>
              <a:rPr sz="1350" b="1" i="0" u="none">
                <a:solidFill>
                  <a:srgbClr val="5EEAD4"/>
                </a:solidFill>
                <a:latin typeface="JetBrains Mono"/>
              </a:rPr>
              <a:t>[98, 169]</a:t>
            </a:r>
          </a:p>
        </p:txBody>
      </p:sp>
      <p:sp>
        <p:nvSpPr>
          <p:cNvPr id="62" name="TextBox 61"/>
          <p:cNvSpPr txBox="1"/>
          <p:nvPr/>
        </p:nvSpPr>
        <p:spPr>
          <a:xfrm>
            <a:off x="10187880" y="4338637"/>
            <a:ext cx="1469119" cy="171450"/>
          </a:xfrm>
          <a:prstGeom prst="rect">
            <a:avLst/>
          </a:prstGeom>
          <a:noFill/>
        </p:spPr>
        <p:txBody>
          <a:bodyPr wrap="none" lIns="0" tIns="0" rIns="0" bIns="0" anchor="t">
            <a:spAutoFit/>
          </a:bodyPr>
          <a:lstStyle/>
          <a:p>
            <a:pPr algn="l"/>
            <a:r>
              <a:rPr sz="1050" b="0" i="0" u="none">
                <a:solidFill>
                  <a:srgbClr val="94A3B8"/>
                </a:solidFill>
                <a:latin typeface="JetBrains Mono"/>
              </a:rPr>
              <a:t>EXCURSION RISK</a:t>
            </a:r>
          </a:p>
        </p:txBody>
      </p:sp>
      <p:sp>
        <p:nvSpPr>
          <p:cNvPr id="63" name="TextBox 62"/>
          <p:cNvSpPr txBox="1"/>
          <p:nvPr/>
        </p:nvSpPr>
        <p:spPr>
          <a:xfrm>
            <a:off x="10187880" y="4529137"/>
            <a:ext cx="1469119" cy="219075"/>
          </a:xfrm>
          <a:prstGeom prst="rect">
            <a:avLst/>
          </a:prstGeom>
          <a:noFill/>
        </p:spPr>
        <p:txBody>
          <a:bodyPr wrap="none" lIns="0" tIns="0" rIns="0" bIns="0" anchor="t">
            <a:spAutoFit/>
          </a:bodyPr>
          <a:lstStyle/>
          <a:p>
            <a:pPr algn="l"/>
            <a:r>
              <a:rPr sz="1350" b="1" i="0" u="none">
                <a:solidFill>
                  <a:srgbClr val="34D399"/>
                </a:solidFill>
                <a:latin typeface="JetBrains Mono"/>
              </a:rPr>
              <a:t>LOW (4.2%)</a:t>
            </a:r>
          </a:p>
        </p:txBody>
      </p:sp>
      <p:sp>
        <p:nvSpPr>
          <p:cNvPr id="64" name="TextBox 63"/>
          <p:cNvSpPr txBox="1"/>
          <p:nvPr/>
        </p:nvSpPr>
        <p:spPr>
          <a:xfrm>
            <a:off x="795188" y="5819775"/>
            <a:ext cx="514350" cy="171450"/>
          </a:xfrm>
          <a:prstGeom prst="rect">
            <a:avLst/>
          </a:prstGeom>
          <a:noFill/>
        </p:spPr>
        <p:txBody>
          <a:bodyPr wrap="none" lIns="0" tIns="0" rIns="0" bIns="0" anchor="t">
            <a:spAutoFit/>
          </a:bodyPr>
          <a:lstStyle/>
          <a:p>
            <a:pPr algn="l"/>
            <a:r>
              <a:rPr sz="1050" b="1" i="0" u="none">
                <a:solidFill>
                  <a:srgbClr val="67E8F9"/>
                </a:solidFill>
                <a:latin typeface="JetBrains Mono"/>
              </a:rPr>
              <a:t>T40</a:t>
            </a:r>
          </a:p>
        </p:txBody>
      </p:sp>
      <p:sp>
        <p:nvSpPr>
          <p:cNvPr id="65" name="TextBox 64"/>
          <p:cNvSpPr txBox="1"/>
          <p:nvPr/>
        </p:nvSpPr>
        <p:spPr>
          <a:xfrm>
            <a:off x="1169901" y="5815012"/>
            <a:ext cx="762446" cy="342900"/>
          </a:xfrm>
          <a:prstGeom prst="rect">
            <a:avLst/>
          </a:prstGeom>
          <a:noFill/>
        </p:spPr>
        <p:txBody>
          <a:bodyPr wrap="square" lIns="0" tIns="0" rIns="0" bIns="0" anchor="t">
            <a:spAutoFit/>
          </a:bodyPr>
          <a:lstStyle/>
          <a:p>
            <a:pPr algn="l"/>
            <a:r>
              <a:rPr sz="1050" b="0" i="0" u="none" dirty="0">
                <a:solidFill>
                  <a:srgbClr val="94A3B8"/>
                </a:solidFill>
                <a:latin typeface="JetBrains Mono"/>
              </a:rPr>
              <a:t>TEAM NAME</a:t>
            </a:r>
          </a:p>
        </p:txBody>
      </p:sp>
      <p:sp>
        <p:nvSpPr>
          <p:cNvPr id="66" name="TextBox 65"/>
          <p:cNvSpPr txBox="1"/>
          <p:nvPr/>
        </p:nvSpPr>
        <p:spPr>
          <a:xfrm>
            <a:off x="1178038" y="5921589"/>
            <a:ext cx="546112" cy="207749"/>
          </a:xfrm>
          <a:prstGeom prst="rect">
            <a:avLst/>
          </a:prstGeom>
          <a:noFill/>
        </p:spPr>
        <p:txBody>
          <a:bodyPr wrap="none" lIns="0" tIns="0" rIns="0" bIns="0" anchor="t">
            <a:spAutoFit/>
          </a:bodyPr>
          <a:lstStyle/>
          <a:p>
            <a:pPr algn="l"/>
            <a:r>
              <a:rPr sz="1350" b="1" i="0" u="none" dirty="0">
                <a:solidFill>
                  <a:srgbClr val="67E8F9"/>
                </a:solidFill>
                <a:latin typeface="JetBrains Mono"/>
              </a:rPr>
              <a:t>t</a:t>
            </a:r>
            <a:r>
              <a:rPr lang="en-US" sz="1350" b="1" i="0" u="none" dirty="0">
                <a:solidFill>
                  <a:srgbClr val="67E8F9"/>
                </a:solidFill>
                <a:latin typeface="JetBrains Mono"/>
              </a:rPr>
              <a:t>e</a:t>
            </a:r>
            <a:r>
              <a:rPr sz="1350" b="1" i="0" u="none" dirty="0">
                <a:solidFill>
                  <a:srgbClr val="67E8F9"/>
                </a:solidFill>
                <a:latin typeface="JetBrains Mono"/>
              </a:rPr>
              <a:t>am40</a:t>
            </a:r>
          </a:p>
        </p:txBody>
      </p:sp>
      <p:sp>
        <p:nvSpPr>
          <p:cNvPr id="67" name="TextBox 66"/>
          <p:cNvSpPr txBox="1"/>
          <p:nvPr/>
        </p:nvSpPr>
        <p:spPr>
          <a:xfrm>
            <a:off x="4395787" y="5991225"/>
            <a:ext cx="3045023" cy="381000"/>
          </a:xfrm>
          <a:prstGeom prst="rect">
            <a:avLst/>
          </a:prstGeom>
          <a:noFill/>
        </p:spPr>
        <p:txBody>
          <a:bodyPr wrap="square" lIns="0" tIns="0" rIns="0" bIns="0" anchor="t">
            <a:spAutoFit/>
          </a:bodyPr>
          <a:lstStyle/>
          <a:p>
            <a:pPr algn="l"/>
            <a:r>
              <a:rPr sz="1200" b="1" i="0" u="none">
                <a:solidFill>
                  <a:srgbClr val="E2E8F0"/>
                </a:solidFill>
                <a:latin typeface="Inter"/>
              </a:rPr>
              <a:t>ARYA COLLEGE OF ENGINEERING AND IT</a:t>
            </a:r>
          </a:p>
        </p:txBody>
      </p:sp>
      <p:sp>
        <p:nvSpPr>
          <p:cNvPr id="68" name="TextBox 67"/>
          <p:cNvSpPr txBox="1"/>
          <p:nvPr/>
        </p:nvSpPr>
        <p:spPr>
          <a:xfrm>
            <a:off x="7218164" y="1471612"/>
            <a:ext cx="3821906" cy="171450"/>
          </a:xfrm>
          <a:prstGeom prst="rect">
            <a:avLst/>
          </a:prstGeom>
          <a:noFill/>
        </p:spPr>
        <p:txBody>
          <a:bodyPr wrap="none" lIns="0" tIns="0" rIns="0" bIns="0" anchor="t">
            <a:spAutoFit/>
          </a:bodyPr>
          <a:lstStyle/>
          <a:p>
            <a:pPr algn="l"/>
            <a:r>
              <a:rPr sz="1050" b="1" i="0" u="none">
                <a:solidFill>
                  <a:srgbClr val="67E8F9"/>
                </a:solidFill>
                <a:latin typeface="JetBrains Mono"/>
              </a:rPr>
              <a:t>SYNTHETIC SUBJECT // TWIN-ID #AT-040</a:t>
            </a:r>
          </a:p>
        </p:txBody>
      </p:sp>
      <p:sp>
        <p:nvSpPr>
          <p:cNvPr id="69" name="TextBox 68"/>
          <p:cNvSpPr txBox="1"/>
          <p:nvPr/>
        </p:nvSpPr>
        <p:spPr>
          <a:xfrm>
            <a:off x="7218164" y="1643062"/>
            <a:ext cx="3821906" cy="161925"/>
          </a:xfrm>
          <a:prstGeom prst="rect">
            <a:avLst/>
          </a:prstGeom>
          <a:noFill/>
        </p:spPr>
        <p:txBody>
          <a:bodyPr wrap="none" lIns="0" tIns="0" rIns="0" bIns="0" anchor="t">
            <a:spAutoFit/>
          </a:bodyPr>
          <a:lstStyle/>
          <a:p>
            <a:pPr algn="l"/>
            <a:r>
              <a:rPr sz="1050" b="0" i="0" u="none">
                <a:solidFill>
                  <a:srgbClr val="94A3B8"/>
                </a:solidFill>
                <a:latin typeface="Inter"/>
              </a:rPr>
              <a:t>Longitudinal State-Space + Conformal Prediction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aint heartbeat trace running across the header"/>
          <p:cNvPicPr>
            <a:picLocks noChangeAspect="1"/>
          </p:cNvPicPr>
          <p:nvPr/>
        </p:nvPicPr>
        <p:blipFill>
          <a:blip r:embed="rId3">
            <a:alphaModFix amt="14000"/>
          </a:blip>
          <a:srcRect l="-98" r="-98"/>
          <a:stretch/>
        </p:blipFill>
        <p:spPr>
          <a:xfrm>
            <a:off x="0" y="228600"/>
            <a:ext cx="12192000" cy="1016000"/>
          </a:xfrm>
          <a:prstGeom prst="rect">
            <a:avLst/>
          </a:prstGeom>
        </p:spPr>
      </p:pic>
      <p:sp>
        <p:nvSpPr>
          <p:cNvPr id="3" name="Shape 0"/>
          <p:cNvSpPr/>
          <p:nvPr/>
        </p:nvSpPr>
        <p:spPr>
          <a:xfrm>
            <a:off x="711200" y="457200"/>
            <a:ext cx="406400" cy="50800"/>
          </a:xfrm>
          <a:prstGeom prst="roundRect">
            <a:avLst>
              <a:gd name="adj" fmla="val 50000"/>
            </a:avLst>
          </a:prstGeom>
          <a:solidFill>
            <a:srgbClr val="FF5C5C"/>
          </a:solidFill>
          <a:ln/>
        </p:spPr>
      </p:sp>
      <p:sp>
        <p:nvSpPr>
          <p:cNvPr id="4" name="Shape 1"/>
          <p:cNvSpPr/>
          <p:nvPr/>
        </p:nvSpPr>
        <p:spPr>
          <a:xfrm>
            <a:off x="1168400" y="457200"/>
            <a:ext cx="406400" cy="50800"/>
          </a:xfrm>
          <a:prstGeom prst="roundRect">
            <a:avLst>
              <a:gd name="adj" fmla="val 50000"/>
            </a:avLst>
          </a:prstGeom>
          <a:solidFill>
            <a:srgbClr val="FFA23A"/>
          </a:solidFill>
          <a:ln/>
        </p:spPr>
      </p:sp>
      <p:sp>
        <p:nvSpPr>
          <p:cNvPr id="5" name="Shape 2"/>
          <p:cNvSpPr/>
          <p:nvPr/>
        </p:nvSpPr>
        <p:spPr>
          <a:xfrm>
            <a:off x="1625600" y="457200"/>
            <a:ext cx="406400" cy="50800"/>
          </a:xfrm>
          <a:prstGeom prst="roundRect">
            <a:avLst>
              <a:gd name="adj" fmla="val 50000"/>
            </a:avLst>
          </a:prstGeom>
          <a:solidFill>
            <a:srgbClr val="A3B0BF"/>
          </a:solidFill>
          <a:ln/>
        </p:spPr>
      </p:sp>
      <p:sp>
        <p:nvSpPr>
          <p:cNvPr id="6" name="Text 3"/>
          <p:cNvSpPr>
            <a:spLocks noGrp="1"/>
          </p:cNvSpPr>
          <p:nvPr>
            <p:ph type="title"/>
          </p:nvPr>
        </p:nvSpPr>
        <p:spPr>
          <a:xfrm>
            <a:off x="711200" y="596900"/>
            <a:ext cx="6416421" cy="556260"/>
          </a:xfrm>
          <a:prstGeom prst="rect">
            <a:avLst/>
          </a:prstGeom>
          <a:noFill/>
          <a:ln/>
        </p:spPr>
        <p:txBody>
          <a:bodyPr wrap="square" lIns="0" tIns="0" rIns="0" bIns="0" rtlCol="0" anchor="t">
            <a:normAutofit/>
          </a:bodyPr>
          <a:lstStyle/>
          <a:p>
            <a:pPr marL="0" indent="0" algn="l">
              <a:lnSpc>
                <a:spcPts val="4180"/>
              </a:lnSpc>
              <a:buNone/>
            </a:pPr>
            <a:r>
              <a:rPr lang="en-US" sz="3800" b="1" i="0" kern="0" spc="-50" dirty="0">
                <a:solidFill>
                  <a:srgbClr val="F1F5F9"/>
                </a:solidFill>
                <a:latin typeface="IBM Plex Sans" pitchFamily="34" charset="0"/>
                <a:ea typeface="IBM Plex Sans" pitchFamily="34" charset="-122"/>
                <a:cs typeface="IBM Plex Sans" pitchFamily="34" charset="-120"/>
              </a:rPr>
              <a:t>The Healthcare Problem</a:t>
            </a:r>
            <a:endParaRPr lang="en-US" sz="3800" dirty="0"/>
          </a:p>
        </p:txBody>
      </p:sp>
      <p:sp>
        <p:nvSpPr>
          <p:cNvPr id="7" name="Text 4"/>
          <p:cNvSpPr/>
          <p:nvPr/>
        </p:nvSpPr>
        <p:spPr>
          <a:xfrm>
            <a:off x="8079740" y="629920"/>
            <a:ext cx="3401060" cy="52324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3 critical failures</a:t>
            </a:r>
            <a:r>
              <a:rPr lang="en-US" sz="1400" dirty="0">
                <a:solidFill>
                  <a:srgbClr val="AEBBCA"/>
                </a:solidFill>
                <a:latin typeface="IBM Plex Sans" pitchFamily="34" charset="0"/>
                <a:ea typeface="IBM Plex Sans" pitchFamily="34" charset="-122"/>
                <a:cs typeface="IBM Plex Sans" pitchFamily="34" charset="-120"/>
              </a:rPr>
              <a:t> in current diabetes AI systems</a:t>
            </a:r>
            <a:endParaRPr lang="en-US" sz="1400" dirty="0"/>
          </a:p>
        </p:txBody>
      </p:sp>
      <p:sp>
        <p:nvSpPr>
          <p:cNvPr id="8" name="Shape 5"/>
          <p:cNvSpPr/>
          <p:nvPr/>
        </p:nvSpPr>
        <p:spPr>
          <a:xfrm>
            <a:off x="714375" y="1308735"/>
            <a:ext cx="3414157" cy="4296410"/>
          </a:xfrm>
          <a:prstGeom prst="roundRect">
            <a:avLst>
              <a:gd name="adj" fmla="val 3627"/>
            </a:avLst>
          </a:prstGeom>
          <a:gradFill rotWithShape="1">
            <a:gsLst>
              <a:gs pos="0">
                <a:srgbClr val="FF5C5C">
                  <a:alpha val="12000"/>
                </a:srgbClr>
              </a:gs>
              <a:gs pos="36000">
                <a:srgbClr val="111923"/>
              </a:gs>
            </a:gsLst>
            <a:lin ang="5400000" scaled="0"/>
          </a:gradFill>
          <a:ln w="6350">
            <a:solidFill>
              <a:srgbClr val="2A3647"/>
            </a:solidFill>
            <a:prstDash val="solid"/>
          </a:ln>
        </p:spPr>
      </p:sp>
      <p:pic>
        <p:nvPicPr>
          <p:cNvPr id="9" name="Image 1" descr="Red warning triangle"/>
          <p:cNvPicPr>
            <a:picLocks noChangeAspect="1"/>
          </p:cNvPicPr>
          <p:nvPr/>
        </p:nvPicPr>
        <p:blipFill>
          <a:blip r:embed="rId4"/>
          <a:srcRect/>
          <a:stretch/>
        </p:blipFill>
        <p:spPr>
          <a:xfrm>
            <a:off x="944880" y="1628140"/>
            <a:ext cx="609600" cy="609600"/>
          </a:xfrm>
          <a:prstGeom prst="rect">
            <a:avLst/>
          </a:prstGeom>
        </p:spPr>
      </p:pic>
      <p:sp>
        <p:nvSpPr>
          <p:cNvPr id="10" name="Text 6"/>
          <p:cNvSpPr/>
          <p:nvPr/>
        </p:nvSpPr>
        <p:spPr>
          <a:xfrm>
            <a:off x="1681480" y="1631950"/>
            <a:ext cx="2283043" cy="38862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F5C5C"/>
                </a:solidFill>
                <a:latin typeface="JetBrains Mono" pitchFamily="49" charset="0"/>
                <a:ea typeface="JetBrains Mono" pitchFamily="49" charset="-122"/>
                <a:cs typeface="JetBrains Mono" pitchFamily="49" charset="-120"/>
              </a:rPr>
              <a:t>185 mg/dL</a:t>
            </a:r>
            <a:endParaRPr lang="en-US" sz="2600" dirty="0"/>
          </a:p>
        </p:txBody>
      </p:sp>
      <p:sp>
        <p:nvSpPr>
          <p:cNvPr id="11" name="Text 7"/>
          <p:cNvSpPr/>
          <p:nvPr/>
        </p:nvSpPr>
        <p:spPr>
          <a:xfrm>
            <a:off x="1681480" y="2020570"/>
            <a:ext cx="22830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3A3B5"/>
                </a:solidFill>
                <a:latin typeface="IBM Plex Sans" pitchFamily="34" charset="0"/>
                <a:ea typeface="IBM Plex Sans" pitchFamily="34" charset="-122"/>
                <a:cs typeface="IBM Plex Sans" pitchFamily="34" charset="-120"/>
              </a:rPr>
              <a:t>one number, zero range</a:t>
            </a:r>
            <a:endParaRPr lang="en-US" sz="1200" dirty="0"/>
          </a:p>
        </p:txBody>
      </p:sp>
      <p:sp>
        <p:nvSpPr>
          <p:cNvPr id="12" name="Shape 8"/>
          <p:cNvSpPr/>
          <p:nvPr/>
        </p:nvSpPr>
        <p:spPr>
          <a:xfrm>
            <a:off x="944880" y="2466340"/>
            <a:ext cx="2953147" cy="12700"/>
          </a:xfrm>
          <a:prstGeom prst="rect">
            <a:avLst/>
          </a:prstGeom>
          <a:solidFill>
            <a:srgbClr val="FF5C5C">
              <a:alpha val="35000"/>
            </a:srgbClr>
          </a:solidFill>
          <a:ln/>
        </p:spPr>
      </p:sp>
      <p:sp>
        <p:nvSpPr>
          <p:cNvPr id="13" name="Text 9"/>
          <p:cNvSpPr/>
          <p:nvPr/>
        </p:nvSpPr>
        <p:spPr>
          <a:xfrm>
            <a:off x="944880" y="2593340"/>
            <a:ext cx="3041741"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Overconfident Point Estimates</a:t>
            </a:r>
            <a:endParaRPr lang="en-US" sz="2000" dirty="0"/>
          </a:p>
        </p:txBody>
      </p:sp>
      <p:sp>
        <p:nvSpPr>
          <p:cNvPr id="14" name="Shape 10"/>
          <p:cNvSpPr/>
          <p:nvPr/>
        </p:nvSpPr>
        <p:spPr>
          <a:xfrm>
            <a:off x="944880" y="3406140"/>
            <a:ext cx="76200" cy="76200"/>
          </a:xfrm>
          <a:prstGeom prst="roundRect">
            <a:avLst>
              <a:gd name="adj" fmla="val 25000"/>
            </a:avLst>
          </a:prstGeom>
          <a:solidFill>
            <a:srgbClr val="FF5C5C"/>
          </a:solidFill>
          <a:ln/>
        </p:spPr>
      </p:sp>
      <p:sp>
        <p:nvSpPr>
          <p:cNvPr id="15" name="Text 11"/>
          <p:cNvSpPr/>
          <p:nvPr/>
        </p:nvSpPr>
        <p:spPr>
          <a:xfrm>
            <a:off x="1122680" y="3317240"/>
            <a:ext cx="28586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No uncertainty range — </a:t>
            </a:r>
            <a:r>
              <a:rPr lang="en-US" sz="1400" b="1" dirty="0">
                <a:solidFill>
                  <a:srgbClr val="F1F5F9"/>
                </a:solidFill>
                <a:latin typeface="IBM Plex Sans" pitchFamily="34" charset="0"/>
                <a:ea typeface="IBM Plex Sans" pitchFamily="34" charset="-122"/>
                <a:cs typeface="IBM Plex Sans" pitchFamily="34" charset="-120"/>
              </a:rPr>
              <a:t>just one confident number</a:t>
            </a:r>
            <a:endParaRPr lang="en-US" sz="1400" dirty="0"/>
          </a:p>
        </p:txBody>
      </p:sp>
      <p:sp>
        <p:nvSpPr>
          <p:cNvPr id="16" name="Shape 12"/>
          <p:cNvSpPr/>
          <p:nvPr/>
        </p:nvSpPr>
        <p:spPr>
          <a:xfrm>
            <a:off x="944880" y="4005580"/>
            <a:ext cx="76200" cy="76200"/>
          </a:xfrm>
          <a:prstGeom prst="roundRect">
            <a:avLst>
              <a:gd name="adj" fmla="val 25000"/>
            </a:avLst>
          </a:prstGeom>
          <a:solidFill>
            <a:srgbClr val="FF5C5C"/>
          </a:solidFill>
          <a:ln/>
        </p:spPr>
      </p:sp>
      <p:sp>
        <p:nvSpPr>
          <p:cNvPr id="17" name="Text 13"/>
          <p:cNvSpPr/>
          <p:nvPr/>
        </p:nvSpPr>
        <p:spPr>
          <a:xfrm>
            <a:off x="1122680" y="3916680"/>
            <a:ext cx="28586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Insulin taken on a wrong number → </a:t>
            </a:r>
            <a:r>
              <a:rPr lang="en-US" sz="1400" b="1" dirty="0">
                <a:solidFill>
                  <a:srgbClr val="F1F5F9"/>
                </a:solidFill>
                <a:latin typeface="IBM Plex Sans" pitchFamily="34" charset="0"/>
                <a:ea typeface="IBM Plex Sans" pitchFamily="34" charset="-122"/>
                <a:cs typeface="IBM Plex Sans" pitchFamily="34" charset="-120"/>
              </a:rPr>
              <a:t>hypoglycemic shock risk</a:t>
            </a:r>
            <a:endParaRPr lang="en-US" sz="1400" dirty="0"/>
          </a:p>
        </p:txBody>
      </p:sp>
      <p:sp>
        <p:nvSpPr>
          <p:cNvPr id="18" name="Shape 14"/>
          <p:cNvSpPr/>
          <p:nvPr/>
        </p:nvSpPr>
        <p:spPr>
          <a:xfrm>
            <a:off x="944880" y="4605020"/>
            <a:ext cx="76200" cy="76200"/>
          </a:xfrm>
          <a:prstGeom prst="roundRect">
            <a:avLst>
              <a:gd name="adj" fmla="val 25000"/>
            </a:avLst>
          </a:prstGeom>
          <a:solidFill>
            <a:srgbClr val="FF5C5C"/>
          </a:solidFill>
          <a:ln/>
        </p:spPr>
      </p:sp>
      <p:sp>
        <p:nvSpPr>
          <p:cNvPr id="19" name="Text 15"/>
          <p:cNvSpPr/>
          <p:nvPr/>
        </p:nvSpPr>
        <p:spPr>
          <a:xfrm>
            <a:off x="1122680" y="4516120"/>
            <a:ext cx="285860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Studies show single-point forecasts cause </a:t>
            </a:r>
            <a:r>
              <a:rPr lang="en-US" sz="1400" b="1" dirty="0">
                <a:solidFill>
                  <a:srgbClr val="F1F5F9"/>
                </a:solidFill>
                <a:latin typeface="IBM Plex Sans" pitchFamily="34" charset="0"/>
                <a:ea typeface="IBM Plex Sans" pitchFamily="34" charset="-122"/>
                <a:cs typeface="IBM Plex Sans" pitchFamily="34" charset="-120"/>
              </a:rPr>
              <a:t>dangerous over-correction</a:t>
            </a:r>
            <a:endParaRPr lang="en-US" sz="1400" dirty="0"/>
          </a:p>
        </p:txBody>
      </p:sp>
      <p:sp>
        <p:nvSpPr>
          <p:cNvPr id="20" name="Shape 16"/>
          <p:cNvSpPr/>
          <p:nvPr/>
        </p:nvSpPr>
        <p:spPr>
          <a:xfrm>
            <a:off x="711200" y="1305560"/>
            <a:ext cx="3420507" cy="38100"/>
          </a:xfrm>
          <a:custGeom>
            <a:avLst/>
            <a:gdLst/>
            <a:ahLst/>
            <a:cxnLst/>
            <a:rect l="l" t="t" r="r" b="b"/>
            <a:pathLst>
              <a:path w="3420507" h="38100">
                <a:moveTo>
                  <a:pt x="38100" y="0"/>
                </a:moveTo>
                <a:lnTo>
                  <a:pt x="3382407" y="0"/>
                </a:lnTo>
                <a:arcTo wR="38100" hR="38100" stAng="16200000" swAng="5400000"/>
                <a:lnTo>
                  <a:pt x="3420507" y="38100"/>
                </a:lnTo>
                <a:lnTo>
                  <a:pt x="0" y="38100"/>
                </a:lnTo>
                <a:lnTo>
                  <a:pt x="0" y="38100"/>
                </a:lnTo>
                <a:arcTo wR="38100" hR="38100" stAng="10800000" swAng="5400000"/>
                <a:close/>
              </a:path>
            </a:pathLst>
          </a:custGeom>
          <a:solidFill>
            <a:srgbClr val="FF5C5C"/>
          </a:solidFill>
          <a:ln/>
        </p:spPr>
      </p:sp>
      <p:sp>
        <p:nvSpPr>
          <p:cNvPr id="21" name="Shape 17"/>
          <p:cNvSpPr/>
          <p:nvPr/>
        </p:nvSpPr>
        <p:spPr>
          <a:xfrm>
            <a:off x="4388882" y="1308735"/>
            <a:ext cx="3414236" cy="4296410"/>
          </a:xfrm>
          <a:prstGeom prst="roundRect">
            <a:avLst>
              <a:gd name="adj" fmla="val 3627"/>
            </a:avLst>
          </a:prstGeom>
          <a:gradFill rotWithShape="1">
            <a:gsLst>
              <a:gs pos="0">
                <a:srgbClr val="FFA23A">
                  <a:alpha val="12000"/>
                </a:srgbClr>
              </a:gs>
              <a:gs pos="36000">
                <a:srgbClr val="111923"/>
              </a:gs>
            </a:gsLst>
            <a:lin ang="5400000" scaled="0"/>
          </a:gradFill>
          <a:ln w="6350">
            <a:solidFill>
              <a:srgbClr val="2A3647"/>
            </a:solidFill>
            <a:prstDash val="solid"/>
          </a:ln>
        </p:spPr>
      </p:sp>
      <p:pic>
        <p:nvPicPr>
          <p:cNvPr id="22" name="Image 2" descr="Orange alarm bell"/>
          <p:cNvPicPr>
            <a:picLocks noChangeAspect="1"/>
          </p:cNvPicPr>
          <p:nvPr/>
        </p:nvPicPr>
        <p:blipFill>
          <a:blip r:embed="rId5"/>
          <a:srcRect/>
          <a:stretch/>
        </p:blipFill>
        <p:spPr>
          <a:xfrm>
            <a:off x="4619387" y="1628140"/>
            <a:ext cx="609600" cy="609600"/>
          </a:xfrm>
          <a:prstGeom prst="rect">
            <a:avLst/>
          </a:prstGeom>
        </p:spPr>
      </p:pic>
      <p:sp>
        <p:nvSpPr>
          <p:cNvPr id="23" name="Text 18"/>
          <p:cNvSpPr/>
          <p:nvPr/>
        </p:nvSpPr>
        <p:spPr>
          <a:xfrm>
            <a:off x="5355987" y="1631950"/>
            <a:ext cx="2283125" cy="38862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FA23A"/>
                </a:solidFill>
                <a:latin typeface="JetBrains Mono" pitchFamily="49" charset="0"/>
                <a:ea typeface="JetBrains Mono" pitchFamily="49" charset="-122"/>
                <a:cs typeface="JetBrains Mono" pitchFamily="49" charset="-120"/>
              </a:rPr>
              <a:t>80–95%</a:t>
            </a:r>
            <a:endParaRPr lang="en-US" sz="2600" dirty="0"/>
          </a:p>
        </p:txBody>
      </p:sp>
      <p:sp>
        <p:nvSpPr>
          <p:cNvPr id="24" name="Text 19"/>
          <p:cNvSpPr/>
          <p:nvPr/>
        </p:nvSpPr>
        <p:spPr>
          <a:xfrm>
            <a:off x="5355987" y="2020570"/>
            <a:ext cx="228312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3A3B5"/>
                </a:solidFill>
                <a:latin typeface="IBM Plex Sans" pitchFamily="34" charset="0"/>
                <a:ea typeface="IBM Plex Sans" pitchFamily="34" charset="-122"/>
                <a:cs typeface="IBM Plex Sans" pitchFamily="34" charset="-120"/>
              </a:rPr>
              <a:t>of CGM alarms are false</a:t>
            </a:r>
            <a:endParaRPr lang="en-US" sz="1200" dirty="0"/>
          </a:p>
        </p:txBody>
      </p:sp>
      <p:sp>
        <p:nvSpPr>
          <p:cNvPr id="25" name="Shape 20"/>
          <p:cNvSpPr/>
          <p:nvPr/>
        </p:nvSpPr>
        <p:spPr>
          <a:xfrm>
            <a:off x="4619387" y="2466340"/>
            <a:ext cx="2953226" cy="12700"/>
          </a:xfrm>
          <a:prstGeom prst="rect">
            <a:avLst/>
          </a:prstGeom>
          <a:solidFill>
            <a:srgbClr val="FFA23A">
              <a:alpha val="35000"/>
            </a:srgbClr>
          </a:solidFill>
          <a:ln/>
        </p:spPr>
      </p:sp>
      <p:sp>
        <p:nvSpPr>
          <p:cNvPr id="26" name="Text 21"/>
          <p:cNvSpPr/>
          <p:nvPr/>
        </p:nvSpPr>
        <p:spPr>
          <a:xfrm>
            <a:off x="4619387" y="2593340"/>
            <a:ext cx="304182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Alert Fatigue Crisis</a:t>
            </a:r>
            <a:endParaRPr lang="en-US" sz="2000" dirty="0"/>
          </a:p>
        </p:txBody>
      </p:sp>
      <p:sp>
        <p:nvSpPr>
          <p:cNvPr id="27" name="Shape 22"/>
          <p:cNvSpPr/>
          <p:nvPr/>
        </p:nvSpPr>
        <p:spPr>
          <a:xfrm>
            <a:off x="4619387" y="3406140"/>
            <a:ext cx="76200" cy="76200"/>
          </a:xfrm>
          <a:prstGeom prst="roundRect">
            <a:avLst>
              <a:gd name="adj" fmla="val 25000"/>
            </a:avLst>
          </a:prstGeom>
          <a:solidFill>
            <a:srgbClr val="FFA23A"/>
          </a:solidFill>
          <a:ln/>
        </p:spPr>
      </p:sp>
      <p:sp>
        <p:nvSpPr>
          <p:cNvPr id="28" name="Text 23"/>
          <p:cNvSpPr/>
          <p:nvPr/>
        </p:nvSpPr>
        <p:spPr>
          <a:xfrm>
            <a:off x="4797187" y="3317240"/>
            <a:ext cx="28586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Doctors and nurses start ignoring </a:t>
            </a:r>
            <a:r>
              <a:rPr lang="en-US" sz="1400" b="1" dirty="0">
                <a:solidFill>
                  <a:srgbClr val="F1F5F9"/>
                </a:solidFill>
                <a:latin typeface="IBM Plex Sans" pitchFamily="34" charset="0"/>
                <a:ea typeface="IBM Plex Sans" pitchFamily="34" charset="-122"/>
                <a:cs typeface="IBM Plex Sans" pitchFamily="34" charset="-120"/>
              </a:rPr>
              <a:t>ALL alarms</a:t>
            </a:r>
            <a:endParaRPr lang="en-US" sz="1400" dirty="0"/>
          </a:p>
        </p:txBody>
      </p:sp>
      <p:sp>
        <p:nvSpPr>
          <p:cNvPr id="29" name="Shape 24"/>
          <p:cNvSpPr/>
          <p:nvPr/>
        </p:nvSpPr>
        <p:spPr>
          <a:xfrm>
            <a:off x="4619387" y="4005580"/>
            <a:ext cx="76200" cy="76200"/>
          </a:xfrm>
          <a:prstGeom prst="roundRect">
            <a:avLst>
              <a:gd name="adj" fmla="val 25000"/>
            </a:avLst>
          </a:prstGeom>
          <a:solidFill>
            <a:srgbClr val="FFA23A"/>
          </a:solidFill>
          <a:ln/>
        </p:spPr>
      </p:sp>
      <p:sp>
        <p:nvSpPr>
          <p:cNvPr id="30" name="Text 25"/>
          <p:cNvSpPr/>
          <p:nvPr/>
        </p:nvSpPr>
        <p:spPr>
          <a:xfrm>
            <a:off x="4797187" y="3916680"/>
            <a:ext cx="28586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Critical real alerts </a:t>
            </a:r>
            <a:r>
              <a:rPr lang="en-US" sz="1400" b="1" dirty="0">
                <a:solidFill>
                  <a:srgbClr val="F1F5F9"/>
                </a:solidFill>
                <a:latin typeface="IBM Plex Sans" pitchFamily="34" charset="0"/>
                <a:ea typeface="IBM Plex Sans" pitchFamily="34" charset="-122"/>
                <a:cs typeface="IBM Plex Sans" pitchFamily="34" charset="-120"/>
              </a:rPr>
              <a:t>get missed</a:t>
            </a:r>
            <a:r>
              <a:rPr lang="en-US" sz="1400" dirty="0">
                <a:solidFill>
                  <a:srgbClr val="C3CEDA"/>
                </a:solidFill>
                <a:latin typeface="IBM Plex Sans" pitchFamily="34" charset="0"/>
                <a:ea typeface="IBM Plex Sans" pitchFamily="34" charset="-122"/>
                <a:cs typeface="IBM Plex Sans" pitchFamily="34" charset="-120"/>
              </a:rPr>
              <a:t> among the noise</a:t>
            </a:r>
            <a:endParaRPr lang="en-US" sz="1400" dirty="0"/>
          </a:p>
        </p:txBody>
      </p:sp>
      <p:sp>
        <p:nvSpPr>
          <p:cNvPr id="31" name="Shape 26"/>
          <p:cNvSpPr/>
          <p:nvPr/>
        </p:nvSpPr>
        <p:spPr>
          <a:xfrm>
            <a:off x="4619387" y="4605020"/>
            <a:ext cx="76200" cy="76200"/>
          </a:xfrm>
          <a:prstGeom prst="roundRect">
            <a:avLst>
              <a:gd name="adj" fmla="val 25000"/>
            </a:avLst>
          </a:prstGeom>
          <a:solidFill>
            <a:srgbClr val="FFA23A"/>
          </a:solidFill>
          <a:ln/>
        </p:spPr>
      </p:sp>
      <p:sp>
        <p:nvSpPr>
          <p:cNvPr id="32" name="Text 27"/>
          <p:cNvSpPr/>
          <p:nvPr/>
        </p:nvSpPr>
        <p:spPr>
          <a:xfrm>
            <a:off x="4797187" y="4516120"/>
            <a:ext cx="28586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Worse patient outcomes </a:t>
            </a:r>
            <a:r>
              <a:rPr lang="en-US" sz="1400" b="1" dirty="0">
                <a:solidFill>
                  <a:srgbClr val="F1F5F9"/>
                </a:solidFill>
                <a:latin typeface="IBM Plex Sans" pitchFamily="34" charset="0"/>
                <a:ea typeface="IBM Plex Sans" pitchFamily="34" charset="-122"/>
                <a:cs typeface="IBM Plex Sans" pitchFamily="34" charset="-120"/>
              </a:rPr>
              <a:t>despite more technology</a:t>
            </a:r>
            <a:endParaRPr lang="en-US" sz="1400" dirty="0"/>
          </a:p>
        </p:txBody>
      </p:sp>
      <p:sp>
        <p:nvSpPr>
          <p:cNvPr id="33" name="Shape 28"/>
          <p:cNvSpPr/>
          <p:nvPr/>
        </p:nvSpPr>
        <p:spPr>
          <a:xfrm>
            <a:off x="4385707" y="1305560"/>
            <a:ext cx="3420586" cy="38100"/>
          </a:xfrm>
          <a:custGeom>
            <a:avLst/>
            <a:gdLst/>
            <a:ahLst/>
            <a:cxnLst/>
            <a:rect l="l" t="t" r="r" b="b"/>
            <a:pathLst>
              <a:path w="3420586" h="38100">
                <a:moveTo>
                  <a:pt x="38100" y="0"/>
                </a:moveTo>
                <a:lnTo>
                  <a:pt x="3382486" y="0"/>
                </a:lnTo>
                <a:arcTo wR="38100" hR="38100" stAng="16200000" swAng="5400000"/>
                <a:lnTo>
                  <a:pt x="3420586" y="38100"/>
                </a:lnTo>
                <a:lnTo>
                  <a:pt x="0" y="38100"/>
                </a:lnTo>
                <a:lnTo>
                  <a:pt x="0" y="38100"/>
                </a:lnTo>
                <a:arcTo wR="38100" hR="38100" stAng="10800000" swAng="5400000"/>
                <a:close/>
              </a:path>
            </a:pathLst>
          </a:custGeom>
          <a:solidFill>
            <a:srgbClr val="FFA23A"/>
          </a:solidFill>
          <a:ln/>
        </p:spPr>
      </p:sp>
      <p:sp>
        <p:nvSpPr>
          <p:cNvPr id="34" name="Shape 29"/>
          <p:cNvSpPr/>
          <p:nvPr/>
        </p:nvSpPr>
        <p:spPr>
          <a:xfrm>
            <a:off x="8063468" y="1308735"/>
            <a:ext cx="3414157" cy="4296410"/>
          </a:xfrm>
          <a:prstGeom prst="roundRect">
            <a:avLst>
              <a:gd name="adj" fmla="val 3627"/>
            </a:avLst>
          </a:prstGeom>
          <a:gradFill rotWithShape="1">
            <a:gsLst>
              <a:gs pos="0">
                <a:srgbClr val="A3B0BF">
                  <a:alpha val="12000"/>
                </a:srgbClr>
              </a:gs>
              <a:gs pos="36000">
                <a:srgbClr val="111923"/>
              </a:gs>
            </a:gsLst>
            <a:lin ang="5400000" scaled="0"/>
          </a:gradFill>
          <a:ln w="6350">
            <a:solidFill>
              <a:srgbClr val="2A3647"/>
            </a:solidFill>
            <a:prstDash val="solid"/>
          </a:ln>
        </p:spPr>
      </p:sp>
      <p:pic>
        <p:nvPicPr>
          <p:cNvPr id="35" name="Image 3" descr="Grey cracked glucose sensor with a lost signal"/>
          <p:cNvPicPr>
            <a:picLocks noChangeAspect="1"/>
          </p:cNvPicPr>
          <p:nvPr/>
        </p:nvPicPr>
        <p:blipFill>
          <a:blip r:embed="rId6"/>
          <a:srcRect/>
          <a:stretch/>
        </p:blipFill>
        <p:spPr>
          <a:xfrm>
            <a:off x="8293974" y="1628140"/>
            <a:ext cx="609600" cy="609600"/>
          </a:xfrm>
          <a:prstGeom prst="rect">
            <a:avLst/>
          </a:prstGeom>
        </p:spPr>
      </p:pic>
      <p:sp>
        <p:nvSpPr>
          <p:cNvPr id="36" name="Text 30"/>
          <p:cNvSpPr/>
          <p:nvPr/>
        </p:nvSpPr>
        <p:spPr>
          <a:xfrm>
            <a:off x="9030574" y="1631950"/>
            <a:ext cx="2283043" cy="38862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A3B0BF"/>
                </a:solidFill>
                <a:latin typeface="JetBrains Mono" pitchFamily="49" charset="0"/>
                <a:ea typeface="JetBrains Mono" pitchFamily="49" charset="-122"/>
                <a:cs typeface="JetBrains Mono" pitchFamily="49" charset="-120"/>
              </a:rPr>
              <a:t>NO SIGNAL</a:t>
            </a:r>
            <a:endParaRPr lang="en-US" sz="2600" dirty="0"/>
          </a:p>
        </p:txBody>
      </p:sp>
      <p:sp>
        <p:nvSpPr>
          <p:cNvPr id="37" name="Text 31"/>
          <p:cNvSpPr/>
          <p:nvPr/>
        </p:nvSpPr>
        <p:spPr>
          <a:xfrm>
            <a:off x="9030574" y="2020570"/>
            <a:ext cx="22830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3A3B5"/>
                </a:solidFill>
                <a:latin typeface="IBM Plex Sans" pitchFamily="34" charset="0"/>
                <a:ea typeface="IBM Plex Sans" pitchFamily="34" charset="-122"/>
                <a:cs typeface="IBM Plex Sans" pitchFamily="34" charset="-120"/>
              </a:rPr>
              <a:t>CGM disconnects or degrades</a:t>
            </a:r>
            <a:endParaRPr lang="en-US" sz="1200" dirty="0"/>
          </a:p>
        </p:txBody>
      </p:sp>
      <p:sp>
        <p:nvSpPr>
          <p:cNvPr id="38" name="Shape 32"/>
          <p:cNvSpPr/>
          <p:nvPr/>
        </p:nvSpPr>
        <p:spPr>
          <a:xfrm>
            <a:off x="8293974" y="2466340"/>
            <a:ext cx="2953147" cy="12700"/>
          </a:xfrm>
          <a:prstGeom prst="rect">
            <a:avLst/>
          </a:prstGeom>
          <a:solidFill>
            <a:srgbClr val="A3B0BF">
              <a:alpha val="35000"/>
            </a:srgbClr>
          </a:solidFill>
          <a:ln/>
        </p:spPr>
      </p:sp>
      <p:sp>
        <p:nvSpPr>
          <p:cNvPr id="39" name="Text 33"/>
          <p:cNvSpPr/>
          <p:nvPr/>
        </p:nvSpPr>
        <p:spPr>
          <a:xfrm>
            <a:off x="8293974" y="2593340"/>
            <a:ext cx="3041741"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Sensor Dropout Hallucination</a:t>
            </a:r>
            <a:endParaRPr lang="en-US" sz="2000" dirty="0"/>
          </a:p>
        </p:txBody>
      </p:sp>
      <p:sp>
        <p:nvSpPr>
          <p:cNvPr id="40" name="Shape 34"/>
          <p:cNvSpPr/>
          <p:nvPr/>
        </p:nvSpPr>
        <p:spPr>
          <a:xfrm>
            <a:off x="8293974" y="3406140"/>
            <a:ext cx="76200" cy="76200"/>
          </a:xfrm>
          <a:prstGeom prst="roundRect">
            <a:avLst>
              <a:gd name="adj" fmla="val 25000"/>
            </a:avLst>
          </a:prstGeom>
          <a:solidFill>
            <a:srgbClr val="A3B0BF"/>
          </a:solidFill>
          <a:ln/>
        </p:spPr>
      </p:sp>
      <p:sp>
        <p:nvSpPr>
          <p:cNvPr id="41" name="Text 35"/>
          <p:cNvSpPr/>
          <p:nvPr/>
        </p:nvSpPr>
        <p:spPr>
          <a:xfrm>
            <a:off x="8471774" y="3317240"/>
            <a:ext cx="28586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Traditional AI keeps predicting from </a:t>
            </a:r>
            <a:r>
              <a:rPr lang="en-US" sz="1400" b="1" dirty="0">
                <a:solidFill>
                  <a:srgbClr val="F1F5F9"/>
                </a:solidFill>
                <a:latin typeface="IBM Plex Sans" pitchFamily="34" charset="0"/>
                <a:ea typeface="IBM Plex Sans" pitchFamily="34" charset="-122"/>
                <a:cs typeface="IBM Plex Sans" pitchFamily="34" charset="-120"/>
              </a:rPr>
              <a:t>stale or missing data</a:t>
            </a:r>
            <a:endParaRPr lang="en-US" sz="1400" dirty="0"/>
          </a:p>
        </p:txBody>
      </p:sp>
      <p:sp>
        <p:nvSpPr>
          <p:cNvPr id="42" name="Shape 36"/>
          <p:cNvSpPr/>
          <p:nvPr/>
        </p:nvSpPr>
        <p:spPr>
          <a:xfrm>
            <a:off x="8293974" y="4005580"/>
            <a:ext cx="76200" cy="76200"/>
          </a:xfrm>
          <a:prstGeom prst="roundRect">
            <a:avLst>
              <a:gd name="adj" fmla="val 25000"/>
            </a:avLst>
          </a:prstGeom>
          <a:solidFill>
            <a:srgbClr val="A3B0BF"/>
          </a:solidFill>
          <a:ln/>
        </p:spPr>
      </p:sp>
      <p:sp>
        <p:nvSpPr>
          <p:cNvPr id="43" name="Text 37"/>
          <p:cNvSpPr/>
          <p:nvPr/>
        </p:nvSpPr>
        <p:spPr>
          <a:xfrm>
            <a:off x="8471774" y="3916680"/>
            <a:ext cx="28586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Fabricated forecasts look confident — </a:t>
            </a:r>
            <a:r>
              <a:rPr lang="en-US" sz="1400" b="1" dirty="0">
                <a:solidFill>
                  <a:srgbClr val="F1F5F9"/>
                </a:solidFill>
                <a:latin typeface="IBM Plex Sans" pitchFamily="34" charset="0"/>
                <a:ea typeface="IBM Plex Sans" pitchFamily="34" charset="-122"/>
                <a:cs typeface="IBM Plex Sans" pitchFamily="34" charset="-120"/>
              </a:rPr>
              <a:t>but are dangerous</a:t>
            </a:r>
            <a:endParaRPr lang="en-US" sz="1400" dirty="0"/>
          </a:p>
        </p:txBody>
      </p:sp>
      <p:sp>
        <p:nvSpPr>
          <p:cNvPr id="44" name="Shape 38"/>
          <p:cNvSpPr/>
          <p:nvPr/>
        </p:nvSpPr>
        <p:spPr>
          <a:xfrm>
            <a:off x="8293974" y="4605020"/>
            <a:ext cx="76200" cy="76200"/>
          </a:xfrm>
          <a:prstGeom prst="roundRect">
            <a:avLst>
              <a:gd name="adj" fmla="val 25000"/>
            </a:avLst>
          </a:prstGeom>
          <a:solidFill>
            <a:srgbClr val="A3B0BF"/>
          </a:solidFill>
          <a:ln/>
        </p:spPr>
      </p:sp>
      <p:sp>
        <p:nvSpPr>
          <p:cNvPr id="45" name="Text 39"/>
          <p:cNvSpPr/>
          <p:nvPr/>
        </p:nvSpPr>
        <p:spPr>
          <a:xfrm>
            <a:off x="8471774" y="4516120"/>
            <a:ext cx="28586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No system says </a:t>
            </a:r>
            <a:r>
              <a:rPr lang="en-US" sz="1400" b="1" dirty="0">
                <a:solidFill>
                  <a:srgbClr val="F1F5F9"/>
                </a:solidFill>
                <a:latin typeface="IBM Plex Sans" pitchFamily="34" charset="0"/>
                <a:ea typeface="IBM Plex Sans" pitchFamily="34" charset="-122"/>
                <a:cs typeface="IBM Plex Sans" pitchFamily="34" charset="-120"/>
              </a:rPr>
              <a:t>“I don’t know”</a:t>
            </a:r>
            <a:r>
              <a:rPr lang="en-US" sz="1400" dirty="0">
                <a:solidFill>
                  <a:srgbClr val="C3CEDA"/>
                </a:solidFill>
                <a:latin typeface="IBM Plex Sans" pitchFamily="34" charset="0"/>
                <a:ea typeface="IBM Plex Sans" pitchFamily="34" charset="-122"/>
                <a:cs typeface="IBM Plex Sans" pitchFamily="34" charset="-120"/>
              </a:rPr>
              <a:t> when data is unreliable</a:t>
            </a:r>
            <a:endParaRPr lang="en-US" sz="1400" dirty="0"/>
          </a:p>
        </p:txBody>
      </p:sp>
      <p:sp>
        <p:nvSpPr>
          <p:cNvPr id="46" name="Shape 40"/>
          <p:cNvSpPr/>
          <p:nvPr/>
        </p:nvSpPr>
        <p:spPr>
          <a:xfrm>
            <a:off x="8060293" y="1305560"/>
            <a:ext cx="3420507" cy="38100"/>
          </a:xfrm>
          <a:custGeom>
            <a:avLst/>
            <a:gdLst/>
            <a:ahLst/>
            <a:cxnLst/>
            <a:rect l="l" t="t" r="r" b="b"/>
            <a:pathLst>
              <a:path w="3420507" h="38100">
                <a:moveTo>
                  <a:pt x="38100" y="0"/>
                </a:moveTo>
                <a:lnTo>
                  <a:pt x="3382407" y="0"/>
                </a:lnTo>
                <a:arcTo wR="38100" hR="38100" stAng="16200000" swAng="5400000"/>
                <a:lnTo>
                  <a:pt x="3420507" y="38100"/>
                </a:lnTo>
                <a:lnTo>
                  <a:pt x="0" y="38100"/>
                </a:lnTo>
                <a:lnTo>
                  <a:pt x="0" y="38100"/>
                </a:lnTo>
                <a:arcTo wR="38100" hR="38100" stAng="10800000" swAng="5400000"/>
                <a:close/>
              </a:path>
            </a:pathLst>
          </a:custGeom>
          <a:solidFill>
            <a:srgbClr val="A3B0BF"/>
          </a:solidFill>
          <a:ln/>
        </p:spPr>
      </p:sp>
      <p:sp>
        <p:nvSpPr>
          <p:cNvPr id="47" name="Shape 41"/>
          <p:cNvSpPr/>
          <p:nvPr/>
        </p:nvSpPr>
        <p:spPr>
          <a:xfrm>
            <a:off x="714375" y="5789295"/>
            <a:ext cx="10763250" cy="506730"/>
          </a:xfrm>
          <a:prstGeom prst="roundRect">
            <a:avLst>
              <a:gd name="adj" fmla="val 19424"/>
            </a:avLst>
          </a:prstGeom>
          <a:solidFill>
            <a:srgbClr val="111923"/>
          </a:solidFill>
          <a:ln w="6350">
            <a:solidFill>
              <a:srgbClr val="2A3647"/>
            </a:solidFill>
            <a:prstDash val="solid"/>
          </a:ln>
        </p:spPr>
      </p:sp>
      <p:sp>
        <p:nvSpPr>
          <p:cNvPr id="48" name="Shape 42"/>
          <p:cNvSpPr/>
          <p:nvPr/>
        </p:nvSpPr>
        <p:spPr>
          <a:xfrm>
            <a:off x="2940685" y="5998210"/>
            <a:ext cx="88900" cy="88900"/>
          </a:xfrm>
          <a:prstGeom prst="roundRect">
            <a:avLst>
              <a:gd name="adj" fmla="val 50000"/>
            </a:avLst>
          </a:prstGeom>
          <a:solidFill>
            <a:srgbClr val="FF5C5C"/>
          </a:solidFill>
          <a:ln/>
        </p:spPr>
      </p:sp>
      <p:sp>
        <p:nvSpPr>
          <p:cNvPr id="49" name="Shape 43"/>
          <p:cNvSpPr/>
          <p:nvPr/>
        </p:nvSpPr>
        <p:spPr>
          <a:xfrm>
            <a:off x="3080385" y="5998210"/>
            <a:ext cx="88900" cy="88900"/>
          </a:xfrm>
          <a:prstGeom prst="roundRect">
            <a:avLst>
              <a:gd name="adj" fmla="val 50000"/>
            </a:avLst>
          </a:prstGeom>
          <a:solidFill>
            <a:srgbClr val="FFA23A"/>
          </a:solidFill>
          <a:ln/>
        </p:spPr>
      </p:sp>
      <p:sp>
        <p:nvSpPr>
          <p:cNvPr id="50" name="Shape 44"/>
          <p:cNvSpPr/>
          <p:nvPr/>
        </p:nvSpPr>
        <p:spPr>
          <a:xfrm>
            <a:off x="3220085" y="5998210"/>
            <a:ext cx="88900" cy="88900"/>
          </a:xfrm>
          <a:prstGeom prst="roundRect">
            <a:avLst>
              <a:gd name="adj" fmla="val 50000"/>
            </a:avLst>
          </a:prstGeom>
          <a:solidFill>
            <a:srgbClr val="A3B0BF"/>
          </a:solidFill>
          <a:ln/>
        </p:spPr>
      </p:sp>
      <p:sp>
        <p:nvSpPr>
          <p:cNvPr id="51" name="Text 45"/>
          <p:cNvSpPr/>
          <p:nvPr/>
        </p:nvSpPr>
        <p:spPr>
          <a:xfrm>
            <a:off x="3435985" y="5918200"/>
            <a:ext cx="697830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The common thread:</a:t>
            </a:r>
            <a:r>
              <a:rPr lang="en-US" sz="1400" dirty="0">
                <a:solidFill>
                  <a:srgbClr val="C3CEDA"/>
                </a:solidFill>
                <a:latin typeface="IBM Plex Sans" pitchFamily="34" charset="0"/>
                <a:ea typeface="IBM Plex Sans" pitchFamily="34" charset="-122"/>
                <a:cs typeface="IBM Plex Sans" pitchFamily="34" charset="-120"/>
              </a:rPr>
              <a:t> none of today’s systems tell you how sure they are.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Faint glucose trace running across the header"/>
          <p:cNvPicPr>
            <a:picLocks noChangeAspect="1"/>
          </p:cNvPicPr>
          <p:nvPr/>
        </p:nvPicPr>
        <p:blipFill>
          <a:blip r:embed="rId3">
            <a:alphaModFix amt="12000"/>
          </a:blip>
          <a:srcRect l="-98" r="-98"/>
          <a:stretch/>
        </p:blipFill>
        <p:spPr>
          <a:xfrm>
            <a:off x="0" y="228600"/>
            <a:ext cx="12192000" cy="1016000"/>
          </a:xfrm>
          <a:prstGeom prst="rect">
            <a:avLst/>
          </a:prstGeom>
        </p:spPr>
      </p:pic>
      <p:sp>
        <p:nvSpPr>
          <p:cNvPr id="3" name="Shape 0"/>
          <p:cNvSpPr/>
          <p:nvPr/>
        </p:nvSpPr>
        <p:spPr>
          <a:xfrm>
            <a:off x="711200" y="457200"/>
            <a:ext cx="304800" cy="50800"/>
          </a:xfrm>
          <a:prstGeom prst="roundRect">
            <a:avLst>
              <a:gd name="adj" fmla="val 50000"/>
            </a:avLst>
          </a:prstGeom>
          <a:solidFill>
            <a:srgbClr val="2DD4BF"/>
          </a:solidFill>
          <a:ln/>
        </p:spPr>
      </p:sp>
      <p:sp>
        <p:nvSpPr>
          <p:cNvPr id="4" name="Shape 1"/>
          <p:cNvSpPr/>
          <p:nvPr/>
        </p:nvSpPr>
        <p:spPr>
          <a:xfrm>
            <a:off x="1066800" y="457200"/>
            <a:ext cx="304800" cy="50800"/>
          </a:xfrm>
          <a:prstGeom prst="roundRect">
            <a:avLst>
              <a:gd name="adj" fmla="val 50000"/>
            </a:avLst>
          </a:prstGeom>
          <a:solidFill>
            <a:srgbClr val="5B9DFF"/>
          </a:solidFill>
          <a:ln/>
        </p:spPr>
      </p:sp>
      <p:sp>
        <p:nvSpPr>
          <p:cNvPr id="5" name="Shape 2"/>
          <p:cNvSpPr/>
          <p:nvPr/>
        </p:nvSpPr>
        <p:spPr>
          <a:xfrm>
            <a:off x="1422400" y="457200"/>
            <a:ext cx="304800" cy="50800"/>
          </a:xfrm>
          <a:prstGeom prst="roundRect">
            <a:avLst>
              <a:gd name="adj" fmla="val 50000"/>
            </a:avLst>
          </a:prstGeom>
          <a:solidFill>
            <a:srgbClr val="FF5C5C"/>
          </a:solidFill>
          <a:ln/>
        </p:spPr>
      </p:sp>
      <p:sp>
        <p:nvSpPr>
          <p:cNvPr id="6" name="Shape 3"/>
          <p:cNvSpPr/>
          <p:nvPr/>
        </p:nvSpPr>
        <p:spPr>
          <a:xfrm>
            <a:off x="1778000" y="457200"/>
            <a:ext cx="304800" cy="50800"/>
          </a:xfrm>
          <a:prstGeom prst="roundRect">
            <a:avLst>
              <a:gd name="adj" fmla="val 50000"/>
            </a:avLst>
          </a:prstGeom>
          <a:solidFill>
            <a:srgbClr val="4ADE80"/>
          </a:solidFill>
          <a:ln/>
        </p:spPr>
      </p:sp>
      <p:sp>
        <p:nvSpPr>
          <p:cNvPr id="7" name="Text 4"/>
          <p:cNvSpPr>
            <a:spLocks noGrp="1"/>
          </p:cNvSpPr>
          <p:nvPr>
            <p:ph type="title"/>
          </p:nvPr>
        </p:nvSpPr>
        <p:spPr>
          <a:xfrm>
            <a:off x="711200" y="596900"/>
            <a:ext cx="7630382" cy="556260"/>
          </a:xfrm>
          <a:prstGeom prst="rect">
            <a:avLst/>
          </a:prstGeom>
          <a:noFill/>
          <a:ln/>
        </p:spPr>
        <p:txBody>
          <a:bodyPr wrap="square" lIns="0" tIns="0" rIns="0" bIns="0" rtlCol="0" anchor="t">
            <a:normAutofit/>
          </a:bodyPr>
          <a:lstStyle/>
          <a:p>
            <a:pPr marL="0" indent="0" algn="l">
              <a:lnSpc>
                <a:spcPts val="4180"/>
              </a:lnSpc>
              <a:buNone/>
            </a:pPr>
            <a:r>
              <a:rPr lang="en-US" sz="3800" b="1" i="0" kern="0" spc="-50" dirty="0">
                <a:solidFill>
                  <a:srgbClr val="F1F5F9"/>
                </a:solidFill>
                <a:latin typeface="IBM Plex Sans" pitchFamily="34" charset="0"/>
                <a:ea typeface="IBM Plex Sans" pitchFamily="34" charset="-122"/>
                <a:cs typeface="IBM Plex Sans" pitchFamily="34" charset="-120"/>
              </a:rPr>
              <a:t>AarogyaTwin-X: Our Solution</a:t>
            </a:r>
            <a:endParaRPr lang="en-US" sz="3800" dirty="0"/>
          </a:p>
        </p:txBody>
      </p:sp>
      <p:sp>
        <p:nvSpPr>
          <p:cNvPr id="8" name="Text 5"/>
          <p:cNvSpPr/>
          <p:nvPr/>
        </p:nvSpPr>
        <p:spPr>
          <a:xfrm>
            <a:off x="8864600" y="878840"/>
            <a:ext cx="26162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4 key innovation pillars</a:t>
            </a:r>
            <a:endParaRPr lang="en-US" sz="1400" dirty="0"/>
          </a:p>
        </p:txBody>
      </p:sp>
      <p:sp>
        <p:nvSpPr>
          <p:cNvPr id="9" name="Shape 6"/>
          <p:cNvSpPr/>
          <p:nvPr/>
        </p:nvSpPr>
        <p:spPr>
          <a:xfrm>
            <a:off x="714375" y="1334135"/>
            <a:ext cx="5251450" cy="2406650"/>
          </a:xfrm>
          <a:prstGeom prst="roundRect">
            <a:avLst>
              <a:gd name="adj" fmla="val 5145"/>
            </a:avLst>
          </a:prstGeom>
          <a:gradFill rotWithShape="1">
            <a:gsLst>
              <a:gs pos="0">
                <a:srgbClr val="2DD4BF">
                  <a:alpha val="12000"/>
                </a:srgbClr>
              </a:gs>
              <a:gs pos="46000">
                <a:srgbClr val="111923"/>
              </a:gs>
            </a:gsLst>
            <a:lin ang="4200000" scaled="0"/>
          </a:gradFill>
          <a:ln w="6350">
            <a:solidFill>
              <a:srgbClr val="2DD4BF">
                <a:alpha val="55000"/>
              </a:srgbClr>
            </a:solidFill>
            <a:prstDash val="solid"/>
          </a:ln>
          <a:effectLst>
            <a:outerShdw blurRad="228600" dir="60000" algn="bl" rotWithShape="0">
              <a:srgbClr val="2DD4BF">
                <a:alpha val="20000"/>
              </a:srgbClr>
            </a:outerShdw>
          </a:effectLst>
        </p:spPr>
      </p:sp>
      <p:pic>
        <p:nvPicPr>
          <p:cNvPr id="10" name="Image 1" descr="Teal forecast chart with three future points"/>
          <p:cNvPicPr>
            <a:picLocks noChangeAspect="1"/>
          </p:cNvPicPr>
          <p:nvPr/>
        </p:nvPicPr>
        <p:blipFill>
          <a:blip r:embed="rId4"/>
          <a:srcRect/>
          <a:stretch/>
        </p:blipFill>
        <p:spPr>
          <a:xfrm>
            <a:off x="944880" y="1517015"/>
            <a:ext cx="457200" cy="457200"/>
          </a:xfrm>
          <a:prstGeom prst="rect">
            <a:avLst/>
          </a:prstGeom>
        </p:spPr>
      </p:pic>
      <p:sp>
        <p:nvSpPr>
          <p:cNvPr id="11" name="Text 7"/>
          <p:cNvSpPr/>
          <p:nvPr/>
        </p:nvSpPr>
        <p:spPr>
          <a:xfrm>
            <a:off x="1529080" y="1501140"/>
            <a:ext cx="43324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JetBrains Mono" pitchFamily="49" charset="0"/>
                <a:ea typeface="JetBrains Mono" pitchFamily="49" charset="-122"/>
                <a:cs typeface="JetBrains Mono" pitchFamily="49" charset="-120"/>
              </a:rPr>
              <a:t>PILLAR 01 · FORECAST</a:t>
            </a:r>
            <a:endParaRPr lang="en-US" sz="1200" dirty="0"/>
          </a:p>
        </p:txBody>
      </p:sp>
      <p:sp>
        <p:nvSpPr>
          <p:cNvPr id="12" name="Text 8"/>
          <p:cNvSpPr/>
          <p:nvPr/>
        </p:nvSpPr>
        <p:spPr>
          <a:xfrm>
            <a:off x="1529080" y="1727200"/>
            <a:ext cx="4332427" cy="28829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F1F5F9"/>
                </a:solidFill>
                <a:latin typeface="IBM Plex Sans" pitchFamily="34" charset="0"/>
                <a:ea typeface="IBM Plex Sans" pitchFamily="34" charset="-122"/>
                <a:cs typeface="IBM Plex Sans" pitchFamily="34" charset="-120"/>
              </a:rPr>
              <a:t>Multi-Horizon Forecasting</a:t>
            </a:r>
            <a:endParaRPr lang="en-US" sz="1800" dirty="0"/>
          </a:p>
        </p:txBody>
      </p:sp>
      <p:sp>
        <p:nvSpPr>
          <p:cNvPr id="13" name="Shape 9"/>
          <p:cNvSpPr/>
          <p:nvPr/>
        </p:nvSpPr>
        <p:spPr>
          <a:xfrm>
            <a:off x="944880" y="2180590"/>
            <a:ext cx="63500" cy="63500"/>
          </a:xfrm>
          <a:prstGeom prst="roundRect">
            <a:avLst>
              <a:gd name="adj" fmla="val 30000"/>
            </a:avLst>
          </a:prstGeom>
          <a:solidFill>
            <a:srgbClr val="2DD4BF"/>
          </a:solidFill>
          <a:ln/>
        </p:spPr>
      </p:sp>
      <p:sp>
        <p:nvSpPr>
          <p:cNvPr id="14" name="Text 10"/>
          <p:cNvSpPr/>
          <p:nvPr/>
        </p:nvSpPr>
        <p:spPr>
          <a:xfrm>
            <a:off x="1097280" y="210439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Calibrated forecast heads at </a:t>
            </a:r>
            <a:r>
              <a:rPr lang="en-US" sz="1200" b="1" dirty="0">
                <a:solidFill>
                  <a:srgbClr val="F1F5F9"/>
                </a:solidFill>
                <a:latin typeface="IBM Plex Sans" pitchFamily="34" charset="0"/>
                <a:ea typeface="IBM Plex Sans" pitchFamily="34" charset="-122"/>
                <a:cs typeface="IBM Plex Sans" pitchFamily="34" charset="-120"/>
              </a:rPr>
              <a:t>30, 60 and 120 minutes</a:t>
            </a:r>
            <a:endParaRPr lang="en-US" sz="1200" dirty="0"/>
          </a:p>
        </p:txBody>
      </p:sp>
      <p:sp>
        <p:nvSpPr>
          <p:cNvPr id="15" name="Shape 11"/>
          <p:cNvSpPr/>
          <p:nvPr/>
        </p:nvSpPr>
        <p:spPr>
          <a:xfrm>
            <a:off x="944880" y="2457450"/>
            <a:ext cx="63500" cy="63500"/>
          </a:xfrm>
          <a:prstGeom prst="roundRect">
            <a:avLst>
              <a:gd name="adj" fmla="val 30000"/>
            </a:avLst>
          </a:prstGeom>
          <a:solidFill>
            <a:srgbClr val="2DD4BF"/>
          </a:solidFill>
          <a:ln/>
        </p:spPr>
      </p:sp>
      <p:sp>
        <p:nvSpPr>
          <p:cNvPr id="16" name="Text 12"/>
          <p:cNvSpPr/>
          <p:nvPr/>
        </p:nvSpPr>
        <p:spPr>
          <a:xfrm>
            <a:off x="1097280" y="238125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Not just one number — </a:t>
            </a:r>
            <a:r>
              <a:rPr lang="en-US" sz="1200" b="1" dirty="0">
                <a:solidFill>
                  <a:srgbClr val="F1F5F9"/>
                </a:solidFill>
                <a:latin typeface="IBM Plex Sans" pitchFamily="34" charset="0"/>
                <a:ea typeface="IBM Plex Sans" pitchFamily="34" charset="-122"/>
                <a:cs typeface="IBM Plex Sans" pitchFamily="34" charset="-120"/>
              </a:rPr>
              <a:t>three named time horizons</a:t>
            </a:r>
            <a:endParaRPr lang="en-US" sz="1200" dirty="0"/>
          </a:p>
        </p:txBody>
      </p:sp>
      <p:sp>
        <p:nvSpPr>
          <p:cNvPr id="17" name="Shape 13"/>
          <p:cNvSpPr/>
          <p:nvPr/>
        </p:nvSpPr>
        <p:spPr>
          <a:xfrm>
            <a:off x="944880" y="2734310"/>
            <a:ext cx="63500" cy="63500"/>
          </a:xfrm>
          <a:prstGeom prst="roundRect">
            <a:avLst>
              <a:gd name="adj" fmla="val 30000"/>
            </a:avLst>
          </a:prstGeom>
          <a:solidFill>
            <a:srgbClr val="2DD4BF"/>
          </a:solidFill>
          <a:ln/>
        </p:spPr>
      </p:sp>
      <p:sp>
        <p:nvSpPr>
          <p:cNvPr id="18" name="Text 14"/>
          <p:cNvSpPr/>
          <p:nvPr/>
        </p:nvSpPr>
        <p:spPr>
          <a:xfrm>
            <a:off x="1097280" y="2658110"/>
            <a:ext cx="47771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Past-only</a:t>
            </a:r>
            <a:r>
              <a:rPr lang="en-US" sz="1200" dirty="0">
                <a:solidFill>
                  <a:srgbClr val="C3CEDA"/>
                </a:solidFill>
                <a:latin typeface="IBM Plex Sans" pitchFamily="34" charset="0"/>
                <a:ea typeface="IBM Plex Sans" pitchFamily="34" charset="-122"/>
                <a:cs typeface="IBM Plex Sans" pitchFamily="34" charset="-120"/>
              </a:rPr>
              <a:t> temporal features (zero future leakage)</a:t>
            </a:r>
            <a:endParaRPr lang="en-US" sz="1200" dirty="0"/>
          </a:p>
        </p:txBody>
      </p:sp>
      <p:sp>
        <p:nvSpPr>
          <p:cNvPr id="19" name="Shape 15"/>
          <p:cNvSpPr/>
          <p:nvPr/>
        </p:nvSpPr>
        <p:spPr>
          <a:xfrm>
            <a:off x="6226175" y="1334135"/>
            <a:ext cx="5251450" cy="2406650"/>
          </a:xfrm>
          <a:prstGeom prst="roundRect">
            <a:avLst>
              <a:gd name="adj" fmla="val 5145"/>
            </a:avLst>
          </a:prstGeom>
          <a:gradFill rotWithShape="1">
            <a:gsLst>
              <a:gs pos="0">
                <a:srgbClr val="5B9DFF">
                  <a:alpha val="12000"/>
                </a:srgbClr>
              </a:gs>
              <a:gs pos="46000">
                <a:srgbClr val="111923"/>
              </a:gs>
            </a:gsLst>
            <a:lin ang="4200000" scaled="0"/>
          </a:gradFill>
          <a:ln w="6350">
            <a:solidFill>
              <a:srgbClr val="5B9DFF">
                <a:alpha val="55000"/>
              </a:srgbClr>
            </a:solidFill>
            <a:prstDash val="solid"/>
          </a:ln>
          <a:effectLst>
            <a:outerShdw blurRad="228600" dir="60000" algn="bl" rotWithShape="0">
              <a:srgbClr val="5B9DFF">
                <a:alpha val="20000"/>
              </a:srgbClr>
            </a:outerShdw>
          </a:effectLst>
        </p:spPr>
      </p:sp>
      <p:pic>
        <p:nvPicPr>
          <p:cNvPr id="20" name="Image 2" descr="Blue shield with a range bracket"/>
          <p:cNvPicPr>
            <a:picLocks noChangeAspect="1"/>
          </p:cNvPicPr>
          <p:nvPr/>
        </p:nvPicPr>
        <p:blipFill>
          <a:blip r:embed="rId5"/>
          <a:srcRect/>
          <a:stretch/>
        </p:blipFill>
        <p:spPr>
          <a:xfrm>
            <a:off x="6456680" y="1517015"/>
            <a:ext cx="457200" cy="457200"/>
          </a:xfrm>
          <a:prstGeom prst="rect">
            <a:avLst/>
          </a:prstGeom>
        </p:spPr>
      </p:pic>
      <p:sp>
        <p:nvSpPr>
          <p:cNvPr id="21" name="Text 16"/>
          <p:cNvSpPr/>
          <p:nvPr/>
        </p:nvSpPr>
        <p:spPr>
          <a:xfrm>
            <a:off x="7040880" y="1501140"/>
            <a:ext cx="43324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9DFF"/>
                </a:solidFill>
                <a:latin typeface="JetBrains Mono" pitchFamily="49" charset="0"/>
                <a:ea typeface="JetBrains Mono" pitchFamily="49" charset="-122"/>
                <a:cs typeface="JetBrains Mono" pitchFamily="49" charset="-120"/>
              </a:rPr>
              <a:t>PILLAR 02 · UNCERTAINTY</a:t>
            </a:r>
            <a:endParaRPr lang="en-US" sz="1200" dirty="0"/>
          </a:p>
        </p:txBody>
      </p:sp>
      <p:sp>
        <p:nvSpPr>
          <p:cNvPr id="22" name="Text 17"/>
          <p:cNvSpPr/>
          <p:nvPr/>
        </p:nvSpPr>
        <p:spPr>
          <a:xfrm>
            <a:off x="7040880" y="1727200"/>
            <a:ext cx="4332427" cy="28829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F1F5F9"/>
                </a:solidFill>
                <a:latin typeface="IBM Plex Sans" pitchFamily="34" charset="0"/>
                <a:ea typeface="IBM Plex Sans" pitchFamily="34" charset="-122"/>
                <a:cs typeface="IBM Plex Sans" pitchFamily="34" charset="-120"/>
              </a:rPr>
              <a:t>90% Conformal Uncertainty Band</a:t>
            </a:r>
            <a:endParaRPr lang="en-US" sz="1800" dirty="0"/>
          </a:p>
        </p:txBody>
      </p:sp>
      <p:sp>
        <p:nvSpPr>
          <p:cNvPr id="23" name="Shape 18"/>
          <p:cNvSpPr/>
          <p:nvPr/>
        </p:nvSpPr>
        <p:spPr>
          <a:xfrm>
            <a:off x="6456680" y="2180590"/>
            <a:ext cx="63500" cy="63500"/>
          </a:xfrm>
          <a:prstGeom prst="roundRect">
            <a:avLst>
              <a:gd name="adj" fmla="val 30000"/>
            </a:avLst>
          </a:prstGeom>
          <a:solidFill>
            <a:srgbClr val="5B9DFF"/>
          </a:solidFill>
          <a:ln/>
        </p:spPr>
      </p:sp>
      <p:sp>
        <p:nvSpPr>
          <p:cNvPr id="24" name="Text 19"/>
          <p:cNvSpPr/>
          <p:nvPr/>
        </p:nvSpPr>
        <p:spPr>
          <a:xfrm>
            <a:off x="6609080" y="2104390"/>
            <a:ext cx="47771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Split-conformal</a:t>
            </a:r>
            <a:r>
              <a:rPr lang="en-US" sz="1200" dirty="0">
                <a:solidFill>
                  <a:srgbClr val="C3CEDA"/>
                </a:solidFill>
                <a:latin typeface="IBM Plex Sans" pitchFamily="34" charset="0"/>
                <a:ea typeface="IBM Plex Sans" pitchFamily="34" charset="-122"/>
                <a:cs typeface="IBM Plex Sans" pitchFamily="34" charset="-120"/>
              </a:rPr>
              <a:t> prediction intervals</a:t>
            </a:r>
            <a:endParaRPr lang="en-US" sz="1200" dirty="0"/>
          </a:p>
        </p:txBody>
      </p:sp>
      <p:sp>
        <p:nvSpPr>
          <p:cNvPr id="25" name="Shape 20"/>
          <p:cNvSpPr/>
          <p:nvPr/>
        </p:nvSpPr>
        <p:spPr>
          <a:xfrm>
            <a:off x="6456680" y="2457450"/>
            <a:ext cx="63500" cy="63500"/>
          </a:xfrm>
          <a:prstGeom prst="roundRect">
            <a:avLst>
              <a:gd name="adj" fmla="val 30000"/>
            </a:avLst>
          </a:prstGeom>
          <a:solidFill>
            <a:srgbClr val="5B9DFF"/>
          </a:solidFill>
          <a:ln/>
        </p:spPr>
      </p:sp>
      <p:sp>
        <p:nvSpPr>
          <p:cNvPr id="26" name="Text 21"/>
          <p:cNvSpPr/>
          <p:nvPr/>
        </p:nvSpPr>
        <p:spPr>
          <a:xfrm>
            <a:off x="6609080" y="238125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Mathematical </a:t>
            </a:r>
            <a:r>
              <a:rPr lang="en-US" sz="1200" b="1" dirty="0">
                <a:solidFill>
                  <a:srgbClr val="F1F5F9"/>
                </a:solidFill>
                <a:latin typeface="IBM Plex Sans" pitchFamily="34" charset="0"/>
                <a:ea typeface="IBM Plex Sans" pitchFamily="34" charset="-122"/>
                <a:cs typeface="IBM Plex Sans" pitchFamily="34" charset="-120"/>
              </a:rPr>
              <a:t>90% coverage guarantee</a:t>
            </a:r>
            <a:endParaRPr lang="en-US" sz="1200" dirty="0"/>
          </a:p>
        </p:txBody>
      </p:sp>
      <p:sp>
        <p:nvSpPr>
          <p:cNvPr id="27" name="Shape 22"/>
          <p:cNvSpPr/>
          <p:nvPr/>
        </p:nvSpPr>
        <p:spPr>
          <a:xfrm>
            <a:off x="6456680" y="2734310"/>
            <a:ext cx="63500" cy="63500"/>
          </a:xfrm>
          <a:prstGeom prst="roundRect">
            <a:avLst>
              <a:gd name="adj" fmla="val 30000"/>
            </a:avLst>
          </a:prstGeom>
          <a:solidFill>
            <a:srgbClr val="5B9DFF"/>
          </a:solidFill>
          <a:ln/>
        </p:spPr>
      </p:sp>
      <p:sp>
        <p:nvSpPr>
          <p:cNvPr id="28" name="Text 23"/>
          <p:cNvSpPr/>
          <p:nvPr/>
        </p:nvSpPr>
        <p:spPr>
          <a:xfrm>
            <a:off x="6609080" y="265811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Doctor sees range </a:t>
            </a:r>
            <a:r>
              <a:rPr lang="en-US" sz="1200" b="1" dirty="0">
                <a:solidFill>
                  <a:srgbClr val="F1F5F9"/>
                </a:solidFill>
                <a:latin typeface="IBM Plex Sans" pitchFamily="34" charset="0"/>
                <a:ea typeface="IBM Plex Sans" pitchFamily="34" charset="-122"/>
                <a:cs typeface="IBM Plex Sans" pitchFamily="34" charset="-120"/>
              </a:rPr>
              <a:t>[92–122 mg/dL]</a:t>
            </a:r>
            <a:r>
              <a:rPr lang="en-US" sz="1200" dirty="0">
                <a:solidFill>
                  <a:srgbClr val="C3CEDA"/>
                </a:solidFill>
                <a:latin typeface="IBM Plex Sans" pitchFamily="34" charset="0"/>
                <a:ea typeface="IBM Plex Sans" pitchFamily="34" charset="-122"/>
                <a:cs typeface="IBM Plex Sans" pitchFamily="34" charset="-120"/>
              </a:rPr>
              <a:t>, not just “107”</a:t>
            </a:r>
            <a:endParaRPr lang="en-US" sz="1200" dirty="0"/>
          </a:p>
        </p:txBody>
      </p:sp>
      <p:sp>
        <p:nvSpPr>
          <p:cNvPr id="29" name="Shape 24"/>
          <p:cNvSpPr/>
          <p:nvPr/>
        </p:nvSpPr>
        <p:spPr>
          <a:xfrm>
            <a:off x="714375" y="3950335"/>
            <a:ext cx="5251450" cy="2406650"/>
          </a:xfrm>
          <a:prstGeom prst="roundRect">
            <a:avLst>
              <a:gd name="adj" fmla="val 5145"/>
            </a:avLst>
          </a:prstGeom>
          <a:gradFill rotWithShape="1">
            <a:gsLst>
              <a:gs pos="0">
                <a:srgbClr val="FF5C5C">
                  <a:alpha val="12000"/>
                </a:srgbClr>
              </a:gs>
              <a:gs pos="46000">
                <a:srgbClr val="111923"/>
              </a:gs>
            </a:gsLst>
            <a:lin ang="4200000" scaled="0"/>
          </a:gradFill>
          <a:ln w="6350">
            <a:solidFill>
              <a:srgbClr val="FF5C5C">
                <a:alpha val="55000"/>
              </a:srgbClr>
            </a:solidFill>
            <a:prstDash val="solid"/>
          </a:ln>
          <a:effectLst>
            <a:outerShdw blurRad="228600" dir="60000" algn="bl" rotWithShape="0">
              <a:srgbClr val="FF5C5C">
                <a:alpha val="20000"/>
              </a:srgbClr>
            </a:outerShdw>
          </a:effectLst>
        </p:spPr>
      </p:sp>
      <p:pic>
        <p:nvPicPr>
          <p:cNvPr id="30" name="Image 3" descr="Red stop sign with a raised hand"/>
          <p:cNvPicPr>
            <a:picLocks noChangeAspect="1"/>
          </p:cNvPicPr>
          <p:nvPr/>
        </p:nvPicPr>
        <p:blipFill>
          <a:blip r:embed="rId6"/>
          <a:srcRect/>
          <a:stretch/>
        </p:blipFill>
        <p:spPr>
          <a:xfrm>
            <a:off x="944880" y="4133215"/>
            <a:ext cx="457200" cy="457200"/>
          </a:xfrm>
          <a:prstGeom prst="rect">
            <a:avLst/>
          </a:prstGeom>
        </p:spPr>
      </p:pic>
      <p:sp>
        <p:nvSpPr>
          <p:cNvPr id="31" name="Text 25"/>
          <p:cNvSpPr/>
          <p:nvPr/>
        </p:nvSpPr>
        <p:spPr>
          <a:xfrm>
            <a:off x="1529080" y="4117340"/>
            <a:ext cx="43324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5C5C"/>
                </a:solidFill>
                <a:latin typeface="JetBrains Mono" pitchFamily="49" charset="0"/>
                <a:ea typeface="JetBrains Mono" pitchFamily="49" charset="-122"/>
                <a:cs typeface="JetBrains Mono" pitchFamily="49" charset="-120"/>
              </a:rPr>
              <a:t>PILLAR 03 · SAFETY</a:t>
            </a:r>
            <a:endParaRPr lang="en-US" sz="1200" dirty="0"/>
          </a:p>
        </p:txBody>
      </p:sp>
      <p:sp>
        <p:nvSpPr>
          <p:cNvPr id="32" name="Text 26"/>
          <p:cNvSpPr/>
          <p:nvPr/>
        </p:nvSpPr>
        <p:spPr>
          <a:xfrm>
            <a:off x="1529080" y="4343400"/>
            <a:ext cx="4332427" cy="28829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F1F5F9"/>
                </a:solidFill>
                <a:latin typeface="IBM Plex Sans" pitchFamily="34" charset="0"/>
                <a:ea typeface="IBM Plex Sans" pitchFamily="34" charset="-122"/>
                <a:cs typeface="IBM Plex Sans" pitchFamily="34" charset="-120"/>
              </a:rPr>
              <a:t>Safety Abstention</a:t>
            </a:r>
            <a:endParaRPr lang="en-US" sz="1800" dirty="0"/>
          </a:p>
        </p:txBody>
      </p:sp>
      <p:sp>
        <p:nvSpPr>
          <p:cNvPr id="33" name="Shape 27"/>
          <p:cNvSpPr/>
          <p:nvPr/>
        </p:nvSpPr>
        <p:spPr>
          <a:xfrm>
            <a:off x="944880" y="4796790"/>
            <a:ext cx="63500" cy="63500"/>
          </a:xfrm>
          <a:prstGeom prst="roundRect">
            <a:avLst>
              <a:gd name="adj" fmla="val 30000"/>
            </a:avLst>
          </a:prstGeom>
          <a:solidFill>
            <a:srgbClr val="FF5C5C"/>
          </a:solidFill>
          <a:ln/>
        </p:spPr>
      </p:sp>
      <p:sp>
        <p:nvSpPr>
          <p:cNvPr id="34" name="Text 28"/>
          <p:cNvSpPr/>
          <p:nvPr/>
        </p:nvSpPr>
        <p:spPr>
          <a:xfrm>
            <a:off x="1097280" y="472059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When CGM data is </a:t>
            </a:r>
            <a:r>
              <a:rPr lang="en-US" sz="1200" b="1" dirty="0">
                <a:solidFill>
                  <a:srgbClr val="F1F5F9"/>
                </a:solidFill>
                <a:latin typeface="IBM Plex Sans" pitchFamily="34" charset="0"/>
                <a:ea typeface="IBM Plex Sans" pitchFamily="34" charset="-122"/>
                <a:cs typeface="IBM Plex Sans" pitchFamily="34" charset="-120"/>
              </a:rPr>
              <a:t>stale (&gt;15 min)</a:t>
            </a:r>
            <a:r>
              <a:rPr lang="en-US" sz="1200" dirty="0">
                <a:solidFill>
                  <a:srgbClr val="C3CEDA"/>
                </a:solidFill>
                <a:latin typeface="IBM Plex Sans" pitchFamily="34" charset="0"/>
                <a:ea typeface="IBM Plex Sans" pitchFamily="34" charset="-122"/>
                <a:cs typeface="IBM Plex Sans" pitchFamily="34" charset="-120"/>
              </a:rPr>
              <a:t> or dropped</a:t>
            </a:r>
            <a:endParaRPr lang="en-US" sz="1200" dirty="0"/>
          </a:p>
        </p:txBody>
      </p:sp>
      <p:sp>
        <p:nvSpPr>
          <p:cNvPr id="35" name="Shape 29"/>
          <p:cNvSpPr/>
          <p:nvPr/>
        </p:nvSpPr>
        <p:spPr>
          <a:xfrm>
            <a:off x="944880" y="5073650"/>
            <a:ext cx="63500" cy="63500"/>
          </a:xfrm>
          <a:prstGeom prst="roundRect">
            <a:avLst>
              <a:gd name="adj" fmla="val 30000"/>
            </a:avLst>
          </a:prstGeom>
          <a:solidFill>
            <a:srgbClr val="FF5C5C"/>
          </a:solidFill>
          <a:ln/>
        </p:spPr>
      </p:sp>
      <p:sp>
        <p:nvSpPr>
          <p:cNvPr id="36" name="Text 30"/>
          <p:cNvSpPr/>
          <p:nvPr/>
        </p:nvSpPr>
        <p:spPr>
          <a:xfrm>
            <a:off x="1097280" y="499745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System </a:t>
            </a:r>
            <a:r>
              <a:rPr lang="en-US" sz="1200" b="1" dirty="0">
                <a:solidFill>
                  <a:srgbClr val="F1F5F9"/>
                </a:solidFill>
                <a:latin typeface="IBM Plex Sans" pitchFamily="34" charset="0"/>
                <a:ea typeface="IBM Plex Sans" pitchFamily="34" charset="-122"/>
                <a:cs typeface="IBM Plex Sans" pitchFamily="34" charset="-120"/>
              </a:rPr>
              <a:t>REFUSES</a:t>
            </a:r>
            <a:r>
              <a:rPr lang="en-US" sz="1200" dirty="0">
                <a:solidFill>
                  <a:srgbClr val="C3CEDA"/>
                </a:solidFill>
                <a:latin typeface="IBM Plex Sans" pitchFamily="34" charset="0"/>
                <a:ea typeface="IBM Plex Sans" pitchFamily="34" charset="-122"/>
                <a:cs typeface="IBM Plex Sans" pitchFamily="34" charset="-120"/>
              </a:rPr>
              <a:t> to predict</a:t>
            </a:r>
            <a:endParaRPr lang="en-US" sz="1200" dirty="0"/>
          </a:p>
        </p:txBody>
      </p:sp>
      <p:sp>
        <p:nvSpPr>
          <p:cNvPr id="37" name="Shape 31"/>
          <p:cNvSpPr/>
          <p:nvPr/>
        </p:nvSpPr>
        <p:spPr>
          <a:xfrm>
            <a:off x="944880" y="5350510"/>
            <a:ext cx="63500" cy="63500"/>
          </a:xfrm>
          <a:prstGeom prst="roundRect">
            <a:avLst>
              <a:gd name="adj" fmla="val 30000"/>
            </a:avLst>
          </a:prstGeom>
          <a:solidFill>
            <a:srgbClr val="FF5C5C"/>
          </a:solidFill>
          <a:ln/>
        </p:spPr>
      </p:sp>
      <p:sp>
        <p:nvSpPr>
          <p:cNvPr id="38" name="Text 32"/>
          <p:cNvSpPr/>
          <p:nvPr/>
        </p:nvSpPr>
        <p:spPr>
          <a:xfrm>
            <a:off x="1097280" y="527431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Returns explicit warning: </a:t>
            </a:r>
            <a:r>
              <a:rPr lang="en-US" sz="1200" b="1" dirty="0">
                <a:solidFill>
                  <a:srgbClr val="F1F5F9"/>
                </a:solidFill>
                <a:latin typeface="IBM Plex Sans" pitchFamily="34" charset="0"/>
                <a:ea typeface="IBM Plex Sans" pitchFamily="34" charset="-122"/>
                <a:cs typeface="IBM Plex Sans" pitchFamily="34" charset="-120"/>
              </a:rPr>
              <a:t>“Data too stale — abstained”</a:t>
            </a:r>
            <a:endParaRPr lang="en-US" sz="1200" dirty="0"/>
          </a:p>
        </p:txBody>
      </p:sp>
      <p:sp>
        <p:nvSpPr>
          <p:cNvPr id="39" name="Shape 33"/>
          <p:cNvSpPr/>
          <p:nvPr/>
        </p:nvSpPr>
        <p:spPr>
          <a:xfrm>
            <a:off x="944880" y="5627370"/>
            <a:ext cx="63500" cy="63500"/>
          </a:xfrm>
          <a:prstGeom prst="roundRect">
            <a:avLst>
              <a:gd name="adj" fmla="val 30000"/>
            </a:avLst>
          </a:prstGeom>
          <a:solidFill>
            <a:srgbClr val="FF5C5C"/>
          </a:solidFill>
          <a:ln/>
        </p:spPr>
      </p:sp>
      <p:sp>
        <p:nvSpPr>
          <p:cNvPr id="40" name="Text 34"/>
          <p:cNvSpPr/>
          <p:nvPr/>
        </p:nvSpPr>
        <p:spPr>
          <a:xfrm>
            <a:off x="1097280" y="555117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Better to stay silent than give a dangerous wrong answer</a:t>
            </a:r>
            <a:endParaRPr lang="en-US" sz="1200" dirty="0"/>
          </a:p>
        </p:txBody>
      </p:sp>
      <p:sp>
        <p:nvSpPr>
          <p:cNvPr id="41" name="Shape 35"/>
          <p:cNvSpPr/>
          <p:nvPr/>
        </p:nvSpPr>
        <p:spPr>
          <a:xfrm>
            <a:off x="6226175" y="3950335"/>
            <a:ext cx="5251450" cy="2406650"/>
          </a:xfrm>
          <a:prstGeom prst="roundRect">
            <a:avLst>
              <a:gd name="adj" fmla="val 5145"/>
            </a:avLst>
          </a:prstGeom>
          <a:gradFill rotWithShape="1">
            <a:gsLst>
              <a:gs pos="0">
                <a:srgbClr val="4ADE80">
                  <a:alpha val="12000"/>
                </a:srgbClr>
              </a:gs>
              <a:gs pos="46000">
                <a:srgbClr val="111923"/>
              </a:gs>
            </a:gsLst>
            <a:lin ang="4200000" scaled="0"/>
          </a:gradFill>
          <a:ln w="6350">
            <a:solidFill>
              <a:srgbClr val="4ADE80">
                <a:alpha val="55000"/>
              </a:srgbClr>
            </a:solidFill>
            <a:prstDash val="solid"/>
          </a:ln>
          <a:effectLst>
            <a:outerShdw blurRad="228600" dir="60000" algn="bl" rotWithShape="0">
              <a:srgbClr val="4ADE80">
                <a:alpha val="20000"/>
              </a:srgbClr>
            </a:outerShdw>
          </a:effectLst>
        </p:spPr>
      </p:sp>
      <p:pic>
        <p:nvPicPr>
          <p:cNvPr id="42" name="Image 4" descr="Green sliders"/>
          <p:cNvPicPr>
            <a:picLocks noChangeAspect="1"/>
          </p:cNvPicPr>
          <p:nvPr/>
        </p:nvPicPr>
        <p:blipFill>
          <a:blip r:embed="rId7"/>
          <a:srcRect/>
          <a:stretch/>
        </p:blipFill>
        <p:spPr>
          <a:xfrm>
            <a:off x="6456680" y="4133215"/>
            <a:ext cx="457200" cy="457200"/>
          </a:xfrm>
          <a:prstGeom prst="rect">
            <a:avLst/>
          </a:prstGeom>
        </p:spPr>
      </p:pic>
      <p:sp>
        <p:nvSpPr>
          <p:cNvPr id="43" name="Text 36"/>
          <p:cNvSpPr/>
          <p:nvPr/>
        </p:nvSpPr>
        <p:spPr>
          <a:xfrm>
            <a:off x="7040880" y="4117340"/>
            <a:ext cx="433242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DE80"/>
                </a:solidFill>
                <a:latin typeface="JetBrains Mono" pitchFamily="49" charset="0"/>
                <a:ea typeface="JetBrains Mono" pitchFamily="49" charset="-122"/>
                <a:cs typeface="JetBrains Mono" pitchFamily="49" charset="-120"/>
              </a:rPr>
              <a:t>PILLAR 04 · SANDBOX</a:t>
            </a:r>
            <a:endParaRPr lang="en-US" sz="1200" dirty="0"/>
          </a:p>
        </p:txBody>
      </p:sp>
      <p:sp>
        <p:nvSpPr>
          <p:cNvPr id="44" name="Text 37"/>
          <p:cNvSpPr/>
          <p:nvPr/>
        </p:nvSpPr>
        <p:spPr>
          <a:xfrm>
            <a:off x="7040880" y="4343400"/>
            <a:ext cx="4332427" cy="288290"/>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F1F5F9"/>
                </a:solidFill>
                <a:latin typeface="IBM Plex Sans" pitchFamily="34" charset="0"/>
                <a:ea typeface="IBM Plex Sans" pitchFamily="34" charset="-122"/>
                <a:cs typeface="IBM Plex Sans" pitchFamily="34" charset="-120"/>
              </a:rPr>
              <a:t>What-If Scenario Sandbox</a:t>
            </a:r>
            <a:endParaRPr lang="en-US" sz="1800" dirty="0"/>
          </a:p>
        </p:txBody>
      </p:sp>
      <p:sp>
        <p:nvSpPr>
          <p:cNvPr id="45" name="Shape 38"/>
          <p:cNvSpPr/>
          <p:nvPr/>
        </p:nvSpPr>
        <p:spPr>
          <a:xfrm>
            <a:off x="6456680" y="4796790"/>
            <a:ext cx="63500" cy="63500"/>
          </a:xfrm>
          <a:prstGeom prst="roundRect">
            <a:avLst>
              <a:gd name="adj" fmla="val 30000"/>
            </a:avLst>
          </a:prstGeom>
          <a:solidFill>
            <a:srgbClr val="4ADE80"/>
          </a:solidFill>
          <a:ln/>
        </p:spPr>
      </p:sp>
      <p:sp>
        <p:nvSpPr>
          <p:cNvPr id="46" name="Text 39"/>
          <p:cNvSpPr/>
          <p:nvPr/>
        </p:nvSpPr>
        <p:spPr>
          <a:xfrm>
            <a:off x="6609080" y="472059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Clinician adjusts </a:t>
            </a:r>
            <a:r>
              <a:rPr lang="en-US" sz="1200" b="1" dirty="0">
                <a:solidFill>
                  <a:srgbClr val="F1F5F9"/>
                </a:solidFill>
                <a:latin typeface="IBM Plex Sans" pitchFamily="34" charset="0"/>
                <a:ea typeface="IBM Plex Sans" pitchFamily="34" charset="-122"/>
                <a:cs typeface="IBM Plex Sans" pitchFamily="34" charset="-120"/>
              </a:rPr>
              <a:t>Activity (0–30 min)</a:t>
            </a:r>
            <a:r>
              <a:rPr lang="en-US" sz="1200" dirty="0">
                <a:solidFill>
                  <a:srgbClr val="C3CEDA"/>
                </a:solidFill>
                <a:latin typeface="IBM Plex Sans" pitchFamily="34" charset="0"/>
                <a:ea typeface="IBM Plex Sans" pitchFamily="34" charset="-122"/>
                <a:cs typeface="IBM Plex Sans" pitchFamily="34" charset="-120"/>
              </a:rPr>
              <a:t> + </a:t>
            </a:r>
            <a:r>
              <a:rPr lang="en-US" sz="1200" b="1" dirty="0">
                <a:solidFill>
                  <a:srgbClr val="F1F5F9"/>
                </a:solidFill>
                <a:latin typeface="IBM Plex Sans" pitchFamily="34" charset="0"/>
                <a:ea typeface="IBM Plex Sans" pitchFamily="34" charset="-122"/>
                <a:cs typeface="IBM Plex Sans" pitchFamily="34" charset="-120"/>
              </a:rPr>
              <a:t>Carbs (0–100g)</a:t>
            </a:r>
            <a:endParaRPr lang="en-US" sz="1200" dirty="0"/>
          </a:p>
        </p:txBody>
      </p:sp>
      <p:sp>
        <p:nvSpPr>
          <p:cNvPr id="47" name="Shape 40"/>
          <p:cNvSpPr/>
          <p:nvPr/>
        </p:nvSpPr>
        <p:spPr>
          <a:xfrm>
            <a:off x="6456680" y="5073650"/>
            <a:ext cx="63500" cy="63500"/>
          </a:xfrm>
          <a:prstGeom prst="roundRect">
            <a:avLst>
              <a:gd name="adj" fmla="val 30000"/>
            </a:avLst>
          </a:prstGeom>
          <a:solidFill>
            <a:srgbClr val="4ADE80"/>
          </a:solidFill>
          <a:ln/>
        </p:spPr>
      </p:sp>
      <p:sp>
        <p:nvSpPr>
          <p:cNvPr id="48" name="Text 41"/>
          <p:cNvSpPr/>
          <p:nvPr/>
        </p:nvSpPr>
        <p:spPr>
          <a:xfrm>
            <a:off x="6609080" y="499745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See prospective glucose trajectory changes</a:t>
            </a:r>
            <a:endParaRPr lang="en-US" sz="1200" dirty="0"/>
          </a:p>
        </p:txBody>
      </p:sp>
      <p:sp>
        <p:nvSpPr>
          <p:cNvPr id="49" name="Shape 42"/>
          <p:cNvSpPr/>
          <p:nvPr/>
        </p:nvSpPr>
        <p:spPr>
          <a:xfrm>
            <a:off x="6456680" y="5350510"/>
            <a:ext cx="63500" cy="63500"/>
          </a:xfrm>
          <a:prstGeom prst="roundRect">
            <a:avLst>
              <a:gd name="adj" fmla="val 30000"/>
            </a:avLst>
          </a:prstGeom>
          <a:solidFill>
            <a:srgbClr val="4ADE80"/>
          </a:solidFill>
          <a:ln/>
        </p:spPr>
      </p:sp>
      <p:sp>
        <p:nvSpPr>
          <p:cNvPr id="50" name="Text 43"/>
          <p:cNvSpPr/>
          <p:nvPr/>
        </p:nvSpPr>
        <p:spPr>
          <a:xfrm>
            <a:off x="6609080" y="527431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Explicit disclaimer: </a:t>
            </a:r>
            <a:r>
              <a:rPr lang="en-US" sz="1200" b="1" dirty="0">
                <a:solidFill>
                  <a:srgbClr val="F1F5F9"/>
                </a:solidFill>
                <a:latin typeface="IBM Plex Sans" pitchFamily="34" charset="0"/>
                <a:ea typeface="IBM Plex Sans" pitchFamily="34" charset="-122"/>
                <a:cs typeface="IBM Plex Sans" pitchFamily="34" charset="-120"/>
              </a:rPr>
              <a:t>“Not medical advice”</a:t>
            </a:r>
            <a:endParaRPr lang="en-US" sz="1200" dirty="0"/>
          </a:p>
        </p:txBody>
      </p:sp>
      <p:sp>
        <p:nvSpPr>
          <p:cNvPr id="51" name="Shape 44"/>
          <p:cNvSpPr/>
          <p:nvPr/>
        </p:nvSpPr>
        <p:spPr>
          <a:xfrm>
            <a:off x="6456680" y="5627370"/>
            <a:ext cx="63500" cy="63500"/>
          </a:xfrm>
          <a:prstGeom prst="roundRect">
            <a:avLst>
              <a:gd name="adj" fmla="val 30000"/>
            </a:avLst>
          </a:prstGeom>
          <a:solidFill>
            <a:srgbClr val="4ADE80"/>
          </a:solidFill>
          <a:ln/>
        </p:spPr>
      </p:sp>
      <p:sp>
        <p:nvSpPr>
          <p:cNvPr id="52" name="Text 45"/>
          <p:cNvSpPr/>
          <p:nvPr/>
        </p:nvSpPr>
        <p:spPr>
          <a:xfrm>
            <a:off x="6609080" y="5551170"/>
            <a:ext cx="47771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Bounded assumptions, not treatment recommendations</a:t>
            </a:r>
            <a:endParaRPr lang="en-US" sz="1200" dirty="0"/>
          </a:p>
        </p:txBody>
      </p:sp>
      <p:sp>
        <p:nvSpPr>
          <p:cNvPr id="53" name="Shape 46"/>
          <p:cNvSpPr/>
          <p:nvPr/>
        </p:nvSpPr>
        <p:spPr>
          <a:xfrm>
            <a:off x="6089650" y="1330960"/>
            <a:ext cx="12700" cy="5029200"/>
          </a:xfrm>
          <a:prstGeom prst="rect">
            <a:avLst/>
          </a:prstGeom>
          <a:gradFill rotWithShape="1">
            <a:gsLst>
              <a:gs pos="0">
                <a:srgbClr val="7896BE">
                  <a:alpha val="0"/>
                </a:srgbClr>
              </a:gs>
              <a:gs pos="50000">
                <a:srgbClr val="7896BE">
                  <a:alpha val="60000"/>
                </a:srgbClr>
              </a:gs>
              <a:gs pos="100000">
                <a:srgbClr val="7896BE">
                  <a:alpha val="0"/>
                </a:srgbClr>
              </a:gs>
            </a:gsLst>
            <a:lin ang="5400000" scaled="0"/>
          </a:gradFill>
          <a:ln/>
        </p:spPr>
      </p:sp>
      <p:sp>
        <p:nvSpPr>
          <p:cNvPr id="54" name="Shape 47"/>
          <p:cNvSpPr/>
          <p:nvPr/>
        </p:nvSpPr>
        <p:spPr>
          <a:xfrm>
            <a:off x="711200" y="3839210"/>
            <a:ext cx="10769600" cy="12700"/>
          </a:xfrm>
          <a:prstGeom prst="rect">
            <a:avLst/>
          </a:prstGeom>
          <a:gradFill rotWithShape="1">
            <a:gsLst>
              <a:gs pos="0">
                <a:srgbClr val="7896BE">
                  <a:alpha val="0"/>
                </a:srgbClr>
              </a:gs>
              <a:gs pos="50000">
                <a:srgbClr val="7896BE">
                  <a:alpha val="60000"/>
                </a:srgbClr>
              </a:gs>
              <a:gs pos="100000">
                <a:srgbClr val="7896BE">
                  <a:alpha val="0"/>
                </a:srgbClr>
              </a:gs>
            </a:gsLst>
            <a:lin ang="0" scaled="0"/>
          </a:gradFill>
          <a:ln/>
        </p:spPr>
      </p:sp>
      <p:sp>
        <p:nvSpPr>
          <p:cNvPr id="55" name="Shape 48"/>
          <p:cNvSpPr/>
          <p:nvPr/>
        </p:nvSpPr>
        <p:spPr>
          <a:xfrm>
            <a:off x="5740400" y="3489960"/>
            <a:ext cx="711200" cy="711200"/>
          </a:xfrm>
          <a:prstGeom prst="roundRect">
            <a:avLst>
              <a:gd name="adj" fmla="val 50000"/>
            </a:avLst>
          </a:prstGeom>
          <a:solidFill>
            <a:srgbClr val="0A0F16"/>
          </a:solidFill>
          <a:ln/>
          <a:effectLst>
            <a:outerShdw blurRad="31750" dir="60000" algn="bl" rotWithShape="0">
              <a:srgbClr val="0A0F16">
                <a:alpha val="100000"/>
              </a:srgbClr>
            </a:outerShdw>
          </a:effectLst>
        </p:spPr>
      </p:sp>
      <p:pic>
        <p:nvPicPr>
          <p:cNvPr id="56" name="Image 5" descr="AarogyaTwin-X logo: two overlapping twin circles inside a four-colour ring"/>
          <p:cNvPicPr>
            <a:picLocks noChangeAspect="1"/>
          </p:cNvPicPr>
          <p:nvPr/>
        </p:nvPicPr>
        <p:blipFill>
          <a:blip r:embed="rId8"/>
          <a:srcRect/>
          <a:stretch/>
        </p:blipFill>
        <p:spPr>
          <a:xfrm>
            <a:off x="5740400" y="3489960"/>
            <a:ext cx="711200" cy="711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55600" y="304800"/>
            <a:ext cx="355600" cy="50800"/>
          </a:xfrm>
          <a:prstGeom prst="roundRect">
            <a:avLst>
              <a:gd name="adj" fmla="val 50000"/>
            </a:avLst>
          </a:prstGeom>
          <a:solidFill>
            <a:srgbClr val="5B9DFF"/>
          </a:solidFill>
          <a:ln/>
        </p:spPr>
      </p:sp>
      <p:sp>
        <p:nvSpPr>
          <p:cNvPr id="3" name="Shape 1"/>
          <p:cNvSpPr/>
          <p:nvPr/>
        </p:nvSpPr>
        <p:spPr>
          <a:xfrm>
            <a:off x="762000" y="304800"/>
            <a:ext cx="355600" cy="50800"/>
          </a:xfrm>
          <a:prstGeom prst="roundRect">
            <a:avLst>
              <a:gd name="adj" fmla="val 50000"/>
            </a:avLst>
          </a:prstGeom>
          <a:solidFill>
            <a:srgbClr val="2DD4BF"/>
          </a:solidFill>
          <a:ln/>
        </p:spPr>
      </p:sp>
      <p:sp>
        <p:nvSpPr>
          <p:cNvPr id="4" name="Shape 2"/>
          <p:cNvSpPr/>
          <p:nvPr/>
        </p:nvSpPr>
        <p:spPr>
          <a:xfrm>
            <a:off x="1168400" y="304800"/>
            <a:ext cx="355600" cy="50800"/>
          </a:xfrm>
          <a:prstGeom prst="roundRect">
            <a:avLst>
              <a:gd name="adj" fmla="val 50000"/>
            </a:avLst>
          </a:prstGeom>
          <a:solidFill>
            <a:srgbClr val="4ADE80"/>
          </a:solidFill>
          <a:ln/>
        </p:spPr>
      </p:sp>
      <p:sp>
        <p:nvSpPr>
          <p:cNvPr id="5" name="Shape 3"/>
          <p:cNvSpPr/>
          <p:nvPr/>
        </p:nvSpPr>
        <p:spPr>
          <a:xfrm>
            <a:off x="1574800" y="304800"/>
            <a:ext cx="355600" cy="50800"/>
          </a:xfrm>
          <a:prstGeom prst="roundRect">
            <a:avLst>
              <a:gd name="adj" fmla="val 50000"/>
            </a:avLst>
          </a:prstGeom>
          <a:solidFill>
            <a:srgbClr val="A78BFA"/>
          </a:solidFill>
          <a:ln/>
        </p:spPr>
      </p:sp>
      <p:sp>
        <p:nvSpPr>
          <p:cNvPr id="6" name="Text 4"/>
          <p:cNvSpPr>
            <a:spLocks noGrp="1"/>
          </p:cNvSpPr>
          <p:nvPr>
            <p:ph type="title"/>
          </p:nvPr>
        </p:nvSpPr>
        <p:spPr>
          <a:xfrm>
            <a:off x="355600" y="419100"/>
            <a:ext cx="4535519"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1F5F9"/>
                </a:solidFill>
                <a:latin typeface="IBM Plex Sans" pitchFamily="34" charset="0"/>
                <a:ea typeface="IBM Plex Sans" pitchFamily="34" charset="-122"/>
                <a:cs typeface="IBM Plex Sans" pitchFamily="34" charset="-120"/>
              </a:rPr>
              <a:t>System Architecture</a:t>
            </a:r>
            <a:endParaRPr lang="en-US" sz="3200" dirty="0"/>
          </a:p>
        </p:txBody>
      </p:sp>
      <p:sp>
        <p:nvSpPr>
          <p:cNvPr id="7" name="Text 5"/>
          <p:cNvSpPr/>
          <p:nvPr/>
        </p:nvSpPr>
        <p:spPr>
          <a:xfrm>
            <a:off x="8827770" y="617220"/>
            <a:ext cx="300863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4 layers,</a:t>
            </a:r>
            <a:r>
              <a:rPr lang="en-US" sz="1400" dirty="0">
                <a:solidFill>
                  <a:srgbClr val="AEBBCA"/>
                </a:solidFill>
                <a:latin typeface="IBM Plex Sans" pitchFamily="34" charset="0"/>
                <a:ea typeface="IBM Plex Sans" pitchFamily="34" charset="-122"/>
                <a:cs typeface="IBM Plex Sans" pitchFamily="34" charset="-120"/>
              </a:rPr>
              <a:t> from data to dashboard</a:t>
            </a:r>
            <a:endParaRPr lang="en-US" sz="1400" dirty="0"/>
          </a:p>
        </p:txBody>
      </p:sp>
      <p:sp>
        <p:nvSpPr>
          <p:cNvPr id="8" name="Shape 6"/>
          <p:cNvSpPr/>
          <p:nvPr/>
        </p:nvSpPr>
        <p:spPr>
          <a:xfrm>
            <a:off x="355600" y="1745616"/>
            <a:ext cx="1778000" cy="0"/>
          </a:xfrm>
          <a:prstGeom prst="line">
            <a:avLst/>
          </a:prstGeom>
          <a:noFill/>
          <a:ln w="19050">
            <a:solidFill>
              <a:srgbClr val="5B9DFF"/>
            </a:solidFill>
            <a:prstDash val="solid"/>
          </a:ln>
        </p:spPr>
      </p:sp>
      <p:sp>
        <p:nvSpPr>
          <p:cNvPr id="9" name="Text 7"/>
          <p:cNvSpPr/>
          <p:nvPr/>
        </p:nvSpPr>
        <p:spPr>
          <a:xfrm>
            <a:off x="355600" y="993141"/>
            <a:ext cx="183134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9DFF"/>
                </a:solidFill>
                <a:latin typeface="JetBrains Mono" pitchFamily="49" charset="0"/>
                <a:ea typeface="JetBrains Mono" pitchFamily="49" charset="-122"/>
                <a:cs typeface="JetBrains Mono" pitchFamily="49" charset="-120"/>
              </a:rPr>
              <a:t>LAYER 1</a:t>
            </a:r>
            <a:endParaRPr lang="en-US" sz="1200" dirty="0"/>
          </a:p>
        </p:txBody>
      </p:sp>
      <p:sp>
        <p:nvSpPr>
          <p:cNvPr id="10" name="Text 8"/>
          <p:cNvSpPr/>
          <p:nvPr/>
        </p:nvSpPr>
        <p:spPr>
          <a:xfrm>
            <a:off x="355600" y="1219200"/>
            <a:ext cx="1831340" cy="22987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Data Input Layer</a:t>
            </a:r>
            <a:endParaRPr lang="en-US" sz="1400" dirty="0"/>
          </a:p>
        </p:txBody>
      </p:sp>
      <p:sp>
        <p:nvSpPr>
          <p:cNvPr id="11" name="Shape 9"/>
          <p:cNvSpPr/>
          <p:nvPr/>
        </p:nvSpPr>
        <p:spPr>
          <a:xfrm>
            <a:off x="358775" y="1847216"/>
            <a:ext cx="1771650" cy="4779010"/>
          </a:xfrm>
          <a:prstGeom prst="roundRect">
            <a:avLst>
              <a:gd name="adj" fmla="val 5556"/>
            </a:avLst>
          </a:prstGeom>
          <a:gradFill rotWithShape="1">
            <a:gsLst>
              <a:gs pos="0">
                <a:srgbClr val="5B9DFF">
                  <a:alpha val="12000"/>
                </a:srgbClr>
              </a:gs>
              <a:gs pos="55000">
                <a:srgbClr val="111923"/>
              </a:gs>
            </a:gsLst>
            <a:lin ang="4200000" scaled="0"/>
          </a:gradFill>
          <a:ln w="6350">
            <a:solidFill>
              <a:srgbClr val="5B9DFF">
                <a:alpha val="60000"/>
              </a:srgbClr>
            </a:solidFill>
            <a:prstDash val="solid"/>
          </a:ln>
          <a:effectLst>
            <a:outerShdw blurRad="177800" dir="60000" algn="bl" rotWithShape="0">
              <a:srgbClr val="5B9DFF">
                <a:alpha val="20000"/>
              </a:srgbClr>
            </a:outerShdw>
          </a:effectLst>
        </p:spPr>
      </p:sp>
      <p:sp>
        <p:nvSpPr>
          <p:cNvPr id="12" name="Text 10"/>
          <p:cNvSpPr/>
          <p:nvPr/>
        </p:nvSpPr>
        <p:spPr>
          <a:xfrm>
            <a:off x="474980" y="1950720"/>
            <a:ext cx="1590040" cy="4343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Synthetic Patient Cohort</a:t>
            </a:r>
            <a:endParaRPr lang="en-US" sz="1400" dirty="0"/>
          </a:p>
        </p:txBody>
      </p:sp>
      <p:sp>
        <p:nvSpPr>
          <p:cNvPr id="13" name="Text 11"/>
          <p:cNvSpPr/>
          <p:nvPr/>
        </p:nvSpPr>
        <p:spPr>
          <a:xfrm>
            <a:off x="478155" y="2426336"/>
            <a:ext cx="1532890" cy="532130"/>
          </a:xfrm>
          <a:prstGeom prst="roundRect">
            <a:avLst>
              <a:gd name="adj" fmla="val 11337"/>
            </a:avLst>
          </a:prstGeom>
          <a:solidFill>
            <a:srgbClr val="5B9DFF">
              <a:alpha val="14000"/>
            </a:srgbClr>
          </a:solidFill>
          <a:ln w="6350">
            <a:solidFill>
              <a:srgbClr val="5B9DFF">
                <a:alpha val="45000"/>
              </a:srgbClr>
            </a:solidFill>
            <a:prstDash val="solid"/>
          </a:ln>
        </p:spPr>
        <p:txBody>
          <a:bodyPr wrap="square" lIns="60436" tIns="35036" rIns="9636" bIns="9636" rtlCol="0" anchor="t">
            <a:normAutofit/>
          </a:bodyPr>
          <a:lstStyle/>
          <a:p>
            <a:pPr marL="0" indent="0" algn="l">
              <a:lnSpc>
                <a:spcPts val="1680"/>
              </a:lnSpc>
              <a:buNone/>
            </a:pPr>
            <a:r>
              <a:rPr lang="en-US" sz="1200" b="1" dirty="0">
                <a:solidFill>
                  <a:srgbClr val="8FB4FF"/>
                </a:solidFill>
                <a:latin typeface="IBM Plex Sans" pitchFamily="34" charset="0"/>
                <a:ea typeface="IBM Plex Sans" pitchFamily="34" charset="-122"/>
                <a:cs typeface="IBM Plex Sans" pitchFamily="34" charset="-120"/>
              </a:rPr>
              <a:t>60 patients</a:t>
            </a:r>
            <a:endParaRPr lang="en-US" sz="1200" dirty="0"/>
          </a:p>
          <a:p>
            <a:pPr marL="0" indent="0" algn="l">
              <a:lnSpc>
                <a:spcPts val="1680"/>
              </a:lnSpc>
              <a:buNone/>
            </a:pPr>
            <a:r>
              <a:rPr lang="en-US" sz="1200" b="1" dirty="0">
                <a:solidFill>
                  <a:srgbClr val="8FB4FF"/>
                </a:solidFill>
                <a:latin typeface="IBM Plex Sans" pitchFamily="34" charset="0"/>
                <a:ea typeface="IBM Plex Sans" pitchFamily="34" charset="-122"/>
                <a:cs typeface="IBM Plex Sans" pitchFamily="34" charset="-120"/>
              </a:rPr>
              <a:t>× 5 days</a:t>
            </a:r>
            <a:endParaRPr lang="en-US" sz="1200" dirty="0"/>
          </a:p>
        </p:txBody>
      </p:sp>
      <p:sp>
        <p:nvSpPr>
          <p:cNvPr id="14" name="Shape 12"/>
          <p:cNvSpPr/>
          <p:nvPr/>
        </p:nvSpPr>
        <p:spPr>
          <a:xfrm>
            <a:off x="474980" y="3107691"/>
            <a:ext cx="50800" cy="50800"/>
          </a:xfrm>
          <a:prstGeom prst="roundRect">
            <a:avLst>
              <a:gd name="adj" fmla="val 25000"/>
            </a:avLst>
          </a:prstGeom>
          <a:solidFill>
            <a:srgbClr val="5B9DFF"/>
          </a:solidFill>
          <a:ln/>
        </p:spPr>
      </p:sp>
      <p:sp>
        <p:nvSpPr>
          <p:cNvPr id="15" name="Text 13"/>
          <p:cNvSpPr/>
          <p:nvPr/>
        </p:nvSpPr>
        <p:spPr>
          <a:xfrm>
            <a:off x="601980" y="3025141"/>
            <a:ext cx="14630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CGM Glucose (5-min intervals)</a:t>
            </a:r>
            <a:endParaRPr lang="en-US" sz="1200" dirty="0"/>
          </a:p>
        </p:txBody>
      </p:sp>
      <p:sp>
        <p:nvSpPr>
          <p:cNvPr id="16" name="Shape 14"/>
          <p:cNvSpPr/>
          <p:nvPr/>
        </p:nvSpPr>
        <p:spPr>
          <a:xfrm>
            <a:off x="474980" y="3572511"/>
            <a:ext cx="50800" cy="50800"/>
          </a:xfrm>
          <a:prstGeom prst="roundRect">
            <a:avLst>
              <a:gd name="adj" fmla="val 25000"/>
            </a:avLst>
          </a:prstGeom>
          <a:solidFill>
            <a:srgbClr val="5B9DFF"/>
          </a:solidFill>
          <a:ln/>
        </p:spPr>
      </p:sp>
      <p:sp>
        <p:nvSpPr>
          <p:cNvPr id="17" name="Text 15"/>
          <p:cNvSpPr/>
          <p:nvPr/>
        </p:nvSpPr>
        <p:spPr>
          <a:xfrm>
            <a:off x="601980" y="3489961"/>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Heart Rate, HRV</a:t>
            </a:r>
            <a:endParaRPr lang="en-US" sz="1200" dirty="0"/>
          </a:p>
        </p:txBody>
      </p:sp>
      <p:sp>
        <p:nvSpPr>
          <p:cNvPr id="18" name="Shape 16"/>
          <p:cNvSpPr/>
          <p:nvPr/>
        </p:nvSpPr>
        <p:spPr>
          <a:xfrm>
            <a:off x="474980" y="3823970"/>
            <a:ext cx="50800" cy="50800"/>
          </a:xfrm>
          <a:prstGeom prst="roundRect">
            <a:avLst>
              <a:gd name="adj" fmla="val 25000"/>
            </a:avLst>
          </a:prstGeom>
          <a:solidFill>
            <a:srgbClr val="5B9DFF"/>
          </a:solidFill>
          <a:ln/>
        </p:spPr>
      </p:sp>
      <p:sp>
        <p:nvSpPr>
          <p:cNvPr id="19" name="Text 17"/>
          <p:cNvSpPr/>
          <p:nvPr/>
        </p:nvSpPr>
        <p:spPr>
          <a:xfrm>
            <a:off x="601980" y="3741420"/>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Sleep Duration</a:t>
            </a:r>
            <a:endParaRPr lang="en-US" sz="1200" dirty="0"/>
          </a:p>
        </p:txBody>
      </p:sp>
      <p:sp>
        <p:nvSpPr>
          <p:cNvPr id="20" name="Shape 18"/>
          <p:cNvSpPr/>
          <p:nvPr/>
        </p:nvSpPr>
        <p:spPr>
          <a:xfrm>
            <a:off x="474980" y="4075430"/>
            <a:ext cx="50800" cy="50800"/>
          </a:xfrm>
          <a:prstGeom prst="roundRect">
            <a:avLst>
              <a:gd name="adj" fmla="val 25000"/>
            </a:avLst>
          </a:prstGeom>
          <a:solidFill>
            <a:srgbClr val="5B9DFF"/>
          </a:solidFill>
          <a:ln/>
        </p:spPr>
      </p:sp>
      <p:sp>
        <p:nvSpPr>
          <p:cNvPr id="21" name="Text 19"/>
          <p:cNvSpPr/>
          <p:nvPr/>
        </p:nvSpPr>
        <p:spPr>
          <a:xfrm>
            <a:off x="601980" y="3992880"/>
            <a:ext cx="14630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Activity/Steps</a:t>
            </a:r>
            <a:endParaRPr lang="en-US" sz="1200" dirty="0"/>
          </a:p>
        </p:txBody>
      </p:sp>
      <p:sp>
        <p:nvSpPr>
          <p:cNvPr id="22" name="Shape 20"/>
          <p:cNvSpPr/>
          <p:nvPr/>
        </p:nvSpPr>
        <p:spPr>
          <a:xfrm>
            <a:off x="474980" y="4326891"/>
            <a:ext cx="50800" cy="50800"/>
          </a:xfrm>
          <a:prstGeom prst="roundRect">
            <a:avLst>
              <a:gd name="adj" fmla="val 25000"/>
            </a:avLst>
          </a:prstGeom>
          <a:solidFill>
            <a:srgbClr val="5B9DFF"/>
          </a:solidFill>
          <a:ln/>
        </p:spPr>
      </p:sp>
      <p:sp>
        <p:nvSpPr>
          <p:cNvPr id="23" name="Text 21"/>
          <p:cNvSpPr/>
          <p:nvPr/>
        </p:nvSpPr>
        <p:spPr>
          <a:xfrm>
            <a:off x="601980" y="4244341"/>
            <a:ext cx="14630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Meal/Carbohydrate Intake</a:t>
            </a:r>
            <a:endParaRPr lang="en-US" sz="1200" dirty="0"/>
          </a:p>
        </p:txBody>
      </p:sp>
      <p:sp>
        <p:nvSpPr>
          <p:cNvPr id="24" name="Shape 22"/>
          <p:cNvSpPr/>
          <p:nvPr/>
        </p:nvSpPr>
        <p:spPr>
          <a:xfrm>
            <a:off x="474980" y="4791711"/>
            <a:ext cx="50800" cy="50800"/>
          </a:xfrm>
          <a:prstGeom prst="roundRect">
            <a:avLst>
              <a:gd name="adj" fmla="val 25000"/>
            </a:avLst>
          </a:prstGeom>
          <a:solidFill>
            <a:srgbClr val="5B9DFF"/>
          </a:solidFill>
          <a:ln/>
        </p:spPr>
      </p:sp>
      <p:sp>
        <p:nvSpPr>
          <p:cNvPr id="25" name="Text 23"/>
          <p:cNvSpPr/>
          <p:nvPr/>
        </p:nvSpPr>
        <p:spPr>
          <a:xfrm>
            <a:off x="601980" y="4709161"/>
            <a:ext cx="14630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Static Profile (Age, BMI, HbA1c)</a:t>
            </a:r>
            <a:endParaRPr lang="en-US" sz="1200" dirty="0"/>
          </a:p>
        </p:txBody>
      </p:sp>
      <p:pic>
        <p:nvPicPr>
          <p:cNvPr id="26" name="Image 0" descr="Decorative glucose and heart-rate traces"/>
          <p:cNvPicPr>
            <a:picLocks noChangeAspect="1"/>
          </p:cNvPicPr>
          <p:nvPr/>
        </p:nvPicPr>
        <p:blipFill>
          <a:blip r:embed="rId3"/>
          <a:srcRect/>
          <a:stretch/>
        </p:blipFill>
        <p:spPr>
          <a:xfrm>
            <a:off x="474980" y="5989321"/>
            <a:ext cx="1549400" cy="533400"/>
          </a:xfrm>
          <a:prstGeom prst="rect">
            <a:avLst/>
          </a:prstGeom>
        </p:spPr>
      </p:pic>
      <p:sp>
        <p:nvSpPr>
          <p:cNvPr id="27" name="Text 24"/>
          <p:cNvSpPr/>
          <p:nvPr/>
        </p:nvSpPr>
        <p:spPr>
          <a:xfrm>
            <a:off x="2108200" y="3512820"/>
            <a:ext cx="685800" cy="4064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2DD4BF"/>
                </a:solidFill>
                <a:latin typeface="IBM Plex Sans" pitchFamily="34" charset="0"/>
                <a:ea typeface="IBM Plex Sans" pitchFamily="34" charset="-122"/>
                <a:cs typeface="IBM Plex Sans" pitchFamily="34" charset="-120"/>
              </a:rPr>
              <a:t>raw signals</a:t>
            </a:r>
            <a:endParaRPr lang="en-US" sz="1200" dirty="0"/>
          </a:p>
        </p:txBody>
      </p:sp>
      <p:pic>
        <p:nvPicPr>
          <p:cNvPr id="28" name="Image 1" descr="Arrow from layer 1 to layer 2"/>
          <p:cNvPicPr>
            <a:picLocks noChangeAspect="1"/>
          </p:cNvPicPr>
          <p:nvPr/>
        </p:nvPicPr>
        <p:blipFill>
          <a:blip r:embed="rId4"/>
          <a:srcRect/>
          <a:stretch/>
        </p:blipFill>
        <p:spPr>
          <a:xfrm>
            <a:off x="2159000" y="3931920"/>
            <a:ext cx="584200" cy="177800"/>
          </a:xfrm>
          <a:prstGeom prst="rect">
            <a:avLst/>
          </a:prstGeom>
        </p:spPr>
      </p:pic>
      <p:sp>
        <p:nvSpPr>
          <p:cNvPr id="29" name="Shape 25"/>
          <p:cNvSpPr/>
          <p:nvPr/>
        </p:nvSpPr>
        <p:spPr>
          <a:xfrm>
            <a:off x="2768600" y="1745616"/>
            <a:ext cx="2222500" cy="0"/>
          </a:xfrm>
          <a:prstGeom prst="line">
            <a:avLst/>
          </a:prstGeom>
          <a:noFill/>
          <a:ln w="19050">
            <a:solidFill>
              <a:srgbClr val="2DD4BF"/>
            </a:solidFill>
            <a:prstDash val="solid"/>
          </a:ln>
        </p:spPr>
      </p:sp>
      <p:sp>
        <p:nvSpPr>
          <p:cNvPr id="30" name="Text 26"/>
          <p:cNvSpPr/>
          <p:nvPr/>
        </p:nvSpPr>
        <p:spPr>
          <a:xfrm>
            <a:off x="2768600" y="993141"/>
            <a:ext cx="228917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JetBrains Mono" pitchFamily="49" charset="0"/>
                <a:ea typeface="JetBrains Mono" pitchFamily="49" charset="-122"/>
                <a:cs typeface="JetBrains Mono" pitchFamily="49" charset="-120"/>
              </a:rPr>
              <a:t>LAYER 2</a:t>
            </a:r>
            <a:endParaRPr lang="en-US" sz="1200" dirty="0"/>
          </a:p>
        </p:txBody>
      </p:sp>
      <p:sp>
        <p:nvSpPr>
          <p:cNvPr id="31" name="Text 27"/>
          <p:cNvSpPr/>
          <p:nvPr/>
        </p:nvSpPr>
        <p:spPr>
          <a:xfrm>
            <a:off x="2768600" y="1219200"/>
            <a:ext cx="2289175" cy="4343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Feature Engineering &amp; Safety Gate</a:t>
            </a:r>
            <a:endParaRPr lang="en-US" sz="1400" dirty="0"/>
          </a:p>
        </p:txBody>
      </p:sp>
      <p:sp>
        <p:nvSpPr>
          <p:cNvPr id="32" name="Shape 28"/>
          <p:cNvSpPr/>
          <p:nvPr/>
        </p:nvSpPr>
        <p:spPr>
          <a:xfrm>
            <a:off x="2771775" y="1847216"/>
            <a:ext cx="2216150" cy="2335530"/>
          </a:xfrm>
          <a:prstGeom prst="roundRect">
            <a:avLst>
              <a:gd name="adj" fmla="val 4441"/>
            </a:avLst>
          </a:prstGeom>
          <a:gradFill rotWithShape="1">
            <a:gsLst>
              <a:gs pos="0">
                <a:srgbClr val="2DD4BF">
                  <a:alpha val="12000"/>
                </a:srgbClr>
              </a:gs>
              <a:gs pos="55000">
                <a:srgbClr val="111923"/>
              </a:gs>
            </a:gsLst>
            <a:lin ang="4200000" scaled="0"/>
          </a:gradFill>
          <a:ln w="6350">
            <a:solidFill>
              <a:srgbClr val="2DD4BF">
                <a:alpha val="60000"/>
              </a:srgbClr>
            </a:solidFill>
            <a:prstDash val="solid"/>
          </a:ln>
          <a:effectLst>
            <a:outerShdw blurRad="177800" dir="60000" algn="bl" rotWithShape="0">
              <a:srgbClr val="2DD4BF">
                <a:alpha val="20000"/>
              </a:srgbClr>
            </a:outerShdw>
          </a:effectLst>
        </p:spPr>
      </p:sp>
      <p:sp>
        <p:nvSpPr>
          <p:cNvPr id="33" name="Text 29"/>
          <p:cNvSpPr/>
          <p:nvPr/>
        </p:nvSpPr>
        <p:spPr>
          <a:xfrm>
            <a:off x="2887980" y="1950720"/>
            <a:ext cx="2043252" cy="4343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Past-Only Temporal Lag Vectors</a:t>
            </a:r>
            <a:endParaRPr lang="en-US" sz="1400" dirty="0"/>
          </a:p>
        </p:txBody>
      </p:sp>
      <p:sp>
        <p:nvSpPr>
          <p:cNvPr id="34" name="Shape 30"/>
          <p:cNvSpPr/>
          <p:nvPr/>
        </p:nvSpPr>
        <p:spPr>
          <a:xfrm>
            <a:off x="2887980" y="2493011"/>
            <a:ext cx="50800" cy="50800"/>
          </a:xfrm>
          <a:prstGeom prst="roundRect">
            <a:avLst>
              <a:gd name="adj" fmla="val 25000"/>
            </a:avLst>
          </a:prstGeom>
          <a:solidFill>
            <a:srgbClr val="2DD4BF"/>
          </a:solidFill>
          <a:ln/>
        </p:spPr>
      </p:sp>
      <p:sp>
        <p:nvSpPr>
          <p:cNvPr id="35" name="Text 31"/>
          <p:cNvSpPr/>
          <p:nvPr/>
        </p:nvSpPr>
        <p:spPr>
          <a:xfrm>
            <a:off x="3014980" y="2410461"/>
            <a:ext cx="19124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Rolling windows of glucose, slope, HR, meals</a:t>
            </a:r>
            <a:endParaRPr lang="en-US" sz="1200" dirty="0"/>
          </a:p>
        </p:txBody>
      </p:sp>
      <p:sp>
        <p:nvSpPr>
          <p:cNvPr id="36" name="Shape 32"/>
          <p:cNvSpPr/>
          <p:nvPr/>
        </p:nvSpPr>
        <p:spPr>
          <a:xfrm>
            <a:off x="2887980" y="2957830"/>
            <a:ext cx="50800" cy="50800"/>
          </a:xfrm>
          <a:prstGeom prst="roundRect">
            <a:avLst>
              <a:gd name="adj" fmla="val 25000"/>
            </a:avLst>
          </a:prstGeom>
          <a:solidFill>
            <a:srgbClr val="2DD4BF"/>
          </a:solidFill>
          <a:ln/>
        </p:spPr>
      </p:sp>
      <p:sp>
        <p:nvSpPr>
          <p:cNvPr id="37" name="Text 33"/>
          <p:cNvSpPr/>
          <p:nvPr/>
        </p:nvSpPr>
        <p:spPr>
          <a:xfrm>
            <a:off x="3014980" y="2875280"/>
            <a:ext cx="19124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Strict causal boundary: </a:t>
            </a:r>
            <a:r>
              <a:rPr lang="en-US" sz="1200" b="1" dirty="0">
                <a:solidFill>
                  <a:srgbClr val="F1F5F9"/>
                </a:solidFill>
                <a:latin typeface="IBM Plex Sans" pitchFamily="34" charset="0"/>
                <a:ea typeface="IBM Plex Sans" pitchFamily="34" charset="-122"/>
                <a:cs typeface="IBM Plex Sans" pitchFamily="34" charset="-120"/>
              </a:rPr>
              <a:t>NO future data access</a:t>
            </a:r>
            <a:endParaRPr lang="en-US" sz="1200" dirty="0"/>
          </a:p>
        </p:txBody>
      </p:sp>
      <p:sp>
        <p:nvSpPr>
          <p:cNvPr id="38" name="Shape 34"/>
          <p:cNvSpPr/>
          <p:nvPr/>
        </p:nvSpPr>
        <p:spPr>
          <a:xfrm>
            <a:off x="2771775" y="4290695"/>
            <a:ext cx="2216150" cy="2335530"/>
          </a:xfrm>
          <a:prstGeom prst="roundRect">
            <a:avLst>
              <a:gd name="adj" fmla="val 4441"/>
            </a:avLst>
          </a:prstGeom>
          <a:gradFill rotWithShape="1">
            <a:gsLst>
              <a:gs pos="0">
                <a:srgbClr val="2DD4BF">
                  <a:alpha val="12000"/>
                </a:srgbClr>
              </a:gs>
              <a:gs pos="55000">
                <a:srgbClr val="111923"/>
              </a:gs>
            </a:gsLst>
            <a:lin ang="4200000" scaled="0"/>
          </a:gradFill>
          <a:ln w="6350">
            <a:solidFill>
              <a:srgbClr val="2DD4BF">
                <a:alpha val="60000"/>
              </a:srgbClr>
            </a:solidFill>
            <a:prstDash val="solid"/>
          </a:ln>
          <a:effectLst>
            <a:outerShdw blurRad="177800" dir="60000" algn="bl" rotWithShape="0">
              <a:srgbClr val="2DD4BF">
                <a:alpha val="20000"/>
              </a:srgbClr>
            </a:outerShdw>
          </a:effectLst>
        </p:spPr>
      </p:sp>
      <p:sp>
        <p:nvSpPr>
          <p:cNvPr id="39" name="Text 35"/>
          <p:cNvSpPr/>
          <p:nvPr/>
        </p:nvSpPr>
        <p:spPr>
          <a:xfrm>
            <a:off x="2887980" y="4394200"/>
            <a:ext cx="2043252" cy="4343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Sensor Freshness Checker</a:t>
            </a:r>
            <a:endParaRPr lang="en-US" sz="1400" dirty="0"/>
          </a:p>
        </p:txBody>
      </p:sp>
      <p:sp>
        <p:nvSpPr>
          <p:cNvPr id="40" name="Shape 36"/>
          <p:cNvSpPr/>
          <p:nvPr/>
        </p:nvSpPr>
        <p:spPr>
          <a:xfrm>
            <a:off x="2887980" y="4936491"/>
            <a:ext cx="50800" cy="50800"/>
          </a:xfrm>
          <a:prstGeom prst="roundRect">
            <a:avLst>
              <a:gd name="adj" fmla="val 25000"/>
            </a:avLst>
          </a:prstGeom>
          <a:solidFill>
            <a:srgbClr val="2DD4BF"/>
          </a:solidFill>
          <a:ln/>
        </p:spPr>
      </p:sp>
      <p:sp>
        <p:nvSpPr>
          <p:cNvPr id="41" name="Text 37"/>
          <p:cNvSpPr/>
          <p:nvPr/>
        </p:nvSpPr>
        <p:spPr>
          <a:xfrm>
            <a:off x="3014980" y="4853941"/>
            <a:ext cx="19124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CGM age check (</a:t>
            </a:r>
            <a:r>
              <a:rPr lang="en-US" sz="1200" b="1" dirty="0">
                <a:solidFill>
                  <a:srgbClr val="F1F5F9"/>
                </a:solidFill>
                <a:latin typeface="IBM Plex Sans" pitchFamily="34" charset="0"/>
                <a:ea typeface="IBM Plex Sans" pitchFamily="34" charset="-122"/>
                <a:cs typeface="IBM Plex Sans" pitchFamily="34" charset="-120"/>
              </a:rPr>
              <a:t>&gt;15 min = STALE</a:t>
            </a:r>
            <a:r>
              <a:rPr lang="en-US" sz="1200" dirty="0">
                <a:solidFill>
                  <a:srgbClr val="C3CEDA"/>
                </a:solidFill>
                <a:latin typeface="IBM Plex Sans" pitchFamily="34" charset="0"/>
                <a:ea typeface="IBM Plex Sans" pitchFamily="34" charset="-122"/>
                <a:cs typeface="IBM Plex Sans" pitchFamily="34" charset="-120"/>
              </a:rPr>
              <a:t>)</a:t>
            </a:r>
            <a:endParaRPr lang="en-US" sz="1200" dirty="0"/>
          </a:p>
        </p:txBody>
      </p:sp>
      <p:sp>
        <p:nvSpPr>
          <p:cNvPr id="42" name="Shape 38"/>
          <p:cNvSpPr/>
          <p:nvPr/>
        </p:nvSpPr>
        <p:spPr>
          <a:xfrm>
            <a:off x="2887980" y="5401311"/>
            <a:ext cx="50800" cy="50800"/>
          </a:xfrm>
          <a:prstGeom prst="roundRect">
            <a:avLst>
              <a:gd name="adj" fmla="val 25000"/>
            </a:avLst>
          </a:prstGeom>
          <a:solidFill>
            <a:srgbClr val="2DD4BF"/>
          </a:solidFill>
          <a:ln/>
        </p:spPr>
      </p:sp>
      <p:sp>
        <p:nvSpPr>
          <p:cNvPr id="43" name="Text 39"/>
          <p:cNvSpPr/>
          <p:nvPr/>
        </p:nvSpPr>
        <p:spPr>
          <a:xfrm>
            <a:off x="3014980" y="5318761"/>
            <a:ext cx="19124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Missing data fraction calculator</a:t>
            </a:r>
            <a:endParaRPr lang="en-US" sz="1200" dirty="0"/>
          </a:p>
        </p:txBody>
      </p:sp>
      <p:sp>
        <p:nvSpPr>
          <p:cNvPr id="44" name="Shape 40"/>
          <p:cNvSpPr/>
          <p:nvPr/>
        </p:nvSpPr>
        <p:spPr>
          <a:xfrm>
            <a:off x="2887980" y="5866132"/>
            <a:ext cx="50800" cy="50800"/>
          </a:xfrm>
          <a:prstGeom prst="roundRect">
            <a:avLst>
              <a:gd name="adj" fmla="val 25000"/>
            </a:avLst>
          </a:prstGeom>
          <a:solidFill>
            <a:srgbClr val="2DD4BF"/>
          </a:solidFill>
          <a:ln/>
        </p:spPr>
      </p:sp>
      <p:sp>
        <p:nvSpPr>
          <p:cNvPr id="45" name="Text 41"/>
          <p:cNvSpPr/>
          <p:nvPr/>
        </p:nvSpPr>
        <p:spPr>
          <a:xfrm>
            <a:off x="3014980" y="5783582"/>
            <a:ext cx="19124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Decision: </a:t>
            </a:r>
            <a:r>
              <a:rPr lang="en-US" sz="1200" b="1" dirty="0">
                <a:solidFill>
                  <a:srgbClr val="4ADE80"/>
                </a:solidFill>
                <a:latin typeface="IBM Plex Sans" pitchFamily="34" charset="0"/>
                <a:ea typeface="IBM Plex Sans" pitchFamily="34" charset="-122"/>
                <a:cs typeface="IBM Plex Sans" pitchFamily="34" charset="-120"/>
              </a:rPr>
              <a:t>PREDICT</a:t>
            </a:r>
            <a:r>
              <a:rPr lang="en-US" sz="1200" dirty="0">
                <a:solidFill>
                  <a:srgbClr val="C3CEDA"/>
                </a:solidFill>
                <a:latin typeface="IBM Plex Sans" pitchFamily="34" charset="0"/>
                <a:ea typeface="IBM Plex Sans" pitchFamily="34" charset="-122"/>
                <a:cs typeface="IBM Plex Sans" pitchFamily="34" charset="-120"/>
              </a:rPr>
              <a:t> or </a:t>
            </a:r>
            <a:r>
              <a:rPr lang="en-US" sz="1200" b="1" dirty="0">
                <a:solidFill>
                  <a:srgbClr val="FF5C5C"/>
                </a:solidFill>
                <a:latin typeface="IBM Plex Sans" pitchFamily="34" charset="0"/>
                <a:ea typeface="IBM Plex Sans" pitchFamily="34" charset="-122"/>
                <a:cs typeface="IBM Plex Sans" pitchFamily="34" charset="-120"/>
              </a:rPr>
              <a:t>ABSTAIN</a:t>
            </a:r>
            <a:endParaRPr lang="en-US" sz="1200" dirty="0"/>
          </a:p>
        </p:txBody>
      </p:sp>
      <p:sp>
        <p:nvSpPr>
          <p:cNvPr id="46" name="Text 42"/>
          <p:cNvSpPr/>
          <p:nvPr/>
        </p:nvSpPr>
        <p:spPr>
          <a:xfrm>
            <a:off x="4965700" y="3512820"/>
            <a:ext cx="762000" cy="4064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4ADE80"/>
                </a:solidFill>
                <a:latin typeface="IBM Plex Sans" pitchFamily="34" charset="0"/>
                <a:ea typeface="IBM Plex Sans" pitchFamily="34" charset="-122"/>
                <a:cs typeface="IBM Plex Sans" pitchFamily="34" charset="-120"/>
              </a:rPr>
              <a:t>temporal features</a:t>
            </a:r>
            <a:endParaRPr lang="en-US" sz="1200" dirty="0"/>
          </a:p>
        </p:txBody>
      </p:sp>
      <p:pic>
        <p:nvPicPr>
          <p:cNvPr id="47" name="Image 2" descr="Arrow from layer 2 to layer 3"/>
          <p:cNvPicPr>
            <a:picLocks noChangeAspect="1"/>
          </p:cNvPicPr>
          <p:nvPr/>
        </p:nvPicPr>
        <p:blipFill>
          <a:blip r:embed="rId5"/>
          <a:srcRect/>
          <a:stretch/>
        </p:blipFill>
        <p:spPr>
          <a:xfrm>
            <a:off x="5016500" y="3931920"/>
            <a:ext cx="660400" cy="177800"/>
          </a:xfrm>
          <a:prstGeom prst="rect">
            <a:avLst/>
          </a:prstGeom>
        </p:spPr>
      </p:pic>
      <p:sp>
        <p:nvSpPr>
          <p:cNvPr id="48" name="Shape 43"/>
          <p:cNvSpPr/>
          <p:nvPr/>
        </p:nvSpPr>
        <p:spPr>
          <a:xfrm>
            <a:off x="5702300" y="1745616"/>
            <a:ext cx="2730500" cy="0"/>
          </a:xfrm>
          <a:prstGeom prst="line">
            <a:avLst/>
          </a:prstGeom>
          <a:noFill/>
          <a:ln w="19050">
            <a:solidFill>
              <a:srgbClr val="4ADE80"/>
            </a:solidFill>
            <a:prstDash val="solid"/>
          </a:ln>
        </p:spPr>
      </p:sp>
      <p:sp>
        <p:nvSpPr>
          <p:cNvPr id="49" name="Text 44"/>
          <p:cNvSpPr/>
          <p:nvPr/>
        </p:nvSpPr>
        <p:spPr>
          <a:xfrm>
            <a:off x="5702300" y="993141"/>
            <a:ext cx="281241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DE80"/>
                </a:solidFill>
                <a:latin typeface="JetBrains Mono" pitchFamily="49" charset="0"/>
                <a:ea typeface="JetBrains Mono" pitchFamily="49" charset="-122"/>
                <a:cs typeface="JetBrains Mono" pitchFamily="49" charset="-120"/>
              </a:rPr>
              <a:t>LAYER 3 · PARALLEL</a:t>
            </a:r>
            <a:endParaRPr lang="en-US" sz="1200" dirty="0"/>
          </a:p>
        </p:txBody>
      </p:sp>
      <p:sp>
        <p:nvSpPr>
          <p:cNvPr id="50" name="Text 45"/>
          <p:cNvSpPr/>
          <p:nvPr/>
        </p:nvSpPr>
        <p:spPr>
          <a:xfrm>
            <a:off x="5702300" y="1219200"/>
            <a:ext cx="2812415" cy="22987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ML Engine Core</a:t>
            </a:r>
            <a:endParaRPr lang="en-US" sz="1400" dirty="0"/>
          </a:p>
        </p:txBody>
      </p:sp>
      <p:sp>
        <p:nvSpPr>
          <p:cNvPr id="51" name="Shape 46"/>
          <p:cNvSpPr/>
          <p:nvPr/>
        </p:nvSpPr>
        <p:spPr>
          <a:xfrm>
            <a:off x="5705475" y="1847216"/>
            <a:ext cx="2724150" cy="1529477"/>
          </a:xfrm>
          <a:prstGeom prst="roundRect">
            <a:avLst>
              <a:gd name="adj" fmla="val 6435"/>
            </a:avLst>
          </a:prstGeom>
          <a:gradFill rotWithShape="1">
            <a:gsLst>
              <a:gs pos="0">
                <a:srgbClr val="4ADE80">
                  <a:alpha val="12000"/>
                </a:srgbClr>
              </a:gs>
              <a:gs pos="55000">
                <a:srgbClr val="111923"/>
              </a:gs>
            </a:gsLst>
            <a:lin ang="4200000" scaled="0"/>
          </a:gradFill>
          <a:ln w="6350">
            <a:solidFill>
              <a:srgbClr val="4ADE80">
                <a:alpha val="60000"/>
              </a:srgbClr>
            </a:solidFill>
            <a:prstDash val="solid"/>
          </a:ln>
          <a:effectLst>
            <a:outerShdw blurRad="177800" dir="60000" algn="bl" rotWithShape="0">
              <a:srgbClr val="4ADE80">
                <a:alpha val="20000"/>
              </a:srgbClr>
            </a:outerShdw>
          </a:effectLst>
        </p:spPr>
      </p:sp>
      <p:sp>
        <p:nvSpPr>
          <p:cNvPr id="52" name="Text 47"/>
          <p:cNvSpPr/>
          <p:nvPr/>
        </p:nvSpPr>
        <p:spPr>
          <a:xfrm>
            <a:off x="5821680" y="1950720"/>
            <a:ext cx="2566492" cy="22987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Forecast Engine</a:t>
            </a:r>
            <a:endParaRPr lang="en-US" sz="1400" dirty="0"/>
          </a:p>
        </p:txBody>
      </p:sp>
      <p:sp>
        <p:nvSpPr>
          <p:cNvPr id="53" name="Shape 48"/>
          <p:cNvSpPr/>
          <p:nvPr/>
        </p:nvSpPr>
        <p:spPr>
          <a:xfrm>
            <a:off x="5821680" y="2288541"/>
            <a:ext cx="50800" cy="50800"/>
          </a:xfrm>
          <a:prstGeom prst="roundRect">
            <a:avLst>
              <a:gd name="adj" fmla="val 25000"/>
            </a:avLst>
          </a:prstGeom>
          <a:solidFill>
            <a:srgbClr val="4ADE80"/>
          </a:solidFill>
          <a:ln/>
        </p:spPr>
      </p:sp>
      <p:sp>
        <p:nvSpPr>
          <p:cNvPr id="54" name="Text 49"/>
          <p:cNvSpPr/>
          <p:nvPr/>
        </p:nvSpPr>
        <p:spPr>
          <a:xfrm>
            <a:off x="5948680" y="2205991"/>
            <a:ext cx="243568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HistGradientBoostingRegressor</a:t>
            </a:r>
            <a:endParaRPr lang="en-US" sz="1200" dirty="0"/>
          </a:p>
        </p:txBody>
      </p:sp>
      <p:sp>
        <p:nvSpPr>
          <p:cNvPr id="55" name="Shape 50"/>
          <p:cNvSpPr/>
          <p:nvPr/>
        </p:nvSpPr>
        <p:spPr>
          <a:xfrm>
            <a:off x="5821680" y="2540000"/>
            <a:ext cx="50800" cy="50800"/>
          </a:xfrm>
          <a:prstGeom prst="roundRect">
            <a:avLst>
              <a:gd name="adj" fmla="val 25000"/>
            </a:avLst>
          </a:prstGeom>
          <a:solidFill>
            <a:srgbClr val="4ADE80"/>
          </a:solidFill>
          <a:ln/>
        </p:spPr>
      </p:sp>
      <p:sp>
        <p:nvSpPr>
          <p:cNvPr id="56" name="Text 51"/>
          <p:cNvSpPr/>
          <p:nvPr/>
        </p:nvSpPr>
        <p:spPr>
          <a:xfrm>
            <a:off x="5948680" y="2457450"/>
            <a:ext cx="243568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30m / 60m / 120m</a:t>
            </a:r>
            <a:r>
              <a:rPr lang="en-US" sz="1200" dirty="0">
                <a:solidFill>
                  <a:srgbClr val="C3CEDA"/>
                </a:solidFill>
                <a:latin typeface="IBM Plex Sans" pitchFamily="34" charset="0"/>
                <a:ea typeface="IBM Plex Sans" pitchFamily="34" charset="-122"/>
                <a:cs typeface="IBM Plex Sans" pitchFamily="34" charset="-120"/>
              </a:rPr>
              <a:t> heads</a:t>
            </a:r>
            <a:endParaRPr lang="en-US" sz="1200" dirty="0"/>
          </a:p>
        </p:txBody>
      </p:sp>
      <p:sp>
        <p:nvSpPr>
          <p:cNvPr id="57" name="Shape 52"/>
          <p:cNvSpPr/>
          <p:nvPr/>
        </p:nvSpPr>
        <p:spPr>
          <a:xfrm>
            <a:off x="5821680" y="2791461"/>
            <a:ext cx="50800" cy="50800"/>
          </a:xfrm>
          <a:prstGeom prst="roundRect">
            <a:avLst>
              <a:gd name="adj" fmla="val 25000"/>
            </a:avLst>
          </a:prstGeom>
          <a:solidFill>
            <a:srgbClr val="4ADE80"/>
          </a:solidFill>
          <a:ln/>
        </p:spPr>
      </p:sp>
      <p:sp>
        <p:nvSpPr>
          <p:cNvPr id="58" name="Text 53"/>
          <p:cNvSpPr/>
          <p:nvPr/>
        </p:nvSpPr>
        <p:spPr>
          <a:xfrm>
            <a:off x="5948680" y="2708911"/>
            <a:ext cx="243568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Causal-in-time adaptive residual personalization</a:t>
            </a:r>
            <a:endParaRPr lang="en-US" sz="1200" dirty="0"/>
          </a:p>
        </p:txBody>
      </p:sp>
      <p:sp>
        <p:nvSpPr>
          <p:cNvPr id="59" name="Shape 54"/>
          <p:cNvSpPr/>
          <p:nvPr/>
        </p:nvSpPr>
        <p:spPr>
          <a:xfrm>
            <a:off x="5705475" y="3471942"/>
            <a:ext cx="2724150" cy="1529556"/>
          </a:xfrm>
          <a:prstGeom prst="roundRect">
            <a:avLst>
              <a:gd name="adj" fmla="val 6435"/>
            </a:avLst>
          </a:prstGeom>
          <a:gradFill rotWithShape="1">
            <a:gsLst>
              <a:gs pos="0">
                <a:srgbClr val="4ADE80">
                  <a:alpha val="12000"/>
                </a:srgbClr>
              </a:gs>
              <a:gs pos="55000">
                <a:srgbClr val="111923"/>
              </a:gs>
            </a:gsLst>
            <a:lin ang="4200000" scaled="0"/>
          </a:gradFill>
          <a:ln w="6350">
            <a:solidFill>
              <a:srgbClr val="4ADE80">
                <a:alpha val="60000"/>
              </a:srgbClr>
            </a:solidFill>
            <a:prstDash val="solid"/>
          </a:ln>
          <a:effectLst>
            <a:outerShdw blurRad="177800" dir="60000" algn="bl" rotWithShape="0">
              <a:srgbClr val="4ADE80">
                <a:alpha val="20000"/>
              </a:srgbClr>
            </a:outerShdw>
          </a:effectLst>
        </p:spPr>
      </p:sp>
      <p:sp>
        <p:nvSpPr>
          <p:cNvPr id="60" name="Text 55"/>
          <p:cNvSpPr/>
          <p:nvPr/>
        </p:nvSpPr>
        <p:spPr>
          <a:xfrm>
            <a:off x="5821680" y="3575447"/>
            <a:ext cx="2566492" cy="22987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Uncertainty Engine</a:t>
            </a:r>
            <a:endParaRPr lang="en-US" sz="1400" dirty="0"/>
          </a:p>
        </p:txBody>
      </p:sp>
      <p:sp>
        <p:nvSpPr>
          <p:cNvPr id="61" name="Shape 56"/>
          <p:cNvSpPr/>
          <p:nvPr/>
        </p:nvSpPr>
        <p:spPr>
          <a:xfrm>
            <a:off x="5821680" y="3913267"/>
            <a:ext cx="50800" cy="50800"/>
          </a:xfrm>
          <a:prstGeom prst="roundRect">
            <a:avLst>
              <a:gd name="adj" fmla="val 25000"/>
            </a:avLst>
          </a:prstGeom>
          <a:solidFill>
            <a:srgbClr val="4ADE80"/>
          </a:solidFill>
          <a:ln/>
        </p:spPr>
      </p:sp>
      <p:sp>
        <p:nvSpPr>
          <p:cNvPr id="62" name="Text 57"/>
          <p:cNvSpPr/>
          <p:nvPr/>
        </p:nvSpPr>
        <p:spPr>
          <a:xfrm>
            <a:off x="5948680" y="3830717"/>
            <a:ext cx="243568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Split-Conformal</a:t>
            </a:r>
            <a:r>
              <a:rPr lang="en-US" sz="1200" dirty="0">
                <a:solidFill>
                  <a:srgbClr val="C3CEDA"/>
                </a:solidFill>
                <a:latin typeface="IBM Plex Sans" pitchFamily="34" charset="0"/>
                <a:ea typeface="IBM Plex Sans" pitchFamily="34" charset="-122"/>
                <a:cs typeface="IBM Plex Sans" pitchFamily="34" charset="-120"/>
              </a:rPr>
              <a:t> Prediction</a:t>
            </a:r>
            <a:endParaRPr lang="en-US" sz="1200" dirty="0"/>
          </a:p>
        </p:txBody>
      </p:sp>
      <p:sp>
        <p:nvSpPr>
          <p:cNvPr id="63" name="Shape 58"/>
          <p:cNvSpPr/>
          <p:nvPr/>
        </p:nvSpPr>
        <p:spPr>
          <a:xfrm>
            <a:off x="5821680" y="4164727"/>
            <a:ext cx="50800" cy="50800"/>
          </a:xfrm>
          <a:prstGeom prst="roundRect">
            <a:avLst>
              <a:gd name="adj" fmla="val 25000"/>
            </a:avLst>
          </a:prstGeom>
          <a:solidFill>
            <a:srgbClr val="4ADE80"/>
          </a:solidFill>
          <a:ln/>
        </p:spPr>
      </p:sp>
      <p:sp>
        <p:nvSpPr>
          <p:cNvPr id="64" name="Text 59"/>
          <p:cNvSpPr/>
          <p:nvPr/>
        </p:nvSpPr>
        <p:spPr>
          <a:xfrm>
            <a:off x="5948680" y="4082177"/>
            <a:ext cx="243568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90%</a:t>
            </a:r>
            <a:r>
              <a:rPr lang="en-US" sz="1200" dirty="0">
                <a:solidFill>
                  <a:srgbClr val="C3CEDA"/>
                </a:solidFill>
                <a:latin typeface="IBM Plex Sans" pitchFamily="34" charset="0"/>
                <a:ea typeface="IBM Plex Sans" pitchFamily="34" charset="-122"/>
                <a:cs typeface="IBM Plex Sans" pitchFamily="34" charset="-120"/>
              </a:rPr>
              <a:t> target coverage bands</a:t>
            </a:r>
            <a:endParaRPr lang="en-US" sz="1200" dirty="0"/>
          </a:p>
        </p:txBody>
      </p:sp>
      <p:sp>
        <p:nvSpPr>
          <p:cNvPr id="65" name="Shape 60"/>
          <p:cNvSpPr/>
          <p:nvPr/>
        </p:nvSpPr>
        <p:spPr>
          <a:xfrm>
            <a:off x="5821680" y="4416188"/>
            <a:ext cx="50800" cy="50800"/>
          </a:xfrm>
          <a:prstGeom prst="roundRect">
            <a:avLst>
              <a:gd name="adj" fmla="val 25000"/>
            </a:avLst>
          </a:prstGeom>
          <a:solidFill>
            <a:srgbClr val="4ADE80"/>
          </a:solidFill>
          <a:ln/>
        </p:spPr>
      </p:sp>
      <p:sp>
        <p:nvSpPr>
          <p:cNvPr id="66" name="Text 61"/>
          <p:cNvSpPr/>
          <p:nvPr/>
        </p:nvSpPr>
        <p:spPr>
          <a:xfrm>
            <a:off x="5948680" y="4333638"/>
            <a:ext cx="243568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Calibrated on separate patient cohort</a:t>
            </a:r>
            <a:endParaRPr lang="en-US" sz="1200" dirty="0"/>
          </a:p>
        </p:txBody>
      </p:sp>
      <p:sp>
        <p:nvSpPr>
          <p:cNvPr id="67" name="Shape 62"/>
          <p:cNvSpPr/>
          <p:nvPr/>
        </p:nvSpPr>
        <p:spPr>
          <a:xfrm>
            <a:off x="5705475" y="5096748"/>
            <a:ext cx="2724150" cy="1529477"/>
          </a:xfrm>
          <a:prstGeom prst="roundRect">
            <a:avLst>
              <a:gd name="adj" fmla="val 6435"/>
            </a:avLst>
          </a:prstGeom>
          <a:gradFill rotWithShape="1">
            <a:gsLst>
              <a:gs pos="0">
                <a:srgbClr val="4ADE80">
                  <a:alpha val="12000"/>
                </a:srgbClr>
              </a:gs>
              <a:gs pos="55000">
                <a:srgbClr val="111923"/>
              </a:gs>
            </a:gsLst>
            <a:lin ang="4200000" scaled="0"/>
          </a:gradFill>
          <a:ln w="6350">
            <a:solidFill>
              <a:srgbClr val="4ADE80">
                <a:alpha val="60000"/>
              </a:srgbClr>
            </a:solidFill>
            <a:prstDash val="solid"/>
          </a:ln>
          <a:effectLst>
            <a:outerShdw blurRad="177800" dir="60000" algn="bl" rotWithShape="0">
              <a:srgbClr val="4ADE80">
                <a:alpha val="20000"/>
              </a:srgbClr>
            </a:outerShdw>
          </a:effectLst>
        </p:spPr>
      </p:sp>
      <p:sp>
        <p:nvSpPr>
          <p:cNvPr id="68" name="Text 63"/>
          <p:cNvSpPr/>
          <p:nvPr/>
        </p:nvSpPr>
        <p:spPr>
          <a:xfrm>
            <a:off x="5821680" y="5200253"/>
            <a:ext cx="2566492" cy="218361"/>
          </a:xfrm>
          <a:prstGeom prst="rect">
            <a:avLst/>
          </a:prstGeom>
          <a:noFill/>
          <a:ln/>
        </p:spPr>
        <p:txBody>
          <a:bodyPr wrap="square" lIns="0" tIns="0" rIns="0" bIns="0" rtlCol="0" anchor="t">
            <a:normAutofit/>
          </a:bodyPr>
          <a:lstStyle/>
          <a:p>
            <a:pPr marL="0" indent="0" algn="l">
              <a:lnSpc>
                <a:spcPts val="1524"/>
              </a:lnSpc>
              <a:buNone/>
            </a:pPr>
            <a:r>
              <a:rPr lang="en-US" sz="1326" b="1" dirty="0">
                <a:solidFill>
                  <a:srgbClr val="F1F5F9"/>
                </a:solidFill>
                <a:latin typeface="IBM Plex Sans" pitchFamily="34" charset="0"/>
                <a:ea typeface="IBM Plex Sans" pitchFamily="34" charset="-122"/>
                <a:cs typeface="IBM Plex Sans" pitchFamily="34" charset="-120"/>
              </a:rPr>
              <a:t>Event Risk Engine</a:t>
            </a:r>
            <a:endParaRPr lang="en-US" sz="1326" dirty="0"/>
          </a:p>
        </p:txBody>
      </p:sp>
      <p:sp>
        <p:nvSpPr>
          <p:cNvPr id="69" name="Shape 64"/>
          <p:cNvSpPr/>
          <p:nvPr/>
        </p:nvSpPr>
        <p:spPr>
          <a:xfrm>
            <a:off x="5821680" y="5526565"/>
            <a:ext cx="50800" cy="50800"/>
          </a:xfrm>
          <a:prstGeom prst="roundRect">
            <a:avLst>
              <a:gd name="adj" fmla="val 25000"/>
            </a:avLst>
          </a:prstGeom>
          <a:solidFill>
            <a:srgbClr val="4ADE80"/>
          </a:solidFill>
          <a:ln/>
        </p:spPr>
      </p:sp>
      <p:sp>
        <p:nvSpPr>
          <p:cNvPr id="70" name="Text 65"/>
          <p:cNvSpPr/>
          <p:nvPr/>
        </p:nvSpPr>
        <p:spPr>
          <a:xfrm>
            <a:off x="5948680" y="5444015"/>
            <a:ext cx="24356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Logistic Fusion Classifier</a:t>
            </a:r>
            <a:endParaRPr lang="en-US" sz="1200" dirty="0"/>
          </a:p>
        </p:txBody>
      </p:sp>
      <p:sp>
        <p:nvSpPr>
          <p:cNvPr id="71" name="Shape 66"/>
          <p:cNvSpPr/>
          <p:nvPr/>
        </p:nvSpPr>
        <p:spPr>
          <a:xfrm>
            <a:off x="5821680" y="5765164"/>
            <a:ext cx="50800" cy="50800"/>
          </a:xfrm>
          <a:prstGeom prst="roundRect">
            <a:avLst>
              <a:gd name="adj" fmla="val 25000"/>
            </a:avLst>
          </a:prstGeom>
          <a:solidFill>
            <a:srgbClr val="4ADE80"/>
          </a:solidFill>
          <a:ln/>
        </p:spPr>
      </p:sp>
      <p:sp>
        <p:nvSpPr>
          <p:cNvPr id="72" name="Text 67"/>
          <p:cNvSpPr/>
          <p:nvPr/>
        </p:nvSpPr>
        <p:spPr>
          <a:xfrm>
            <a:off x="5948680" y="5682614"/>
            <a:ext cx="2435682"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Platt Sigmoid</a:t>
            </a:r>
            <a:r>
              <a:rPr lang="en-US" sz="1200" dirty="0">
                <a:solidFill>
                  <a:srgbClr val="C3CEDA"/>
                </a:solidFill>
                <a:latin typeface="IBM Plex Sans" pitchFamily="34" charset="0"/>
                <a:ea typeface="IBM Plex Sans" pitchFamily="34" charset="-122"/>
                <a:cs typeface="IBM Plex Sans" pitchFamily="34" charset="-120"/>
              </a:rPr>
              <a:t> Probability Calibration</a:t>
            </a:r>
            <a:endParaRPr lang="en-US" sz="1200" dirty="0"/>
          </a:p>
        </p:txBody>
      </p:sp>
      <p:sp>
        <p:nvSpPr>
          <p:cNvPr id="73" name="Shape 68"/>
          <p:cNvSpPr/>
          <p:nvPr/>
        </p:nvSpPr>
        <p:spPr>
          <a:xfrm>
            <a:off x="5821680" y="6204269"/>
            <a:ext cx="50800" cy="50800"/>
          </a:xfrm>
          <a:prstGeom prst="roundRect">
            <a:avLst>
              <a:gd name="adj" fmla="val 25000"/>
            </a:avLst>
          </a:prstGeom>
          <a:solidFill>
            <a:srgbClr val="4ADE80"/>
          </a:solidFill>
          <a:ln/>
        </p:spPr>
      </p:sp>
      <p:sp>
        <p:nvSpPr>
          <p:cNvPr id="74" name="Text 69"/>
          <p:cNvSpPr/>
          <p:nvPr/>
        </p:nvSpPr>
        <p:spPr>
          <a:xfrm>
            <a:off x="5948680" y="6121719"/>
            <a:ext cx="243568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Sustained </a:t>
            </a:r>
            <a:r>
              <a:rPr lang="en-US" sz="1200" b="1" dirty="0">
                <a:solidFill>
                  <a:srgbClr val="F1F5F9"/>
                </a:solidFill>
                <a:latin typeface="IBM Plex Sans" pitchFamily="34" charset="0"/>
                <a:ea typeface="IBM Plex Sans" pitchFamily="34" charset="-122"/>
                <a:cs typeface="IBM Plex Sans" pitchFamily="34" charset="-120"/>
              </a:rPr>
              <a:t>&gt;180 mg/dL</a:t>
            </a:r>
            <a:r>
              <a:rPr lang="en-US" sz="1200" dirty="0">
                <a:solidFill>
                  <a:srgbClr val="C3CEDA"/>
                </a:solidFill>
                <a:latin typeface="IBM Plex Sans" pitchFamily="34" charset="0"/>
                <a:ea typeface="IBM Plex Sans" pitchFamily="34" charset="-122"/>
                <a:cs typeface="IBM Plex Sans" pitchFamily="34" charset="-120"/>
              </a:rPr>
              <a:t> event detection</a:t>
            </a:r>
            <a:endParaRPr lang="en-US" sz="1200" dirty="0"/>
          </a:p>
        </p:txBody>
      </p:sp>
      <p:sp>
        <p:nvSpPr>
          <p:cNvPr id="75" name="Text 70"/>
          <p:cNvSpPr/>
          <p:nvPr/>
        </p:nvSpPr>
        <p:spPr>
          <a:xfrm>
            <a:off x="8407400" y="3512820"/>
            <a:ext cx="939800" cy="4064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A78BFA"/>
                </a:solidFill>
                <a:latin typeface="IBM Plex Sans" pitchFamily="34" charset="0"/>
                <a:ea typeface="IBM Plex Sans" pitchFamily="34" charset="-122"/>
                <a:cs typeface="IBM Plex Sans" pitchFamily="34" charset="-120"/>
              </a:rPr>
              <a:t>predictions + intervals</a:t>
            </a:r>
            <a:endParaRPr lang="en-US" sz="1200" dirty="0"/>
          </a:p>
        </p:txBody>
      </p:sp>
      <p:pic>
        <p:nvPicPr>
          <p:cNvPr id="76" name="Image 3" descr="Arrow from layer 3 to layer 4"/>
          <p:cNvPicPr>
            <a:picLocks noChangeAspect="1"/>
          </p:cNvPicPr>
          <p:nvPr/>
        </p:nvPicPr>
        <p:blipFill>
          <a:blip r:embed="rId6"/>
          <a:srcRect/>
          <a:stretch/>
        </p:blipFill>
        <p:spPr>
          <a:xfrm>
            <a:off x="8458200" y="3931920"/>
            <a:ext cx="838200" cy="177800"/>
          </a:xfrm>
          <a:prstGeom prst="rect">
            <a:avLst/>
          </a:prstGeom>
        </p:spPr>
      </p:pic>
      <p:sp>
        <p:nvSpPr>
          <p:cNvPr id="77" name="Shape 71"/>
          <p:cNvSpPr/>
          <p:nvPr/>
        </p:nvSpPr>
        <p:spPr>
          <a:xfrm>
            <a:off x="9321800" y="1745616"/>
            <a:ext cx="2514600" cy="0"/>
          </a:xfrm>
          <a:prstGeom prst="line">
            <a:avLst/>
          </a:prstGeom>
          <a:noFill/>
          <a:ln w="19050">
            <a:solidFill>
              <a:srgbClr val="A78BFA"/>
            </a:solidFill>
            <a:prstDash val="solid"/>
          </a:ln>
        </p:spPr>
      </p:sp>
      <p:sp>
        <p:nvSpPr>
          <p:cNvPr id="78" name="Text 72"/>
          <p:cNvSpPr/>
          <p:nvPr/>
        </p:nvSpPr>
        <p:spPr>
          <a:xfrm>
            <a:off x="9321800" y="993141"/>
            <a:ext cx="259003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78BFA"/>
                </a:solidFill>
                <a:latin typeface="JetBrains Mono" pitchFamily="49" charset="0"/>
                <a:ea typeface="JetBrains Mono" pitchFamily="49" charset="-122"/>
                <a:cs typeface="JetBrains Mono" pitchFamily="49" charset="-120"/>
              </a:rPr>
              <a:t>LAYER 4</a:t>
            </a:r>
            <a:endParaRPr lang="en-US" sz="1200" dirty="0"/>
          </a:p>
        </p:txBody>
      </p:sp>
      <p:sp>
        <p:nvSpPr>
          <p:cNvPr id="79" name="Text 73"/>
          <p:cNvSpPr/>
          <p:nvPr/>
        </p:nvSpPr>
        <p:spPr>
          <a:xfrm>
            <a:off x="9321800" y="1219200"/>
            <a:ext cx="2590038" cy="22987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Presentation Layer</a:t>
            </a:r>
            <a:endParaRPr lang="en-US" sz="1400" dirty="0"/>
          </a:p>
        </p:txBody>
      </p:sp>
      <p:sp>
        <p:nvSpPr>
          <p:cNvPr id="80" name="Shape 74"/>
          <p:cNvSpPr/>
          <p:nvPr/>
        </p:nvSpPr>
        <p:spPr>
          <a:xfrm>
            <a:off x="9324975" y="1847216"/>
            <a:ext cx="2508250" cy="1691640"/>
          </a:xfrm>
          <a:prstGeom prst="roundRect">
            <a:avLst>
              <a:gd name="adj" fmla="val 5818"/>
            </a:avLst>
          </a:prstGeom>
          <a:gradFill rotWithShape="1">
            <a:gsLst>
              <a:gs pos="0">
                <a:srgbClr val="A78BFA">
                  <a:alpha val="14000"/>
                </a:srgbClr>
              </a:gs>
              <a:gs pos="55000">
                <a:srgbClr val="111923"/>
              </a:gs>
            </a:gsLst>
            <a:lin ang="4200000" scaled="0"/>
          </a:gradFill>
          <a:ln w="6350">
            <a:solidFill>
              <a:srgbClr val="A78BFA">
                <a:alpha val="60000"/>
              </a:srgbClr>
            </a:solidFill>
            <a:prstDash val="solid"/>
          </a:ln>
          <a:effectLst>
            <a:outerShdw blurRad="177800" dir="60000" algn="bl" rotWithShape="0">
              <a:srgbClr val="A78BFA">
                <a:alpha val="22000"/>
              </a:srgbClr>
            </a:outerShdw>
          </a:effectLst>
        </p:spPr>
      </p:sp>
      <p:sp>
        <p:nvSpPr>
          <p:cNvPr id="81" name="Text 75"/>
          <p:cNvSpPr/>
          <p:nvPr/>
        </p:nvSpPr>
        <p:spPr>
          <a:xfrm>
            <a:off x="9441180" y="1950720"/>
            <a:ext cx="2344115" cy="22987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FastAPI Local REST API</a:t>
            </a:r>
            <a:endParaRPr lang="en-US" sz="1400" dirty="0"/>
          </a:p>
        </p:txBody>
      </p:sp>
      <p:sp>
        <p:nvSpPr>
          <p:cNvPr id="82" name="Shape 76"/>
          <p:cNvSpPr/>
          <p:nvPr/>
        </p:nvSpPr>
        <p:spPr>
          <a:xfrm>
            <a:off x="9444355" y="2209166"/>
            <a:ext cx="2269490" cy="1223010"/>
          </a:xfrm>
          <a:prstGeom prst="roundRect">
            <a:avLst>
              <a:gd name="adj" fmla="val 4933"/>
            </a:avLst>
          </a:prstGeom>
          <a:solidFill>
            <a:srgbClr val="0B1119"/>
          </a:solidFill>
          <a:ln w="6350">
            <a:solidFill>
              <a:srgbClr val="2A3647"/>
            </a:solidFill>
            <a:prstDash val="solid"/>
          </a:ln>
        </p:spPr>
      </p:sp>
      <p:sp>
        <p:nvSpPr>
          <p:cNvPr id="83" name="Text 77"/>
          <p:cNvSpPr/>
          <p:nvPr/>
        </p:nvSpPr>
        <p:spPr>
          <a:xfrm>
            <a:off x="9535160" y="2287270"/>
            <a:ext cx="21505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B5FD"/>
                </a:solidFill>
                <a:latin typeface="JetBrains Mono" pitchFamily="49" charset="0"/>
                <a:ea typeface="JetBrains Mono" pitchFamily="49" charset="-122"/>
                <a:cs typeface="JetBrains Mono" pitchFamily="49" charset="-120"/>
              </a:rPr>
              <a:t>/api/health</a:t>
            </a:r>
            <a:endParaRPr lang="en-US" sz="1200" dirty="0"/>
          </a:p>
        </p:txBody>
      </p:sp>
      <p:sp>
        <p:nvSpPr>
          <p:cNvPr id="84" name="Text 78"/>
          <p:cNvSpPr/>
          <p:nvPr/>
        </p:nvSpPr>
        <p:spPr>
          <a:xfrm>
            <a:off x="9535160" y="2500630"/>
            <a:ext cx="21505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B5FD"/>
                </a:solidFill>
                <a:latin typeface="JetBrains Mono" pitchFamily="49" charset="0"/>
                <a:ea typeface="JetBrains Mono" pitchFamily="49" charset="-122"/>
                <a:cs typeface="JetBrains Mono" pitchFamily="49" charset="-120"/>
              </a:rPr>
              <a:t>/api/patients</a:t>
            </a:r>
            <a:endParaRPr lang="en-US" sz="1200" dirty="0"/>
          </a:p>
        </p:txBody>
      </p:sp>
      <p:sp>
        <p:nvSpPr>
          <p:cNvPr id="85" name="Text 79"/>
          <p:cNvSpPr/>
          <p:nvPr/>
        </p:nvSpPr>
        <p:spPr>
          <a:xfrm>
            <a:off x="9535160" y="2713991"/>
            <a:ext cx="21505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B5FD"/>
                </a:solidFill>
                <a:latin typeface="JetBrains Mono" pitchFamily="49" charset="0"/>
                <a:ea typeface="JetBrains Mono" pitchFamily="49" charset="-122"/>
                <a:cs typeface="JetBrains Mono" pitchFamily="49" charset="-120"/>
              </a:rPr>
              <a:t>/api/twin/{id}</a:t>
            </a:r>
            <a:endParaRPr lang="en-US" sz="1200" dirty="0"/>
          </a:p>
        </p:txBody>
      </p:sp>
      <p:sp>
        <p:nvSpPr>
          <p:cNvPr id="86" name="Text 80"/>
          <p:cNvSpPr/>
          <p:nvPr/>
        </p:nvSpPr>
        <p:spPr>
          <a:xfrm>
            <a:off x="9535160" y="2927350"/>
            <a:ext cx="21505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B5FD"/>
                </a:solidFill>
                <a:latin typeface="JetBrains Mono" pitchFamily="49" charset="0"/>
                <a:ea typeface="JetBrains Mono" pitchFamily="49" charset="-122"/>
                <a:cs typeface="JetBrains Mono" pitchFamily="49" charset="-120"/>
              </a:rPr>
              <a:t>/api/simulate</a:t>
            </a:r>
            <a:endParaRPr lang="en-US" sz="1200" dirty="0"/>
          </a:p>
        </p:txBody>
      </p:sp>
      <p:sp>
        <p:nvSpPr>
          <p:cNvPr id="87" name="Text 81"/>
          <p:cNvSpPr/>
          <p:nvPr/>
        </p:nvSpPr>
        <p:spPr>
          <a:xfrm>
            <a:off x="9535160" y="3140711"/>
            <a:ext cx="21505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B5FD"/>
                </a:solidFill>
                <a:latin typeface="JetBrains Mono" pitchFamily="49" charset="0"/>
                <a:ea typeface="JetBrains Mono" pitchFamily="49" charset="-122"/>
                <a:cs typeface="JetBrains Mono" pitchFamily="49" charset="-120"/>
              </a:rPr>
              <a:t>/api/metrics</a:t>
            </a:r>
            <a:endParaRPr lang="en-US" sz="1200" dirty="0"/>
          </a:p>
        </p:txBody>
      </p:sp>
      <p:pic>
        <p:nvPicPr>
          <p:cNvPr id="88" name="Image 4" descr="Arrow down from the API to the dashboard"/>
          <p:cNvPicPr>
            <a:picLocks noChangeAspect="1"/>
          </p:cNvPicPr>
          <p:nvPr/>
        </p:nvPicPr>
        <p:blipFill>
          <a:blip r:embed="rId7"/>
          <a:srcRect/>
          <a:stretch/>
        </p:blipFill>
        <p:spPr>
          <a:xfrm>
            <a:off x="9868535" y="3629343"/>
            <a:ext cx="177800" cy="279400"/>
          </a:xfrm>
          <a:prstGeom prst="rect">
            <a:avLst/>
          </a:prstGeom>
        </p:spPr>
      </p:pic>
      <p:sp>
        <p:nvSpPr>
          <p:cNvPr id="89" name="Text 82"/>
          <p:cNvSpPr/>
          <p:nvPr/>
        </p:nvSpPr>
        <p:spPr>
          <a:xfrm>
            <a:off x="10135235" y="3673793"/>
            <a:ext cx="1385316"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A78BFA"/>
                </a:solidFill>
                <a:latin typeface="IBM Plex Sans" pitchFamily="34" charset="0"/>
                <a:ea typeface="IBM Plex Sans" pitchFamily="34" charset="-122"/>
                <a:cs typeface="IBM Plex Sans" pitchFamily="34" charset="-120"/>
              </a:rPr>
              <a:t>JSON responses</a:t>
            </a:r>
            <a:endParaRPr lang="en-US" sz="1200" dirty="0"/>
          </a:p>
        </p:txBody>
      </p:sp>
      <p:sp>
        <p:nvSpPr>
          <p:cNvPr id="90" name="Shape 83"/>
          <p:cNvSpPr/>
          <p:nvPr/>
        </p:nvSpPr>
        <p:spPr>
          <a:xfrm>
            <a:off x="9324975" y="3999230"/>
            <a:ext cx="2508250" cy="1847850"/>
          </a:xfrm>
          <a:prstGeom prst="roundRect">
            <a:avLst>
              <a:gd name="adj" fmla="val 5326"/>
            </a:avLst>
          </a:prstGeom>
          <a:gradFill rotWithShape="1">
            <a:gsLst>
              <a:gs pos="0">
                <a:srgbClr val="A78BFA">
                  <a:alpha val="14000"/>
                </a:srgbClr>
              </a:gs>
              <a:gs pos="55000">
                <a:srgbClr val="111923"/>
              </a:gs>
            </a:gsLst>
            <a:lin ang="4200000" scaled="0"/>
          </a:gradFill>
          <a:ln w="6350">
            <a:solidFill>
              <a:srgbClr val="A78BFA">
                <a:alpha val="60000"/>
              </a:srgbClr>
            </a:solidFill>
            <a:prstDash val="solid"/>
          </a:ln>
          <a:effectLst>
            <a:outerShdw blurRad="177800" dir="60000" algn="bl" rotWithShape="0">
              <a:srgbClr val="A78BFA">
                <a:alpha val="22000"/>
              </a:srgbClr>
            </a:outerShdw>
          </a:effectLst>
        </p:spPr>
      </p:sp>
      <p:sp>
        <p:nvSpPr>
          <p:cNvPr id="91" name="Text 84"/>
          <p:cNvSpPr/>
          <p:nvPr/>
        </p:nvSpPr>
        <p:spPr>
          <a:xfrm>
            <a:off x="9441180" y="4102736"/>
            <a:ext cx="2344115" cy="434340"/>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F1F5F9"/>
                </a:solidFill>
                <a:latin typeface="IBM Plex Sans" pitchFamily="34" charset="0"/>
                <a:ea typeface="IBM Plex Sans" pitchFamily="34" charset="-122"/>
                <a:cs typeface="IBM Plex Sans" pitchFamily="34" charset="-120"/>
              </a:rPr>
              <a:t>React + TypeScript Dashboard</a:t>
            </a:r>
            <a:endParaRPr lang="en-US" sz="1400" dirty="0"/>
          </a:p>
        </p:txBody>
      </p:sp>
      <p:sp>
        <p:nvSpPr>
          <p:cNvPr id="92" name="Shape 85"/>
          <p:cNvSpPr/>
          <p:nvPr/>
        </p:nvSpPr>
        <p:spPr>
          <a:xfrm>
            <a:off x="9441180" y="4645025"/>
            <a:ext cx="50800" cy="50800"/>
          </a:xfrm>
          <a:prstGeom prst="roundRect">
            <a:avLst>
              <a:gd name="adj" fmla="val 25000"/>
            </a:avLst>
          </a:prstGeom>
          <a:solidFill>
            <a:srgbClr val="A78BFA"/>
          </a:solidFill>
          <a:ln/>
        </p:spPr>
      </p:sp>
      <p:sp>
        <p:nvSpPr>
          <p:cNvPr id="93" name="Text 86"/>
          <p:cNvSpPr/>
          <p:nvPr/>
        </p:nvSpPr>
        <p:spPr>
          <a:xfrm>
            <a:off x="9568180" y="4562475"/>
            <a:ext cx="221330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Patient Replay Timeline</a:t>
            </a:r>
            <a:endParaRPr lang="en-US" sz="1200" dirty="0"/>
          </a:p>
        </p:txBody>
      </p:sp>
      <p:sp>
        <p:nvSpPr>
          <p:cNvPr id="94" name="Shape 87"/>
          <p:cNvSpPr/>
          <p:nvPr/>
        </p:nvSpPr>
        <p:spPr>
          <a:xfrm>
            <a:off x="9441180" y="4896486"/>
            <a:ext cx="50800" cy="50800"/>
          </a:xfrm>
          <a:prstGeom prst="roundRect">
            <a:avLst>
              <a:gd name="adj" fmla="val 25000"/>
            </a:avLst>
          </a:prstGeom>
          <a:solidFill>
            <a:srgbClr val="A78BFA"/>
          </a:solidFill>
          <a:ln/>
        </p:spPr>
      </p:sp>
      <p:sp>
        <p:nvSpPr>
          <p:cNvPr id="95" name="Text 88"/>
          <p:cNvSpPr/>
          <p:nvPr/>
        </p:nvSpPr>
        <p:spPr>
          <a:xfrm>
            <a:off x="9568180" y="4813936"/>
            <a:ext cx="221330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Forecast + Conformal Band Charts</a:t>
            </a:r>
            <a:endParaRPr lang="en-US" sz="1200" dirty="0"/>
          </a:p>
        </p:txBody>
      </p:sp>
      <p:sp>
        <p:nvSpPr>
          <p:cNvPr id="96" name="Shape 89"/>
          <p:cNvSpPr/>
          <p:nvPr/>
        </p:nvSpPr>
        <p:spPr>
          <a:xfrm>
            <a:off x="9441180" y="5361305"/>
            <a:ext cx="50800" cy="50800"/>
          </a:xfrm>
          <a:prstGeom prst="roundRect">
            <a:avLst>
              <a:gd name="adj" fmla="val 25000"/>
            </a:avLst>
          </a:prstGeom>
          <a:solidFill>
            <a:srgbClr val="A78BFA"/>
          </a:solidFill>
          <a:ln/>
        </p:spPr>
      </p:sp>
      <p:sp>
        <p:nvSpPr>
          <p:cNvPr id="97" name="Text 90"/>
          <p:cNvSpPr/>
          <p:nvPr/>
        </p:nvSpPr>
        <p:spPr>
          <a:xfrm>
            <a:off x="9568180" y="5278755"/>
            <a:ext cx="221330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Dropout Abstention Alerts</a:t>
            </a:r>
            <a:endParaRPr lang="en-US" sz="1200" dirty="0"/>
          </a:p>
        </p:txBody>
      </p:sp>
      <p:sp>
        <p:nvSpPr>
          <p:cNvPr id="98" name="Shape 91"/>
          <p:cNvSpPr/>
          <p:nvPr/>
        </p:nvSpPr>
        <p:spPr>
          <a:xfrm>
            <a:off x="9441180" y="5612764"/>
            <a:ext cx="50800" cy="50800"/>
          </a:xfrm>
          <a:prstGeom prst="roundRect">
            <a:avLst>
              <a:gd name="adj" fmla="val 25000"/>
            </a:avLst>
          </a:prstGeom>
          <a:solidFill>
            <a:srgbClr val="A78BFA"/>
          </a:solidFill>
          <a:ln/>
        </p:spPr>
      </p:sp>
      <p:sp>
        <p:nvSpPr>
          <p:cNvPr id="99" name="Text 92"/>
          <p:cNvSpPr/>
          <p:nvPr/>
        </p:nvSpPr>
        <p:spPr>
          <a:xfrm>
            <a:off x="9568180" y="5530214"/>
            <a:ext cx="221330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Scenario Sandbox Simulator</a:t>
            </a:r>
            <a:endParaRPr lang="en-US" sz="1200" dirty="0"/>
          </a:p>
        </p:txBody>
      </p:sp>
      <p:pic>
        <p:nvPicPr>
          <p:cNvPr id="100" name="Image 5" descr="Arrow down from the dashboard to the clinician"/>
          <p:cNvPicPr>
            <a:picLocks noChangeAspect="1"/>
          </p:cNvPicPr>
          <p:nvPr/>
        </p:nvPicPr>
        <p:blipFill>
          <a:blip r:embed="rId7"/>
          <a:srcRect/>
          <a:stretch/>
        </p:blipFill>
        <p:spPr>
          <a:xfrm>
            <a:off x="9601835" y="5937569"/>
            <a:ext cx="177800" cy="279400"/>
          </a:xfrm>
          <a:prstGeom prst="rect">
            <a:avLst/>
          </a:prstGeom>
        </p:spPr>
      </p:pic>
      <p:sp>
        <p:nvSpPr>
          <p:cNvPr id="101" name="Text 93"/>
          <p:cNvSpPr/>
          <p:nvPr/>
        </p:nvSpPr>
        <p:spPr>
          <a:xfrm>
            <a:off x="9868535" y="5982019"/>
            <a:ext cx="2025396" cy="215900"/>
          </a:xfrm>
          <a:prstGeom prst="rect">
            <a:avLst/>
          </a:prstGeom>
          <a:noFill/>
          <a:ln/>
        </p:spPr>
        <p:txBody>
          <a:bodyPr wrap="square" lIns="0" tIns="0" rIns="0" bIns="0" rtlCol="0" anchor="t">
            <a:normAutofit/>
          </a:bodyPr>
          <a:lstStyle/>
          <a:p>
            <a:pPr marL="0" indent="0" algn="l">
              <a:lnSpc>
                <a:spcPts val="1500"/>
              </a:lnSpc>
              <a:buNone/>
            </a:pPr>
            <a:r>
              <a:rPr lang="en-US" sz="1200" b="1" dirty="0">
                <a:solidFill>
                  <a:srgbClr val="A78BFA"/>
                </a:solidFill>
                <a:latin typeface="IBM Plex Sans" pitchFamily="34" charset="0"/>
                <a:ea typeface="IBM Plex Sans" pitchFamily="34" charset="-122"/>
                <a:cs typeface="IBM Plex Sans" pitchFamily="34" charset="-120"/>
              </a:rPr>
              <a:t>interactive visualization</a:t>
            </a:r>
            <a:endParaRPr lang="en-US" sz="1200" dirty="0"/>
          </a:p>
        </p:txBody>
      </p:sp>
      <p:sp>
        <p:nvSpPr>
          <p:cNvPr id="102" name="Text 94"/>
          <p:cNvSpPr/>
          <p:nvPr/>
        </p:nvSpPr>
        <p:spPr>
          <a:xfrm>
            <a:off x="9925765" y="6307457"/>
            <a:ext cx="1306592" cy="318770"/>
          </a:xfrm>
          <a:prstGeom prst="roundRect">
            <a:avLst>
              <a:gd name="adj" fmla="val 42829"/>
            </a:avLst>
          </a:prstGeom>
          <a:solidFill>
            <a:srgbClr val="111923"/>
          </a:solidFill>
          <a:ln w="6350">
            <a:solidFill>
              <a:srgbClr val="A78BFA">
                <a:alpha val="60000"/>
              </a:srgbClr>
            </a:solidFill>
            <a:prstDash val="solid"/>
          </a:ln>
          <a:effectLst>
            <a:outerShdw blurRad="152400" dir="60000" algn="bl" rotWithShape="0">
              <a:srgbClr val="A78BFA">
                <a:alpha val="20000"/>
              </a:srgbClr>
            </a:outerShdw>
          </a:effectLst>
        </p:spPr>
        <p:txBody>
          <a:bodyPr wrap="none" lIns="0" tIns="0" rIns="1" bIns="0" rtlCol="0" anchor="ctr">
            <a:normAutofit/>
          </a:bodyPr>
          <a:lstStyle/>
          <a:p>
            <a:pPr marL="0" indent="0" algn="ctr">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Clinician view</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11200" y="406400"/>
            <a:ext cx="1219200" cy="50800"/>
          </a:xfrm>
          <a:prstGeom prst="roundRect">
            <a:avLst>
              <a:gd name="adj" fmla="val 50000"/>
            </a:avLst>
          </a:prstGeom>
          <a:solidFill>
            <a:srgbClr val="5B9DFF"/>
          </a:solidFill>
          <a:ln/>
        </p:spPr>
      </p:sp>
      <p:sp>
        <p:nvSpPr>
          <p:cNvPr id="3" name="Shape 1"/>
          <p:cNvSpPr/>
          <p:nvPr/>
        </p:nvSpPr>
        <p:spPr>
          <a:xfrm>
            <a:off x="1968500" y="406400"/>
            <a:ext cx="203200" cy="50800"/>
          </a:xfrm>
          <a:prstGeom prst="roundRect">
            <a:avLst>
              <a:gd name="adj" fmla="val 50000"/>
            </a:avLst>
          </a:prstGeom>
          <a:solidFill>
            <a:srgbClr val="2DD4BF"/>
          </a:solidFill>
          <a:ln/>
        </p:spPr>
      </p:sp>
      <p:sp>
        <p:nvSpPr>
          <p:cNvPr id="4" name="Shape 2"/>
          <p:cNvSpPr/>
          <p:nvPr/>
        </p:nvSpPr>
        <p:spPr>
          <a:xfrm>
            <a:off x="2209800" y="406400"/>
            <a:ext cx="203200" cy="50800"/>
          </a:xfrm>
          <a:prstGeom prst="roundRect">
            <a:avLst>
              <a:gd name="adj" fmla="val 50000"/>
            </a:avLst>
          </a:prstGeom>
          <a:solidFill>
            <a:srgbClr val="4ADE80"/>
          </a:solidFill>
          <a:ln/>
        </p:spPr>
      </p:sp>
      <p:sp>
        <p:nvSpPr>
          <p:cNvPr id="5" name="Shape 3"/>
          <p:cNvSpPr/>
          <p:nvPr/>
        </p:nvSpPr>
        <p:spPr>
          <a:xfrm>
            <a:off x="2451100" y="406400"/>
            <a:ext cx="406400" cy="50800"/>
          </a:xfrm>
          <a:prstGeom prst="roundRect">
            <a:avLst>
              <a:gd name="adj" fmla="val 50000"/>
            </a:avLst>
          </a:prstGeom>
          <a:solidFill>
            <a:srgbClr val="FBBF24"/>
          </a:solidFill>
          <a:ln/>
        </p:spPr>
      </p:sp>
      <p:sp>
        <p:nvSpPr>
          <p:cNvPr id="6" name="Text 4"/>
          <p:cNvSpPr>
            <a:spLocks noGrp="1"/>
          </p:cNvSpPr>
          <p:nvPr>
            <p:ph type="title"/>
          </p:nvPr>
        </p:nvSpPr>
        <p:spPr>
          <a:xfrm>
            <a:off x="711200" y="533400"/>
            <a:ext cx="6506081" cy="9194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1F5F9"/>
                </a:solidFill>
                <a:latin typeface="IBM Plex Sans" pitchFamily="34" charset="0"/>
                <a:ea typeface="IBM Plex Sans" pitchFamily="34" charset="-122"/>
                <a:cs typeface="IBM Plex Sans" pitchFamily="34" charset="-120"/>
              </a:rPr>
              <a:t>Zero Data Leakage:</a:t>
            </a:r>
            <a:endParaRPr lang="en-US" sz="3200" dirty="0"/>
          </a:p>
          <a:p>
            <a:pPr marL="0" indent="0" algn="l">
              <a:lnSpc>
                <a:spcPts val="3520"/>
              </a:lnSpc>
              <a:buNone/>
            </a:pPr>
            <a:r>
              <a:rPr lang="en-US" sz="3200" b="1" i="0" kern="0" spc="-50" dirty="0">
                <a:solidFill>
                  <a:srgbClr val="8FB4FF"/>
                </a:solidFill>
                <a:latin typeface="IBM Plex Sans" pitchFamily="34" charset="0"/>
                <a:ea typeface="IBM Plex Sans" pitchFamily="34" charset="-122"/>
                <a:cs typeface="IBM Plex Sans" pitchFamily="34" charset="-120"/>
              </a:rPr>
              <a:t>Patient-Disjoint Evaluation Design</a:t>
            </a:r>
            <a:endParaRPr lang="en-US" sz="3200" dirty="0"/>
          </a:p>
        </p:txBody>
      </p:sp>
      <p:sp>
        <p:nvSpPr>
          <p:cNvPr id="7" name="Text 5"/>
          <p:cNvSpPr/>
          <p:nvPr/>
        </p:nvSpPr>
        <p:spPr>
          <a:xfrm>
            <a:off x="8733790" y="1178561"/>
            <a:ext cx="274701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0 patients</a:t>
            </a:r>
            <a:r>
              <a:rPr lang="en-US" sz="1400" dirty="0">
                <a:solidFill>
                  <a:srgbClr val="AEBBCA"/>
                </a:solidFill>
                <a:latin typeface="IBM Plex Sans" pitchFamily="34" charset="0"/>
                <a:ea typeface="IBM Plex Sans" pitchFamily="34" charset="-122"/>
                <a:cs typeface="IBM Plex Sans" pitchFamily="34" charset="-120"/>
              </a:rPr>
              <a:t> shared across splits</a:t>
            </a:r>
            <a:endParaRPr lang="en-US" sz="1400" dirty="0"/>
          </a:p>
        </p:txBody>
      </p:sp>
      <p:pic>
        <p:nvPicPr>
          <p:cNvPr id="8" name="Image 0" descr="Donut chart of 60 patients: 60% training, 10% probability tuning, 10% interval calibration, 20% held-out test"/>
          <p:cNvPicPr>
            <a:picLocks noChangeAspect="1"/>
          </p:cNvPicPr>
          <p:nvPr/>
        </p:nvPicPr>
        <p:blipFill>
          <a:blip r:embed="rId3"/>
          <a:srcRect/>
          <a:stretch/>
        </p:blipFill>
        <p:spPr>
          <a:xfrm>
            <a:off x="711200" y="1732280"/>
            <a:ext cx="2413000" cy="2413000"/>
          </a:xfrm>
          <a:prstGeom prst="rect">
            <a:avLst/>
          </a:prstGeom>
        </p:spPr>
      </p:pic>
      <p:sp>
        <p:nvSpPr>
          <p:cNvPr id="9" name="Text 6"/>
          <p:cNvSpPr/>
          <p:nvPr/>
        </p:nvSpPr>
        <p:spPr>
          <a:xfrm>
            <a:off x="1257300" y="2608580"/>
            <a:ext cx="1320800" cy="472440"/>
          </a:xfrm>
          <a:prstGeom prst="rect">
            <a:avLst/>
          </a:prstGeom>
          <a:noFill/>
          <a:ln/>
        </p:spPr>
        <p:txBody>
          <a:bodyPr wrap="square" lIns="0" tIns="0" rIns="0" bIns="0" rtlCol="0" anchor="t">
            <a:normAutofit/>
          </a:bodyPr>
          <a:lstStyle/>
          <a:p>
            <a:pPr marL="0" indent="0" algn="ctr">
              <a:lnSpc>
                <a:spcPts val="3520"/>
              </a:lnSpc>
              <a:buNone/>
            </a:pPr>
            <a:r>
              <a:rPr lang="en-US" sz="3200" b="1" dirty="0">
                <a:solidFill>
                  <a:srgbClr val="F1F5F9"/>
                </a:solidFill>
                <a:latin typeface="JetBrains Mono" pitchFamily="49" charset="0"/>
                <a:ea typeface="JetBrains Mono" pitchFamily="49" charset="-122"/>
                <a:cs typeface="JetBrains Mono" pitchFamily="49" charset="-120"/>
              </a:rPr>
              <a:t>60</a:t>
            </a:r>
            <a:endParaRPr lang="en-US" sz="3200" dirty="0"/>
          </a:p>
        </p:txBody>
      </p:sp>
      <p:sp>
        <p:nvSpPr>
          <p:cNvPr id="10" name="Text 7"/>
          <p:cNvSpPr/>
          <p:nvPr/>
        </p:nvSpPr>
        <p:spPr>
          <a:xfrm>
            <a:off x="1257300" y="305308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b="1" kern="0" spc="100" dirty="0">
                <a:solidFill>
                  <a:srgbClr val="93A3B5"/>
                </a:solidFill>
                <a:latin typeface="JetBrains Mono" pitchFamily="49" charset="0"/>
                <a:ea typeface="JetBrains Mono" pitchFamily="49" charset="-122"/>
                <a:cs typeface="JetBrains Mono" pitchFamily="49" charset="-120"/>
              </a:rPr>
              <a:t>PATIENTS</a:t>
            </a:r>
            <a:endParaRPr lang="en-US" sz="1200" dirty="0"/>
          </a:p>
        </p:txBody>
      </p:sp>
      <p:sp>
        <p:nvSpPr>
          <p:cNvPr id="11" name="Shape 8"/>
          <p:cNvSpPr/>
          <p:nvPr/>
        </p:nvSpPr>
        <p:spPr>
          <a:xfrm>
            <a:off x="3482975" y="1608455"/>
            <a:ext cx="7994650" cy="593725"/>
          </a:xfrm>
          <a:prstGeom prst="roundRect">
            <a:avLst>
              <a:gd name="adj" fmla="val 16578"/>
            </a:avLst>
          </a:prstGeom>
          <a:gradFill rotWithShape="1">
            <a:gsLst>
              <a:gs pos="0">
                <a:srgbClr val="5B9DFF">
                  <a:alpha val="12000"/>
                </a:srgbClr>
              </a:gs>
              <a:gs pos="40000">
                <a:srgbClr val="111923"/>
              </a:gs>
            </a:gsLst>
            <a:lin ang="0" scaled="0"/>
          </a:gradFill>
          <a:ln w="6350">
            <a:solidFill>
              <a:srgbClr val="5B9DFF">
                <a:alpha val="45000"/>
              </a:srgbClr>
            </a:solidFill>
            <a:prstDash val="solid"/>
          </a:ln>
        </p:spPr>
      </p:sp>
      <p:sp>
        <p:nvSpPr>
          <p:cNvPr id="12" name="Shape 9"/>
          <p:cNvSpPr/>
          <p:nvPr/>
        </p:nvSpPr>
        <p:spPr>
          <a:xfrm>
            <a:off x="3611880" y="1673861"/>
            <a:ext cx="50800" cy="462915"/>
          </a:xfrm>
          <a:prstGeom prst="roundRect">
            <a:avLst>
              <a:gd name="adj" fmla="val 50000"/>
            </a:avLst>
          </a:prstGeom>
          <a:solidFill>
            <a:srgbClr val="5B9DFF"/>
          </a:solidFill>
          <a:ln/>
        </p:spPr>
      </p:sp>
      <p:sp>
        <p:nvSpPr>
          <p:cNvPr id="13" name="Text 10"/>
          <p:cNvSpPr/>
          <p:nvPr/>
        </p:nvSpPr>
        <p:spPr>
          <a:xfrm>
            <a:off x="3789680" y="1683068"/>
            <a:ext cx="659544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1F5F9"/>
                </a:solidFill>
                <a:latin typeface="IBM Plex Sans" pitchFamily="34" charset="0"/>
                <a:ea typeface="IBM Plex Sans" pitchFamily="34" charset="-122"/>
                <a:cs typeface="IBM Plex Sans" pitchFamily="34" charset="-120"/>
              </a:rPr>
              <a:t>36 Training Patients</a:t>
            </a:r>
            <a:endParaRPr lang="en-US" sz="1400" dirty="0"/>
          </a:p>
        </p:txBody>
      </p:sp>
      <p:sp>
        <p:nvSpPr>
          <p:cNvPr id="14" name="Text 11"/>
          <p:cNvSpPr/>
          <p:nvPr/>
        </p:nvSpPr>
        <p:spPr>
          <a:xfrm>
            <a:off x="3789680" y="1914207"/>
            <a:ext cx="6595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3A3B5"/>
                </a:solidFill>
                <a:latin typeface="IBM Plex Sans" pitchFamily="34" charset="0"/>
                <a:ea typeface="IBM Plex Sans" pitchFamily="34" charset="-122"/>
                <a:cs typeface="IBM Plex Sans" pitchFamily="34" charset="-120"/>
              </a:rPr>
              <a:t>Model learns glucose patterns</a:t>
            </a:r>
            <a:endParaRPr lang="en-US" sz="1200" dirty="0"/>
          </a:p>
        </p:txBody>
      </p:sp>
      <p:sp>
        <p:nvSpPr>
          <p:cNvPr id="15" name="Text 12"/>
          <p:cNvSpPr/>
          <p:nvPr/>
        </p:nvSpPr>
        <p:spPr>
          <a:xfrm>
            <a:off x="10269220" y="1751648"/>
            <a:ext cx="1003300" cy="332740"/>
          </a:xfrm>
          <a:prstGeom prst="rect">
            <a:avLst/>
          </a:prstGeom>
          <a:noFill/>
          <a:ln/>
        </p:spPr>
        <p:txBody>
          <a:bodyPr wrap="square" lIns="0" tIns="0" rIns="0" bIns="0" rtlCol="0" anchor="t">
            <a:normAutofit/>
          </a:bodyPr>
          <a:lstStyle/>
          <a:p>
            <a:pPr marL="0" indent="0" algn="r">
              <a:lnSpc>
                <a:spcPts val="2420"/>
              </a:lnSpc>
              <a:buNone/>
            </a:pPr>
            <a:r>
              <a:rPr lang="en-US" sz="2200" b="1" dirty="0">
                <a:solidFill>
                  <a:srgbClr val="5B9DFF"/>
                </a:solidFill>
                <a:latin typeface="JetBrains Mono" pitchFamily="49" charset="0"/>
                <a:ea typeface="JetBrains Mono" pitchFamily="49" charset="-122"/>
                <a:cs typeface="JetBrains Mono" pitchFamily="49" charset="-120"/>
              </a:rPr>
              <a:t>60%</a:t>
            </a:r>
            <a:endParaRPr lang="en-US" sz="2200" dirty="0"/>
          </a:p>
        </p:txBody>
      </p:sp>
      <p:sp>
        <p:nvSpPr>
          <p:cNvPr id="16" name="Shape 13"/>
          <p:cNvSpPr/>
          <p:nvPr/>
        </p:nvSpPr>
        <p:spPr>
          <a:xfrm>
            <a:off x="3482975" y="2297430"/>
            <a:ext cx="7994650" cy="593725"/>
          </a:xfrm>
          <a:prstGeom prst="roundRect">
            <a:avLst>
              <a:gd name="adj" fmla="val 16578"/>
            </a:avLst>
          </a:prstGeom>
          <a:gradFill rotWithShape="1">
            <a:gsLst>
              <a:gs pos="0">
                <a:srgbClr val="2DD4BF">
                  <a:alpha val="12000"/>
                </a:srgbClr>
              </a:gs>
              <a:gs pos="40000">
                <a:srgbClr val="111923"/>
              </a:gs>
            </a:gsLst>
            <a:lin ang="0" scaled="0"/>
          </a:gradFill>
          <a:ln w="6350">
            <a:solidFill>
              <a:srgbClr val="2DD4BF">
                <a:alpha val="45000"/>
              </a:srgbClr>
            </a:solidFill>
            <a:prstDash val="solid"/>
          </a:ln>
        </p:spPr>
      </p:sp>
      <p:sp>
        <p:nvSpPr>
          <p:cNvPr id="17" name="Shape 14"/>
          <p:cNvSpPr/>
          <p:nvPr/>
        </p:nvSpPr>
        <p:spPr>
          <a:xfrm>
            <a:off x="3611880" y="2362836"/>
            <a:ext cx="50800" cy="462915"/>
          </a:xfrm>
          <a:prstGeom prst="roundRect">
            <a:avLst>
              <a:gd name="adj" fmla="val 50000"/>
            </a:avLst>
          </a:prstGeom>
          <a:solidFill>
            <a:srgbClr val="2DD4BF"/>
          </a:solidFill>
          <a:ln/>
        </p:spPr>
      </p:sp>
      <p:sp>
        <p:nvSpPr>
          <p:cNvPr id="18" name="Text 15"/>
          <p:cNvSpPr/>
          <p:nvPr/>
        </p:nvSpPr>
        <p:spPr>
          <a:xfrm>
            <a:off x="3789680" y="2372043"/>
            <a:ext cx="659544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1F5F9"/>
                </a:solidFill>
                <a:latin typeface="IBM Plex Sans" pitchFamily="34" charset="0"/>
                <a:ea typeface="IBM Plex Sans" pitchFamily="34" charset="-122"/>
                <a:cs typeface="IBM Plex Sans" pitchFamily="34" charset="-120"/>
              </a:rPr>
              <a:t>6 Probability Tuning Patients</a:t>
            </a:r>
            <a:endParaRPr lang="en-US" sz="1400" dirty="0"/>
          </a:p>
        </p:txBody>
      </p:sp>
      <p:sp>
        <p:nvSpPr>
          <p:cNvPr id="19" name="Text 16"/>
          <p:cNvSpPr/>
          <p:nvPr/>
        </p:nvSpPr>
        <p:spPr>
          <a:xfrm>
            <a:off x="3789680" y="2603182"/>
            <a:ext cx="6595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3A3B5"/>
                </a:solidFill>
                <a:latin typeface="IBM Plex Sans" pitchFamily="34" charset="0"/>
                <a:ea typeface="IBM Plex Sans" pitchFamily="34" charset="-122"/>
                <a:cs typeface="IBM Plex Sans" pitchFamily="34" charset="-120"/>
              </a:rPr>
              <a:t>Platt sigmoid calibration for event risk</a:t>
            </a:r>
            <a:endParaRPr lang="en-US" sz="1200" dirty="0"/>
          </a:p>
        </p:txBody>
      </p:sp>
      <p:sp>
        <p:nvSpPr>
          <p:cNvPr id="20" name="Text 17"/>
          <p:cNvSpPr/>
          <p:nvPr/>
        </p:nvSpPr>
        <p:spPr>
          <a:xfrm>
            <a:off x="10269220" y="2440623"/>
            <a:ext cx="1003300" cy="332740"/>
          </a:xfrm>
          <a:prstGeom prst="rect">
            <a:avLst/>
          </a:prstGeom>
          <a:noFill/>
          <a:ln/>
        </p:spPr>
        <p:txBody>
          <a:bodyPr wrap="square" lIns="0" tIns="0" rIns="0" bIns="0" rtlCol="0" anchor="t">
            <a:normAutofit/>
          </a:bodyPr>
          <a:lstStyle/>
          <a:p>
            <a:pPr marL="0" indent="0" algn="r">
              <a:lnSpc>
                <a:spcPts val="2420"/>
              </a:lnSpc>
              <a:buNone/>
            </a:pPr>
            <a:r>
              <a:rPr lang="en-US" sz="2200" b="1" dirty="0">
                <a:solidFill>
                  <a:srgbClr val="2DD4BF"/>
                </a:solidFill>
                <a:latin typeface="JetBrains Mono" pitchFamily="49" charset="0"/>
                <a:ea typeface="JetBrains Mono" pitchFamily="49" charset="-122"/>
                <a:cs typeface="JetBrains Mono" pitchFamily="49" charset="-120"/>
              </a:rPr>
              <a:t>10%</a:t>
            </a:r>
            <a:endParaRPr lang="en-US" sz="2200" dirty="0"/>
          </a:p>
        </p:txBody>
      </p:sp>
      <p:sp>
        <p:nvSpPr>
          <p:cNvPr id="21" name="Shape 18"/>
          <p:cNvSpPr/>
          <p:nvPr/>
        </p:nvSpPr>
        <p:spPr>
          <a:xfrm>
            <a:off x="3482975" y="2986405"/>
            <a:ext cx="7994650" cy="593725"/>
          </a:xfrm>
          <a:prstGeom prst="roundRect">
            <a:avLst>
              <a:gd name="adj" fmla="val 16578"/>
            </a:avLst>
          </a:prstGeom>
          <a:gradFill rotWithShape="1">
            <a:gsLst>
              <a:gs pos="0">
                <a:srgbClr val="4ADE80">
                  <a:alpha val="12000"/>
                </a:srgbClr>
              </a:gs>
              <a:gs pos="40000">
                <a:srgbClr val="111923"/>
              </a:gs>
            </a:gsLst>
            <a:lin ang="0" scaled="0"/>
          </a:gradFill>
          <a:ln w="6350">
            <a:solidFill>
              <a:srgbClr val="4ADE80">
                <a:alpha val="45000"/>
              </a:srgbClr>
            </a:solidFill>
            <a:prstDash val="solid"/>
          </a:ln>
        </p:spPr>
      </p:sp>
      <p:sp>
        <p:nvSpPr>
          <p:cNvPr id="22" name="Shape 19"/>
          <p:cNvSpPr/>
          <p:nvPr/>
        </p:nvSpPr>
        <p:spPr>
          <a:xfrm>
            <a:off x="3611880" y="3051811"/>
            <a:ext cx="50800" cy="462915"/>
          </a:xfrm>
          <a:prstGeom prst="roundRect">
            <a:avLst>
              <a:gd name="adj" fmla="val 50000"/>
            </a:avLst>
          </a:prstGeom>
          <a:solidFill>
            <a:srgbClr val="4ADE80"/>
          </a:solidFill>
          <a:ln/>
        </p:spPr>
      </p:sp>
      <p:sp>
        <p:nvSpPr>
          <p:cNvPr id="23" name="Text 20"/>
          <p:cNvSpPr/>
          <p:nvPr/>
        </p:nvSpPr>
        <p:spPr>
          <a:xfrm>
            <a:off x="3789680" y="3061018"/>
            <a:ext cx="659544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1F5F9"/>
                </a:solidFill>
                <a:latin typeface="IBM Plex Sans" pitchFamily="34" charset="0"/>
                <a:ea typeface="IBM Plex Sans" pitchFamily="34" charset="-122"/>
                <a:cs typeface="IBM Plex Sans" pitchFamily="34" charset="-120"/>
              </a:rPr>
              <a:t>6 Interval Calibration Patients</a:t>
            </a:r>
            <a:endParaRPr lang="en-US" sz="1400" dirty="0"/>
          </a:p>
        </p:txBody>
      </p:sp>
      <p:sp>
        <p:nvSpPr>
          <p:cNvPr id="24" name="Text 21"/>
          <p:cNvSpPr/>
          <p:nvPr/>
        </p:nvSpPr>
        <p:spPr>
          <a:xfrm>
            <a:off x="3789680" y="3292157"/>
            <a:ext cx="6595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3A3B5"/>
                </a:solidFill>
                <a:latin typeface="IBM Plex Sans" pitchFamily="34" charset="0"/>
                <a:ea typeface="IBM Plex Sans" pitchFamily="34" charset="-122"/>
                <a:cs typeface="IBM Plex Sans" pitchFamily="34" charset="-120"/>
              </a:rPr>
              <a:t>Split-conformal prediction band widths</a:t>
            </a:r>
            <a:endParaRPr lang="en-US" sz="1200" dirty="0"/>
          </a:p>
        </p:txBody>
      </p:sp>
      <p:sp>
        <p:nvSpPr>
          <p:cNvPr id="25" name="Text 22"/>
          <p:cNvSpPr/>
          <p:nvPr/>
        </p:nvSpPr>
        <p:spPr>
          <a:xfrm>
            <a:off x="10269220" y="3129598"/>
            <a:ext cx="1003300" cy="332740"/>
          </a:xfrm>
          <a:prstGeom prst="rect">
            <a:avLst/>
          </a:prstGeom>
          <a:noFill/>
          <a:ln/>
        </p:spPr>
        <p:txBody>
          <a:bodyPr wrap="square" lIns="0" tIns="0" rIns="0" bIns="0" rtlCol="0" anchor="t">
            <a:normAutofit/>
          </a:bodyPr>
          <a:lstStyle/>
          <a:p>
            <a:pPr marL="0" indent="0" algn="r">
              <a:lnSpc>
                <a:spcPts val="2420"/>
              </a:lnSpc>
              <a:buNone/>
            </a:pPr>
            <a:r>
              <a:rPr lang="en-US" sz="2200" b="1" dirty="0">
                <a:solidFill>
                  <a:srgbClr val="4ADE80"/>
                </a:solidFill>
                <a:latin typeface="JetBrains Mono" pitchFamily="49" charset="0"/>
                <a:ea typeface="JetBrains Mono" pitchFamily="49" charset="-122"/>
                <a:cs typeface="JetBrains Mono" pitchFamily="49" charset="-120"/>
              </a:rPr>
              <a:t>10%</a:t>
            </a:r>
            <a:endParaRPr lang="en-US" sz="2200" dirty="0"/>
          </a:p>
        </p:txBody>
      </p:sp>
      <p:sp>
        <p:nvSpPr>
          <p:cNvPr id="26" name="Shape 23"/>
          <p:cNvSpPr/>
          <p:nvPr/>
        </p:nvSpPr>
        <p:spPr>
          <a:xfrm>
            <a:off x="3482975" y="3675380"/>
            <a:ext cx="7994650" cy="593725"/>
          </a:xfrm>
          <a:prstGeom prst="roundRect">
            <a:avLst>
              <a:gd name="adj" fmla="val 16578"/>
            </a:avLst>
          </a:prstGeom>
          <a:gradFill rotWithShape="1">
            <a:gsLst>
              <a:gs pos="0">
                <a:srgbClr val="FBBF24">
                  <a:alpha val="14000"/>
                </a:srgbClr>
              </a:gs>
              <a:gs pos="40000">
                <a:srgbClr val="111923"/>
              </a:gs>
            </a:gsLst>
            <a:lin ang="0" scaled="0"/>
          </a:gradFill>
          <a:ln w="6350">
            <a:solidFill>
              <a:srgbClr val="FBBF24">
                <a:alpha val="65000"/>
              </a:srgbClr>
            </a:solidFill>
            <a:prstDash val="solid"/>
          </a:ln>
          <a:effectLst>
            <a:outerShdw blurRad="203200" dir="60000" algn="bl" rotWithShape="0">
              <a:srgbClr val="FBBF24">
                <a:alpha val="18000"/>
              </a:srgbClr>
            </a:outerShdw>
          </a:effectLst>
        </p:spPr>
      </p:sp>
      <p:sp>
        <p:nvSpPr>
          <p:cNvPr id="27" name="Shape 24"/>
          <p:cNvSpPr/>
          <p:nvPr/>
        </p:nvSpPr>
        <p:spPr>
          <a:xfrm>
            <a:off x="3611880" y="3740786"/>
            <a:ext cx="50800" cy="462915"/>
          </a:xfrm>
          <a:prstGeom prst="roundRect">
            <a:avLst>
              <a:gd name="adj" fmla="val 50000"/>
            </a:avLst>
          </a:prstGeom>
          <a:solidFill>
            <a:srgbClr val="FBBF24"/>
          </a:solidFill>
          <a:ln/>
        </p:spPr>
      </p:sp>
      <p:sp>
        <p:nvSpPr>
          <p:cNvPr id="28" name="Text 25"/>
          <p:cNvSpPr/>
          <p:nvPr/>
        </p:nvSpPr>
        <p:spPr>
          <a:xfrm>
            <a:off x="3789680" y="3749993"/>
            <a:ext cx="659544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1F5F9"/>
                </a:solidFill>
                <a:latin typeface="IBM Plex Sans" pitchFamily="34" charset="0"/>
                <a:ea typeface="IBM Plex Sans" pitchFamily="34" charset="-122"/>
                <a:cs typeface="IBM Plex Sans" pitchFamily="34" charset="-120"/>
              </a:rPr>
              <a:t>12 Held-Out Test Patients</a:t>
            </a:r>
            <a:endParaRPr lang="en-US" sz="1400" dirty="0"/>
          </a:p>
        </p:txBody>
      </p:sp>
      <p:sp>
        <p:nvSpPr>
          <p:cNvPr id="29" name="Text 26"/>
          <p:cNvSpPr/>
          <p:nvPr/>
        </p:nvSpPr>
        <p:spPr>
          <a:xfrm>
            <a:off x="3789680" y="3981132"/>
            <a:ext cx="659544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NEVER</a:t>
            </a:r>
            <a:r>
              <a:rPr lang="en-US" sz="1200" dirty="0">
                <a:solidFill>
                  <a:srgbClr val="C3CEDA"/>
                </a:solidFill>
                <a:latin typeface="IBM Plex Sans" pitchFamily="34" charset="0"/>
                <a:ea typeface="IBM Plex Sans" pitchFamily="34" charset="-122"/>
                <a:cs typeface="IBM Plex Sans" pitchFamily="34" charset="-120"/>
              </a:rPr>
              <a:t> seen during training — final evaluation only</a:t>
            </a:r>
            <a:endParaRPr lang="en-US" sz="1200" dirty="0"/>
          </a:p>
        </p:txBody>
      </p:sp>
      <p:sp>
        <p:nvSpPr>
          <p:cNvPr id="30" name="Text 27"/>
          <p:cNvSpPr/>
          <p:nvPr/>
        </p:nvSpPr>
        <p:spPr>
          <a:xfrm>
            <a:off x="10269220" y="3818573"/>
            <a:ext cx="1003300" cy="332740"/>
          </a:xfrm>
          <a:prstGeom prst="rect">
            <a:avLst/>
          </a:prstGeom>
          <a:noFill/>
          <a:ln/>
        </p:spPr>
        <p:txBody>
          <a:bodyPr wrap="square" lIns="0" tIns="0" rIns="0" bIns="0" rtlCol="0" anchor="t">
            <a:normAutofit/>
          </a:bodyPr>
          <a:lstStyle/>
          <a:p>
            <a:pPr marL="0" indent="0" algn="r">
              <a:lnSpc>
                <a:spcPts val="2420"/>
              </a:lnSpc>
              <a:buNone/>
            </a:pPr>
            <a:r>
              <a:rPr lang="en-US" sz="2200" b="1" dirty="0">
                <a:solidFill>
                  <a:srgbClr val="FBBF24"/>
                </a:solidFill>
                <a:latin typeface="JetBrains Mono" pitchFamily="49" charset="0"/>
                <a:ea typeface="JetBrains Mono" pitchFamily="49" charset="-122"/>
                <a:cs typeface="JetBrains Mono" pitchFamily="49" charset="-120"/>
              </a:rPr>
              <a:t>20%</a:t>
            </a:r>
            <a:endParaRPr lang="en-US" sz="2200" dirty="0"/>
          </a:p>
        </p:txBody>
      </p:sp>
      <p:sp>
        <p:nvSpPr>
          <p:cNvPr id="31" name="Shape 28"/>
          <p:cNvSpPr/>
          <p:nvPr/>
        </p:nvSpPr>
        <p:spPr>
          <a:xfrm>
            <a:off x="714375" y="4453255"/>
            <a:ext cx="5770086" cy="1663700"/>
          </a:xfrm>
          <a:prstGeom prst="roundRect">
            <a:avLst>
              <a:gd name="adj" fmla="val 7443"/>
            </a:avLst>
          </a:prstGeom>
          <a:gradFill rotWithShape="1">
            <a:gsLst>
              <a:gs pos="0">
                <a:srgbClr val="2DD4BF">
                  <a:alpha val="12000"/>
                </a:srgbClr>
              </a:gs>
              <a:gs pos="50000">
                <a:srgbClr val="111923"/>
              </a:gs>
            </a:gsLst>
            <a:lin ang="4200000" scaled="0"/>
          </a:gradFill>
          <a:ln w="6350">
            <a:solidFill>
              <a:srgbClr val="2DD4BF">
                <a:alpha val="55000"/>
              </a:srgbClr>
            </a:solidFill>
            <a:prstDash val="solid"/>
          </a:ln>
          <a:effectLst>
            <a:outerShdw blurRad="228600" dir="60000" algn="bl" rotWithShape="0">
              <a:srgbClr val="2DD4BF">
                <a:alpha val="18000"/>
              </a:srgbClr>
            </a:outerShdw>
          </a:effectLst>
        </p:spPr>
      </p:sp>
      <p:pic>
        <p:nvPicPr>
          <p:cNvPr id="32" name="Image 1" descr="Teal shield with a check mark"/>
          <p:cNvPicPr>
            <a:picLocks noChangeAspect="1"/>
          </p:cNvPicPr>
          <p:nvPr/>
        </p:nvPicPr>
        <p:blipFill>
          <a:blip r:embed="rId4"/>
          <a:srcRect/>
          <a:stretch/>
        </p:blipFill>
        <p:spPr>
          <a:xfrm>
            <a:off x="944880" y="4632961"/>
            <a:ext cx="355600" cy="355600"/>
          </a:xfrm>
          <a:prstGeom prst="rect">
            <a:avLst/>
          </a:prstGeom>
        </p:spPr>
      </p:pic>
      <p:sp>
        <p:nvSpPr>
          <p:cNvPr id="33" name="Text 29"/>
          <p:cNvSpPr/>
          <p:nvPr/>
        </p:nvSpPr>
        <p:spPr>
          <a:xfrm>
            <a:off x="1427480" y="4632961"/>
            <a:ext cx="497127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JetBrains Mono" pitchFamily="49" charset="0"/>
                <a:ea typeface="JetBrains Mono" pitchFamily="49" charset="-122"/>
                <a:cs typeface="JetBrains Mono" pitchFamily="49" charset="-120"/>
              </a:rPr>
              <a:t>KEY GUARANTEE</a:t>
            </a:r>
            <a:endParaRPr lang="en-US" sz="1200" dirty="0"/>
          </a:p>
        </p:txBody>
      </p:sp>
      <p:sp>
        <p:nvSpPr>
          <p:cNvPr id="34" name="Text 30"/>
          <p:cNvSpPr/>
          <p:nvPr/>
        </p:nvSpPr>
        <p:spPr>
          <a:xfrm>
            <a:off x="1427480" y="4897120"/>
            <a:ext cx="4971271" cy="10210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No patient appears in more than one split.</a:t>
            </a:r>
            <a:r>
              <a:rPr lang="en-US" sz="1400" dirty="0">
                <a:solidFill>
                  <a:srgbClr val="C3CEDA"/>
                </a:solidFill>
                <a:latin typeface="IBM Plex Sans" pitchFamily="34" charset="0"/>
                <a:ea typeface="IBM Plex Sans" pitchFamily="34" charset="-122"/>
                <a:cs typeface="IBM Plex Sans" pitchFamily="34" charset="-120"/>
              </a:rPr>
              <a:t> Training patients are </a:t>
            </a:r>
            <a:r>
              <a:rPr lang="en-US" sz="1400" b="1" dirty="0">
                <a:solidFill>
                  <a:srgbClr val="F1F5F9"/>
                </a:solidFill>
                <a:latin typeface="IBM Plex Sans" pitchFamily="34" charset="0"/>
                <a:ea typeface="IBM Plex Sans" pitchFamily="34" charset="-122"/>
                <a:cs typeface="IBM Plex Sans" pitchFamily="34" charset="-120"/>
              </a:rPr>
              <a:t>NEVER</a:t>
            </a:r>
            <a:r>
              <a:rPr lang="en-US" sz="1400" dirty="0">
                <a:solidFill>
                  <a:srgbClr val="C3CEDA"/>
                </a:solidFill>
                <a:latin typeface="IBM Plex Sans" pitchFamily="34" charset="0"/>
                <a:ea typeface="IBM Plex Sans" pitchFamily="34" charset="-122"/>
                <a:cs typeface="IBM Plex Sans" pitchFamily="34" charset="-120"/>
              </a:rPr>
              <a:t> used for calibration or testing. This eliminates </a:t>
            </a:r>
            <a:r>
              <a:rPr lang="en-US" sz="1400" b="1" dirty="0">
                <a:solidFill>
                  <a:srgbClr val="F1F5F9"/>
                </a:solidFill>
                <a:latin typeface="IBM Plex Sans" pitchFamily="34" charset="0"/>
                <a:ea typeface="IBM Plex Sans" pitchFamily="34" charset="-122"/>
                <a:cs typeface="IBM Plex Sans" pitchFamily="34" charset="-120"/>
              </a:rPr>
              <a:t>identity leakage</a:t>
            </a:r>
            <a:r>
              <a:rPr lang="en-US" sz="1400" dirty="0">
                <a:solidFill>
                  <a:srgbClr val="C3CEDA"/>
                </a:solidFill>
                <a:latin typeface="IBM Plex Sans" pitchFamily="34" charset="0"/>
                <a:ea typeface="IBM Plex Sans" pitchFamily="34" charset="-122"/>
                <a:cs typeface="IBM Plex Sans" pitchFamily="34" charset="-120"/>
              </a:rPr>
              <a:t> and </a:t>
            </a:r>
            <a:r>
              <a:rPr lang="en-US" sz="1400" b="1" dirty="0">
                <a:solidFill>
                  <a:srgbClr val="F1F5F9"/>
                </a:solidFill>
                <a:latin typeface="IBM Plex Sans" pitchFamily="34" charset="0"/>
                <a:ea typeface="IBM Plex Sans" pitchFamily="34" charset="-122"/>
                <a:cs typeface="IBM Plex Sans" pitchFamily="34" charset="-120"/>
              </a:rPr>
              <a:t>temporal leakage</a:t>
            </a:r>
            <a:r>
              <a:rPr lang="en-US" sz="1400" dirty="0">
                <a:solidFill>
                  <a:srgbClr val="C3CEDA"/>
                </a:solidFill>
                <a:latin typeface="IBM Plex Sans" pitchFamily="34" charset="0"/>
                <a:ea typeface="IBM Plex Sans" pitchFamily="34" charset="-122"/>
                <a:cs typeface="IBM Plex Sans" pitchFamily="34" charset="-120"/>
              </a:rPr>
              <a:t> that plague most healthcare AI benchmarks.</a:t>
            </a:r>
            <a:endParaRPr lang="en-US" sz="1400" dirty="0"/>
          </a:p>
        </p:txBody>
      </p:sp>
      <p:sp>
        <p:nvSpPr>
          <p:cNvPr id="35" name="Shape 31"/>
          <p:cNvSpPr/>
          <p:nvPr/>
        </p:nvSpPr>
        <p:spPr>
          <a:xfrm>
            <a:off x="6694012" y="4453255"/>
            <a:ext cx="4783614" cy="1663700"/>
          </a:xfrm>
          <a:prstGeom prst="roundRect">
            <a:avLst>
              <a:gd name="adj" fmla="val 7443"/>
            </a:avLst>
          </a:prstGeom>
          <a:solidFill>
            <a:srgbClr val="111923"/>
          </a:solidFill>
          <a:ln w="6350">
            <a:solidFill>
              <a:srgbClr val="2A3647"/>
            </a:solidFill>
            <a:prstDash val="solid"/>
          </a:ln>
        </p:spPr>
      </p:sp>
      <p:sp>
        <p:nvSpPr>
          <p:cNvPr id="36" name="Text 32"/>
          <p:cNvSpPr/>
          <p:nvPr/>
        </p:nvSpPr>
        <p:spPr>
          <a:xfrm>
            <a:off x="6873716" y="4620261"/>
            <a:ext cx="455693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3A3B5"/>
                </a:solidFill>
                <a:latin typeface="JetBrains Mono" pitchFamily="49" charset="0"/>
                <a:ea typeface="JetBrains Mono" pitchFamily="49" charset="-122"/>
                <a:cs typeface="JetBrains Mono" pitchFamily="49" charset="-120"/>
              </a:rPr>
              <a:t>STUDY SETUP</a:t>
            </a:r>
            <a:endParaRPr lang="en-US" sz="1200" dirty="0"/>
          </a:p>
        </p:txBody>
      </p:sp>
      <p:sp>
        <p:nvSpPr>
          <p:cNvPr id="37" name="Shape 33"/>
          <p:cNvSpPr/>
          <p:nvPr/>
        </p:nvSpPr>
        <p:spPr>
          <a:xfrm>
            <a:off x="6873716" y="4909820"/>
            <a:ext cx="4424204" cy="6350"/>
          </a:xfrm>
          <a:prstGeom prst="rect">
            <a:avLst/>
          </a:prstGeom>
          <a:solidFill>
            <a:srgbClr val="2A3647"/>
          </a:solidFill>
          <a:ln/>
        </p:spPr>
      </p:sp>
      <p:sp>
        <p:nvSpPr>
          <p:cNvPr id="38" name="Text 34"/>
          <p:cNvSpPr/>
          <p:nvPr/>
        </p:nvSpPr>
        <p:spPr>
          <a:xfrm>
            <a:off x="6873716" y="4992370"/>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B9DFF"/>
                </a:solidFill>
                <a:latin typeface="JetBrains Mono" pitchFamily="49" charset="0"/>
                <a:ea typeface="JetBrains Mono" pitchFamily="49" charset="-122"/>
                <a:cs typeface="JetBrains Mono" pitchFamily="49" charset="-120"/>
              </a:rPr>
              <a:t>TOTAL</a:t>
            </a:r>
            <a:endParaRPr lang="en-US" sz="1200" dirty="0"/>
          </a:p>
        </p:txBody>
      </p:sp>
      <p:sp>
        <p:nvSpPr>
          <p:cNvPr id="39" name="Text 35"/>
          <p:cNvSpPr/>
          <p:nvPr/>
        </p:nvSpPr>
        <p:spPr>
          <a:xfrm>
            <a:off x="7927816" y="4992370"/>
            <a:ext cx="347120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60 patients × 5 days = </a:t>
            </a:r>
            <a:r>
              <a:rPr lang="en-US" sz="1200" b="1" dirty="0">
                <a:solidFill>
                  <a:srgbClr val="F1F5F9"/>
                </a:solidFill>
                <a:latin typeface="IBM Plex Sans" pitchFamily="34" charset="0"/>
                <a:ea typeface="IBM Plex Sans" pitchFamily="34" charset="-122"/>
                <a:cs typeface="IBM Plex Sans" pitchFamily="34" charset="-120"/>
              </a:rPr>
              <a:t>300 patient-days</a:t>
            </a:r>
            <a:endParaRPr lang="en-US" sz="1200" dirty="0"/>
          </a:p>
        </p:txBody>
      </p:sp>
      <p:sp>
        <p:nvSpPr>
          <p:cNvPr id="40" name="Shape 36"/>
          <p:cNvSpPr/>
          <p:nvPr/>
        </p:nvSpPr>
        <p:spPr>
          <a:xfrm>
            <a:off x="6873716" y="5281930"/>
            <a:ext cx="4424204" cy="6350"/>
          </a:xfrm>
          <a:prstGeom prst="rect">
            <a:avLst/>
          </a:prstGeom>
          <a:solidFill>
            <a:srgbClr val="2A3647"/>
          </a:solidFill>
          <a:ln/>
        </p:spPr>
      </p:sp>
      <p:sp>
        <p:nvSpPr>
          <p:cNvPr id="41" name="Text 37"/>
          <p:cNvSpPr/>
          <p:nvPr/>
        </p:nvSpPr>
        <p:spPr>
          <a:xfrm>
            <a:off x="6873716" y="5364480"/>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DD4BF"/>
                </a:solidFill>
                <a:latin typeface="JetBrains Mono" pitchFamily="49" charset="0"/>
                <a:ea typeface="JetBrains Mono" pitchFamily="49" charset="-122"/>
                <a:cs typeface="JetBrains Mono" pitchFamily="49" charset="-120"/>
              </a:rPr>
              <a:t>SAMPLING</a:t>
            </a:r>
            <a:endParaRPr lang="en-US" sz="1200" dirty="0"/>
          </a:p>
        </p:txBody>
      </p:sp>
      <p:sp>
        <p:nvSpPr>
          <p:cNvPr id="42" name="Text 38"/>
          <p:cNvSpPr/>
          <p:nvPr/>
        </p:nvSpPr>
        <p:spPr>
          <a:xfrm>
            <a:off x="7927816" y="5364480"/>
            <a:ext cx="347120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5-minute</a:t>
            </a:r>
            <a:r>
              <a:rPr lang="en-US" sz="1200" dirty="0">
                <a:solidFill>
                  <a:srgbClr val="C3CEDA"/>
                </a:solidFill>
                <a:latin typeface="IBM Plex Sans" pitchFamily="34" charset="0"/>
                <a:ea typeface="IBM Plex Sans" pitchFamily="34" charset="-122"/>
                <a:cs typeface="IBM Plex Sans" pitchFamily="34" charset="-120"/>
              </a:rPr>
              <a:t> observation grid (1,440 steps/day)</a:t>
            </a:r>
            <a:endParaRPr lang="en-US" sz="1200" dirty="0"/>
          </a:p>
        </p:txBody>
      </p:sp>
      <p:sp>
        <p:nvSpPr>
          <p:cNvPr id="43" name="Shape 39"/>
          <p:cNvSpPr/>
          <p:nvPr/>
        </p:nvSpPr>
        <p:spPr>
          <a:xfrm>
            <a:off x="6873716" y="5654041"/>
            <a:ext cx="4424204" cy="6350"/>
          </a:xfrm>
          <a:prstGeom prst="rect">
            <a:avLst/>
          </a:prstGeom>
          <a:solidFill>
            <a:srgbClr val="2A3647"/>
          </a:solidFill>
          <a:ln/>
        </p:spPr>
      </p:sp>
      <p:sp>
        <p:nvSpPr>
          <p:cNvPr id="44" name="Text 40"/>
          <p:cNvSpPr/>
          <p:nvPr/>
        </p:nvSpPr>
        <p:spPr>
          <a:xfrm>
            <a:off x="6873716" y="5736591"/>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BBF24"/>
                </a:solidFill>
                <a:latin typeface="JetBrains Mono" pitchFamily="49" charset="0"/>
                <a:ea typeface="JetBrains Mono" pitchFamily="49" charset="-122"/>
                <a:cs typeface="JetBrains Mono" pitchFamily="49" charset="-120"/>
              </a:rPr>
              <a:t>SEED</a:t>
            </a:r>
            <a:endParaRPr lang="en-US" sz="1200" dirty="0"/>
          </a:p>
        </p:txBody>
      </p:sp>
      <p:sp>
        <p:nvSpPr>
          <p:cNvPr id="45" name="Text 41"/>
          <p:cNvSpPr/>
          <p:nvPr/>
        </p:nvSpPr>
        <p:spPr>
          <a:xfrm>
            <a:off x="7927816" y="5736591"/>
            <a:ext cx="354663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Deterministic</a:t>
            </a:r>
            <a:r>
              <a:rPr lang="en-US" sz="1200" dirty="0">
                <a:solidFill>
                  <a:srgbClr val="C3CEDA"/>
                </a:solidFill>
                <a:latin typeface="IBM Plex Sans" pitchFamily="34" charset="0"/>
                <a:ea typeface="IBM Plex Sans" pitchFamily="34" charset="-122"/>
                <a:cs typeface="IBM Plex Sans" pitchFamily="34" charset="-120"/>
              </a:rPr>
              <a:t> (seed 2026) for full reproducibility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55600" y="283211"/>
            <a:ext cx="355600" cy="50800"/>
          </a:xfrm>
          <a:prstGeom prst="roundRect">
            <a:avLst>
              <a:gd name="adj" fmla="val 50000"/>
            </a:avLst>
          </a:prstGeom>
          <a:solidFill>
            <a:srgbClr val="2DD4BF"/>
          </a:solidFill>
          <a:ln/>
        </p:spPr>
      </p:sp>
      <p:sp>
        <p:nvSpPr>
          <p:cNvPr id="3" name="Shape 1"/>
          <p:cNvSpPr/>
          <p:nvPr/>
        </p:nvSpPr>
        <p:spPr>
          <a:xfrm>
            <a:off x="762000" y="283211"/>
            <a:ext cx="355600" cy="50800"/>
          </a:xfrm>
          <a:prstGeom prst="roundRect">
            <a:avLst>
              <a:gd name="adj" fmla="val 50000"/>
            </a:avLst>
          </a:prstGeom>
          <a:solidFill>
            <a:srgbClr val="22D3EE"/>
          </a:solidFill>
          <a:ln/>
        </p:spPr>
      </p:sp>
      <p:sp>
        <p:nvSpPr>
          <p:cNvPr id="4" name="Shape 2"/>
          <p:cNvSpPr/>
          <p:nvPr/>
        </p:nvSpPr>
        <p:spPr>
          <a:xfrm>
            <a:off x="1168400" y="283211"/>
            <a:ext cx="355600" cy="50800"/>
          </a:xfrm>
          <a:prstGeom prst="roundRect">
            <a:avLst>
              <a:gd name="adj" fmla="val 50000"/>
            </a:avLst>
          </a:prstGeom>
          <a:solidFill>
            <a:srgbClr val="5B9DFF"/>
          </a:solidFill>
          <a:ln/>
        </p:spPr>
      </p:sp>
      <p:sp>
        <p:nvSpPr>
          <p:cNvPr id="5" name="Text 3"/>
          <p:cNvSpPr>
            <a:spLocks noGrp="1"/>
          </p:cNvSpPr>
          <p:nvPr>
            <p:ph type="title"/>
          </p:nvPr>
        </p:nvSpPr>
        <p:spPr>
          <a:xfrm>
            <a:off x="355600" y="397511"/>
            <a:ext cx="8702136" cy="47244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1F5F9"/>
                </a:solidFill>
                <a:latin typeface="IBM Plex Sans" pitchFamily="34" charset="0"/>
                <a:ea typeface="IBM Plex Sans" pitchFamily="34" charset="-122"/>
                <a:cs typeface="IBM Plex Sans" pitchFamily="34" charset="-120"/>
              </a:rPr>
              <a:t>Live Dashboard: Patient Twin Overview</a:t>
            </a:r>
            <a:endParaRPr lang="en-US" sz="3200" dirty="0"/>
          </a:p>
        </p:txBody>
      </p:sp>
      <p:sp>
        <p:nvSpPr>
          <p:cNvPr id="6" name="Text 4"/>
          <p:cNvSpPr/>
          <p:nvPr/>
        </p:nvSpPr>
        <p:spPr>
          <a:xfrm>
            <a:off x="9089390" y="346711"/>
            <a:ext cx="2747010" cy="52324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Synthetic data,</a:t>
            </a:r>
            <a:r>
              <a:rPr lang="en-US" sz="1400" dirty="0">
                <a:solidFill>
                  <a:srgbClr val="AEBBCA"/>
                </a:solidFill>
                <a:latin typeface="IBM Plex Sans" pitchFamily="34" charset="0"/>
                <a:ea typeface="IBM Plex Sans" pitchFamily="34" charset="-122"/>
                <a:cs typeface="IBM Plex Sans" pitchFamily="34" charset="-120"/>
              </a:rPr>
              <a:t> not for clinical use</a:t>
            </a:r>
            <a:endParaRPr lang="en-US" sz="1400" dirty="0"/>
          </a:p>
        </p:txBody>
      </p:sp>
      <p:pic>
        <p:nvPicPr>
          <p:cNvPr id="7" name="Image 0" descr="Dashboard screenshot: patient dropdown, replay clock, replay +5 min button, simulate CGM dropout toggle, API ready badge and test split tag"/>
          <p:cNvPicPr>
            <a:picLocks noChangeAspect="1"/>
          </p:cNvPicPr>
          <p:nvPr/>
        </p:nvPicPr>
        <p:blipFill>
          <a:blip r:embed="rId3"/>
          <a:srcRect t="122" b="122"/>
          <a:stretch/>
        </p:blipFill>
        <p:spPr>
          <a:xfrm>
            <a:off x="361950" y="933451"/>
            <a:ext cx="5575300" cy="2387600"/>
          </a:xfrm>
          <a:prstGeom prst="roundRect">
            <a:avLst>
              <a:gd name="adj" fmla="val 3457"/>
            </a:avLst>
          </a:prstGeom>
          <a:effectLst>
            <a:outerShdw blurRad="228600" dir="60000" algn="bl" rotWithShape="0">
              <a:srgbClr val="2DD4BF">
                <a:alpha val="28000"/>
              </a:srgbClr>
            </a:outerShdw>
          </a:effectLst>
        </p:spPr>
      </p:pic>
      <p:sp>
        <p:nvSpPr>
          <p:cNvPr id="8" name="Shape 5"/>
          <p:cNvSpPr/>
          <p:nvPr/>
        </p:nvSpPr>
        <p:spPr>
          <a:xfrm>
            <a:off x="358775" y="968375"/>
            <a:ext cx="5581650" cy="2393950"/>
          </a:xfrm>
          <a:prstGeom prst="roundRect">
            <a:avLst>
              <a:gd name="adj" fmla="val 3581"/>
            </a:avLst>
          </a:prstGeom>
          <a:noFill/>
          <a:ln w="6350">
            <a:solidFill>
              <a:srgbClr val="2DD4BF">
                <a:alpha val="70000"/>
              </a:srgbClr>
            </a:solidFill>
            <a:prstDash val="solid"/>
          </a:ln>
        </p:spPr>
      </p:sp>
      <p:sp>
        <p:nvSpPr>
          <p:cNvPr id="9" name="Text 6"/>
          <p:cNvSpPr/>
          <p:nvPr/>
        </p:nvSpPr>
        <p:spPr>
          <a:xfrm>
            <a:off x="1524000" y="2801619"/>
            <a:ext cx="172720" cy="200659"/>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1</a:t>
            </a:r>
            <a:endParaRPr lang="en-US" sz="1200" dirty="0"/>
          </a:p>
        </p:txBody>
      </p:sp>
      <p:sp>
        <p:nvSpPr>
          <p:cNvPr id="10" name="Text 7"/>
          <p:cNvSpPr/>
          <p:nvPr/>
        </p:nvSpPr>
        <p:spPr>
          <a:xfrm>
            <a:off x="4248150" y="277495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2</a:t>
            </a:r>
            <a:endParaRPr lang="en-US" sz="1200" dirty="0"/>
          </a:p>
        </p:txBody>
      </p:sp>
      <p:sp>
        <p:nvSpPr>
          <p:cNvPr id="11" name="Text 8"/>
          <p:cNvSpPr/>
          <p:nvPr/>
        </p:nvSpPr>
        <p:spPr>
          <a:xfrm>
            <a:off x="5308600" y="28778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3</a:t>
            </a:r>
            <a:endParaRPr lang="en-US" sz="1200" dirty="0"/>
          </a:p>
        </p:txBody>
      </p:sp>
      <p:sp>
        <p:nvSpPr>
          <p:cNvPr id="12" name="Text 9"/>
          <p:cNvSpPr/>
          <p:nvPr/>
        </p:nvSpPr>
        <p:spPr>
          <a:xfrm>
            <a:off x="1943100" y="305435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4</a:t>
            </a:r>
            <a:endParaRPr lang="en-US" sz="1200" dirty="0"/>
          </a:p>
        </p:txBody>
      </p:sp>
      <p:sp>
        <p:nvSpPr>
          <p:cNvPr id="13" name="Text 10"/>
          <p:cNvSpPr/>
          <p:nvPr/>
        </p:nvSpPr>
        <p:spPr>
          <a:xfrm>
            <a:off x="4845050" y="109220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5</a:t>
            </a:r>
            <a:endParaRPr lang="en-US" sz="1200" dirty="0"/>
          </a:p>
        </p:txBody>
      </p:sp>
      <p:sp>
        <p:nvSpPr>
          <p:cNvPr id="14" name="Text 11"/>
          <p:cNvSpPr/>
          <p:nvPr/>
        </p:nvSpPr>
        <p:spPr>
          <a:xfrm>
            <a:off x="2940050" y="288290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6</a:t>
            </a:r>
            <a:endParaRPr lang="en-US" sz="1200" dirty="0"/>
          </a:p>
        </p:txBody>
      </p:sp>
      <p:sp>
        <p:nvSpPr>
          <p:cNvPr id="15" name="Shape 12"/>
          <p:cNvSpPr/>
          <p:nvPr/>
        </p:nvSpPr>
        <p:spPr>
          <a:xfrm>
            <a:off x="6175375" y="968375"/>
            <a:ext cx="5657850" cy="2393950"/>
          </a:xfrm>
          <a:prstGeom prst="roundRect">
            <a:avLst>
              <a:gd name="adj" fmla="val 4642"/>
            </a:avLst>
          </a:prstGeom>
          <a:solidFill>
            <a:srgbClr val="111923"/>
          </a:solidFill>
          <a:ln w="6350">
            <a:solidFill>
              <a:srgbClr val="2A3647"/>
            </a:solidFill>
            <a:prstDash val="solid"/>
          </a:ln>
        </p:spPr>
      </p:sp>
      <p:sp>
        <p:nvSpPr>
          <p:cNvPr id="16" name="Shape 13"/>
          <p:cNvSpPr/>
          <p:nvPr/>
        </p:nvSpPr>
        <p:spPr>
          <a:xfrm>
            <a:off x="6316980" y="1347472"/>
            <a:ext cx="5374640" cy="0"/>
          </a:xfrm>
          <a:prstGeom prst="line">
            <a:avLst/>
          </a:prstGeom>
          <a:noFill/>
          <a:ln w="12700">
            <a:solidFill>
              <a:srgbClr val="2DD4BF">
                <a:alpha val="35000"/>
              </a:srgbClr>
            </a:solidFill>
            <a:prstDash val="solid"/>
          </a:ln>
        </p:spPr>
      </p:sp>
      <p:sp>
        <p:nvSpPr>
          <p:cNvPr id="17" name="Text 14"/>
          <p:cNvSpPr/>
          <p:nvPr/>
        </p:nvSpPr>
        <p:spPr>
          <a:xfrm>
            <a:off x="6316980" y="1059182"/>
            <a:ext cx="5535879"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DD4BF"/>
                </a:solidFill>
                <a:latin typeface="IBM Plex Sans" pitchFamily="34" charset="0"/>
                <a:ea typeface="IBM Plex Sans" pitchFamily="34" charset="-122"/>
                <a:cs typeface="IBM Plex Sans" pitchFamily="34" charset="-120"/>
              </a:rPr>
              <a:t>Patient Selection &amp; Replay Controls</a:t>
            </a:r>
            <a:endParaRPr lang="en-US" sz="1600" dirty="0"/>
          </a:p>
        </p:txBody>
      </p:sp>
      <p:sp>
        <p:nvSpPr>
          <p:cNvPr id="18" name="Text 15"/>
          <p:cNvSpPr/>
          <p:nvPr/>
        </p:nvSpPr>
        <p:spPr>
          <a:xfrm>
            <a:off x="6316980" y="13919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1</a:t>
            </a:r>
            <a:endParaRPr lang="en-US" sz="1200" dirty="0"/>
          </a:p>
        </p:txBody>
      </p:sp>
      <p:sp>
        <p:nvSpPr>
          <p:cNvPr id="19" name="Text 16"/>
          <p:cNvSpPr/>
          <p:nvPr/>
        </p:nvSpPr>
        <p:spPr>
          <a:xfrm>
            <a:off x="6609080" y="13931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Patient dropdown:</a:t>
            </a:r>
            <a:r>
              <a:rPr lang="en-US" sz="1200" dirty="0">
                <a:solidFill>
                  <a:srgbClr val="C3CEDA"/>
                </a:solidFill>
                <a:latin typeface="IBM Plex Sans" pitchFamily="34" charset="0"/>
                <a:ea typeface="IBM Plex Sans" pitchFamily="34" charset="-122"/>
                <a:cs typeface="IBM Plex Sans" pitchFamily="34" charset="-120"/>
              </a:rPr>
              <a:t> Select any held-out test patient</a:t>
            </a:r>
            <a:endParaRPr lang="en-US" sz="1200" dirty="0"/>
          </a:p>
        </p:txBody>
      </p:sp>
      <p:sp>
        <p:nvSpPr>
          <p:cNvPr id="20" name="Text 17"/>
          <p:cNvSpPr/>
          <p:nvPr/>
        </p:nvSpPr>
        <p:spPr>
          <a:xfrm>
            <a:off x="6316980" y="16459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2</a:t>
            </a:r>
            <a:endParaRPr lang="en-US" sz="1200" dirty="0"/>
          </a:p>
        </p:txBody>
      </p:sp>
      <p:sp>
        <p:nvSpPr>
          <p:cNvPr id="21" name="Text 18"/>
          <p:cNvSpPr/>
          <p:nvPr/>
        </p:nvSpPr>
        <p:spPr>
          <a:xfrm>
            <a:off x="6609080" y="16471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Replay Clock slider:</a:t>
            </a:r>
            <a:r>
              <a:rPr lang="en-US" sz="1200" dirty="0">
                <a:solidFill>
                  <a:srgbClr val="C3CEDA"/>
                </a:solidFill>
                <a:latin typeface="IBM Plex Sans" pitchFamily="34" charset="0"/>
                <a:ea typeface="IBM Plex Sans" pitchFamily="34" charset="-122"/>
                <a:cs typeface="IBM Plex Sans" pitchFamily="34" charset="-120"/>
              </a:rPr>
              <a:t> Scrub through 5-day timeline</a:t>
            </a:r>
            <a:endParaRPr lang="en-US" sz="1200" dirty="0"/>
          </a:p>
        </p:txBody>
      </p:sp>
      <p:sp>
        <p:nvSpPr>
          <p:cNvPr id="22" name="Text 19"/>
          <p:cNvSpPr/>
          <p:nvPr/>
        </p:nvSpPr>
        <p:spPr>
          <a:xfrm>
            <a:off x="6316980" y="18999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3</a:t>
            </a:r>
            <a:endParaRPr lang="en-US" sz="1200" dirty="0"/>
          </a:p>
        </p:txBody>
      </p:sp>
      <p:sp>
        <p:nvSpPr>
          <p:cNvPr id="23" name="Text 20"/>
          <p:cNvSpPr/>
          <p:nvPr/>
        </p:nvSpPr>
        <p:spPr>
          <a:xfrm>
            <a:off x="6609080" y="19011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Replay +5 min button:</a:t>
            </a:r>
            <a:r>
              <a:rPr lang="en-US" sz="1200" dirty="0">
                <a:solidFill>
                  <a:srgbClr val="C3CEDA"/>
                </a:solidFill>
                <a:latin typeface="IBM Plex Sans" pitchFamily="34" charset="0"/>
                <a:ea typeface="IBM Plex Sans" pitchFamily="34" charset="-122"/>
                <a:cs typeface="IBM Plex Sans" pitchFamily="34" charset="-120"/>
              </a:rPr>
              <a:t> Advance exactly one sensor reading</a:t>
            </a:r>
            <a:endParaRPr lang="en-US" sz="1200" dirty="0"/>
          </a:p>
        </p:txBody>
      </p:sp>
      <p:sp>
        <p:nvSpPr>
          <p:cNvPr id="24" name="Text 21"/>
          <p:cNvSpPr/>
          <p:nvPr/>
        </p:nvSpPr>
        <p:spPr>
          <a:xfrm>
            <a:off x="6316980" y="21539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4</a:t>
            </a:r>
            <a:endParaRPr lang="en-US" sz="1200" dirty="0"/>
          </a:p>
        </p:txBody>
      </p:sp>
      <p:sp>
        <p:nvSpPr>
          <p:cNvPr id="25" name="Text 22"/>
          <p:cNvSpPr/>
          <p:nvPr/>
        </p:nvSpPr>
        <p:spPr>
          <a:xfrm>
            <a:off x="6609080" y="21551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Simulate CGM Dropout toggle:</a:t>
            </a:r>
            <a:r>
              <a:rPr lang="en-US" sz="1200" dirty="0">
                <a:solidFill>
                  <a:srgbClr val="C3CEDA"/>
                </a:solidFill>
                <a:latin typeface="IBM Plex Sans" pitchFamily="34" charset="0"/>
                <a:ea typeface="IBM Plex Sans" pitchFamily="34" charset="-122"/>
                <a:cs typeface="IBM Plex Sans" pitchFamily="34" charset="-120"/>
              </a:rPr>
              <a:t> Test sensor failure behavior</a:t>
            </a:r>
            <a:endParaRPr lang="en-US" sz="1200" dirty="0"/>
          </a:p>
        </p:txBody>
      </p:sp>
      <p:sp>
        <p:nvSpPr>
          <p:cNvPr id="26" name="Text 23"/>
          <p:cNvSpPr/>
          <p:nvPr/>
        </p:nvSpPr>
        <p:spPr>
          <a:xfrm>
            <a:off x="6316980" y="24079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5</a:t>
            </a:r>
            <a:endParaRPr lang="en-US" sz="1200" dirty="0"/>
          </a:p>
        </p:txBody>
      </p:sp>
      <p:sp>
        <p:nvSpPr>
          <p:cNvPr id="27" name="Text 24"/>
          <p:cNvSpPr/>
          <p:nvPr/>
        </p:nvSpPr>
        <p:spPr>
          <a:xfrm>
            <a:off x="6609080" y="24091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API Ready badge:</a:t>
            </a:r>
            <a:r>
              <a:rPr lang="en-US" sz="1200" dirty="0">
                <a:solidFill>
                  <a:srgbClr val="C3CEDA"/>
                </a:solidFill>
                <a:latin typeface="IBM Plex Sans" pitchFamily="34" charset="0"/>
                <a:ea typeface="IBM Plex Sans" pitchFamily="34" charset="-122"/>
                <a:cs typeface="IBM Plex Sans" pitchFamily="34" charset="-120"/>
              </a:rPr>
              <a:t> Backend connection confirmed</a:t>
            </a:r>
            <a:endParaRPr lang="en-US" sz="1200" dirty="0"/>
          </a:p>
        </p:txBody>
      </p:sp>
      <p:sp>
        <p:nvSpPr>
          <p:cNvPr id="28" name="Text 25"/>
          <p:cNvSpPr/>
          <p:nvPr/>
        </p:nvSpPr>
        <p:spPr>
          <a:xfrm>
            <a:off x="6316980" y="26619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6</a:t>
            </a:r>
            <a:endParaRPr lang="en-US" sz="1200" dirty="0"/>
          </a:p>
        </p:txBody>
      </p:sp>
      <p:sp>
        <p:nvSpPr>
          <p:cNvPr id="29" name="Text 26"/>
          <p:cNvSpPr/>
          <p:nvPr/>
        </p:nvSpPr>
        <p:spPr>
          <a:xfrm>
            <a:off x="6609080" y="26631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test split tag:</a:t>
            </a:r>
            <a:r>
              <a:rPr lang="en-US" sz="1200" dirty="0">
                <a:solidFill>
                  <a:srgbClr val="C3CEDA"/>
                </a:solidFill>
                <a:latin typeface="IBM Plex Sans" pitchFamily="34" charset="0"/>
                <a:ea typeface="IBM Plex Sans" pitchFamily="34" charset="-122"/>
                <a:cs typeface="IBM Plex Sans" pitchFamily="34" charset="-120"/>
              </a:rPr>
              <a:t> This patient was never used in training</a:t>
            </a:r>
            <a:endParaRPr lang="en-US" sz="1200" dirty="0"/>
          </a:p>
        </p:txBody>
      </p:sp>
      <p:pic>
        <p:nvPicPr>
          <p:cNvPr id="30" name="Image 1" descr="Dashboard screenshot: current glucose 113 mg/dL, glucose slope, heart rate 66 bpm, signal integrity panel, replay history chart and observed drivers panel"/>
          <p:cNvPicPr>
            <a:picLocks noChangeAspect="1"/>
          </p:cNvPicPr>
          <p:nvPr/>
        </p:nvPicPr>
        <p:blipFill>
          <a:blip r:embed="rId4"/>
          <a:srcRect t="122" b="122"/>
          <a:stretch/>
        </p:blipFill>
        <p:spPr>
          <a:xfrm>
            <a:off x="361950" y="3498850"/>
            <a:ext cx="5575300" cy="2387600"/>
          </a:xfrm>
          <a:prstGeom prst="roundRect">
            <a:avLst>
              <a:gd name="adj" fmla="val 3457"/>
            </a:avLst>
          </a:prstGeom>
          <a:effectLst>
            <a:outerShdw blurRad="228600" dir="60000" algn="bl" rotWithShape="0">
              <a:srgbClr val="22D3EE">
                <a:alpha val="28000"/>
              </a:srgbClr>
            </a:outerShdw>
          </a:effectLst>
        </p:spPr>
      </p:pic>
      <p:sp>
        <p:nvSpPr>
          <p:cNvPr id="31" name="Shape 27"/>
          <p:cNvSpPr/>
          <p:nvPr/>
        </p:nvSpPr>
        <p:spPr>
          <a:xfrm>
            <a:off x="358775" y="3495675"/>
            <a:ext cx="5581650" cy="2393950"/>
          </a:xfrm>
          <a:prstGeom prst="roundRect">
            <a:avLst>
              <a:gd name="adj" fmla="val 3581"/>
            </a:avLst>
          </a:prstGeom>
          <a:noFill/>
          <a:ln w="6350">
            <a:solidFill>
              <a:srgbClr val="22D3EE">
                <a:alpha val="70000"/>
              </a:srgbClr>
            </a:solidFill>
            <a:prstDash val="solid"/>
          </a:ln>
        </p:spPr>
      </p:sp>
      <p:sp>
        <p:nvSpPr>
          <p:cNvPr id="32" name="Shape 28"/>
          <p:cNvSpPr/>
          <p:nvPr/>
        </p:nvSpPr>
        <p:spPr>
          <a:xfrm>
            <a:off x="1143000" y="3581400"/>
            <a:ext cx="215900" cy="215900"/>
          </a:xfrm>
          <a:prstGeom prst="roundRect">
            <a:avLst>
              <a:gd name="adj" fmla="val 50000"/>
            </a:avLst>
          </a:prstGeom>
          <a:solidFill>
            <a:srgbClr val="22D3EE"/>
          </a:solidFill>
          <a:ln/>
          <a:effectLst>
            <a:outerShdw blurRad="25400" dir="60000" algn="bl" rotWithShape="0">
              <a:srgbClr val="0A0F16">
                <a:alpha val="85000"/>
              </a:srgbClr>
            </a:outerShdw>
          </a:effectLst>
        </p:spPr>
      </p:sp>
      <p:sp>
        <p:nvSpPr>
          <p:cNvPr id="33" name="Text 29"/>
          <p:cNvSpPr/>
          <p:nvPr/>
        </p:nvSpPr>
        <p:spPr>
          <a:xfrm>
            <a:off x="2025650" y="354965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2</a:t>
            </a:r>
            <a:endParaRPr lang="en-US" sz="1200" dirty="0"/>
          </a:p>
        </p:txBody>
      </p:sp>
      <p:sp>
        <p:nvSpPr>
          <p:cNvPr id="34" name="Text 30"/>
          <p:cNvSpPr/>
          <p:nvPr/>
        </p:nvSpPr>
        <p:spPr>
          <a:xfrm>
            <a:off x="2870200" y="354965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3</a:t>
            </a:r>
            <a:endParaRPr lang="en-US" sz="1200" dirty="0"/>
          </a:p>
        </p:txBody>
      </p:sp>
      <p:sp>
        <p:nvSpPr>
          <p:cNvPr id="35" name="Text 31"/>
          <p:cNvSpPr/>
          <p:nvPr/>
        </p:nvSpPr>
        <p:spPr>
          <a:xfrm>
            <a:off x="4953000" y="3737612"/>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4</a:t>
            </a:r>
            <a:endParaRPr lang="en-US" sz="1200" dirty="0"/>
          </a:p>
        </p:txBody>
      </p:sp>
      <p:sp>
        <p:nvSpPr>
          <p:cNvPr id="36" name="Text 32"/>
          <p:cNvSpPr/>
          <p:nvPr/>
        </p:nvSpPr>
        <p:spPr>
          <a:xfrm>
            <a:off x="1600200" y="490855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5</a:t>
            </a:r>
            <a:endParaRPr lang="en-US" sz="1200" dirty="0"/>
          </a:p>
        </p:txBody>
      </p:sp>
      <p:sp>
        <p:nvSpPr>
          <p:cNvPr id="37" name="Text 33"/>
          <p:cNvSpPr/>
          <p:nvPr/>
        </p:nvSpPr>
        <p:spPr>
          <a:xfrm>
            <a:off x="4425950" y="460375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6</a:t>
            </a:r>
            <a:endParaRPr lang="en-US" sz="1200" dirty="0"/>
          </a:p>
        </p:txBody>
      </p:sp>
      <p:sp>
        <p:nvSpPr>
          <p:cNvPr id="38" name="Shape 34"/>
          <p:cNvSpPr/>
          <p:nvPr/>
        </p:nvSpPr>
        <p:spPr>
          <a:xfrm>
            <a:off x="6175375" y="3495675"/>
            <a:ext cx="5657850" cy="2393950"/>
          </a:xfrm>
          <a:prstGeom prst="roundRect">
            <a:avLst>
              <a:gd name="adj" fmla="val 4642"/>
            </a:avLst>
          </a:prstGeom>
          <a:solidFill>
            <a:srgbClr val="111923"/>
          </a:solidFill>
          <a:ln w="6350">
            <a:solidFill>
              <a:srgbClr val="2A3647"/>
            </a:solidFill>
            <a:prstDash val="solid"/>
          </a:ln>
        </p:spPr>
      </p:sp>
      <p:sp>
        <p:nvSpPr>
          <p:cNvPr id="39" name="Shape 35"/>
          <p:cNvSpPr/>
          <p:nvPr/>
        </p:nvSpPr>
        <p:spPr>
          <a:xfrm>
            <a:off x="6316980" y="3874772"/>
            <a:ext cx="5374640" cy="0"/>
          </a:xfrm>
          <a:prstGeom prst="line">
            <a:avLst/>
          </a:prstGeom>
          <a:noFill/>
          <a:ln w="12700">
            <a:solidFill>
              <a:srgbClr val="22D3EE">
                <a:alpha val="35000"/>
              </a:srgbClr>
            </a:solidFill>
            <a:prstDash val="solid"/>
          </a:ln>
        </p:spPr>
      </p:sp>
      <p:sp>
        <p:nvSpPr>
          <p:cNvPr id="40" name="Text 36"/>
          <p:cNvSpPr/>
          <p:nvPr/>
        </p:nvSpPr>
        <p:spPr>
          <a:xfrm>
            <a:off x="6316980" y="3586482"/>
            <a:ext cx="5535879"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22D3EE"/>
                </a:solidFill>
                <a:latin typeface="IBM Plex Sans" pitchFamily="34" charset="0"/>
                <a:ea typeface="IBM Plex Sans" pitchFamily="34" charset="-122"/>
                <a:cs typeface="IBM Plex Sans" pitchFamily="34" charset="-120"/>
              </a:rPr>
              <a:t>Real-Time Telemetry &amp; Signal Quality</a:t>
            </a:r>
            <a:endParaRPr lang="en-US" sz="1600" dirty="0"/>
          </a:p>
        </p:txBody>
      </p:sp>
      <p:sp>
        <p:nvSpPr>
          <p:cNvPr id="41" name="Text 37"/>
          <p:cNvSpPr/>
          <p:nvPr/>
        </p:nvSpPr>
        <p:spPr>
          <a:xfrm>
            <a:off x="6316980" y="39192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1</a:t>
            </a:r>
            <a:endParaRPr lang="en-US" sz="1200" dirty="0"/>
          </a:p>
        </p:txBody>
      </p:sp>
      <p:sp>
        <p:nvSpPr>
          <p:cNvPr id="42" name="Text 38"/>
          <p:cNvSpPr/>
          <p:nvPr/>
        </p:nvSpPr>
        <p:spPr>
          <a:xfrm>
            <a:off x="6609080" y="39204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Current Glucose:</a:t>
            </a:r>
            <a:r>
              <a:rPr lang="en-US" sz="1200" dirty="0">
                <a:solidFill>
                  <a:srgbClr val="C3CEDA"/>
                </a:solidFill>
                <a:latin typeface="IBM Plex Sans" pitchFamily="34" charset="0"/>
                <a:ea typeface="IBM Plex Sans" pitchFamily="34" charset="-122"/>
                <a:cs typeface="IBM Plex Sans" pitchFamily="34" charset="-120"/>
              </a:rPr>
              <a:t> 113 mg/dL (live reading)</a:t>
            </a:r>
            <a:endParaRPr lang="en-US" sz="1200" dirty="0"/>
          </a:p>
        </p:txBody>
      </p:sp>
      <p:sp>
        <p:nvSpPr>
          <p:cNvPr id="43" name="Text 39"/>
          <p:cNvSpPr/>
          <p:nvPr/>
        </p:nvSpPr>
        <p:spPr>
          <a:xfrm>
            <a:off x="6316980" y="41732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2</a:t>
            </a:r>
            <a:endParaRPr lang="en-US" sz="1200" dirty="0"/>
          </a:p>
        </p:txBody>
      </p:sp>
      <p:sp>
        <p:nvSpPr>
          <p:cNvPr id="44" name="Text 40"/>
          <p:cNvSpPr/>
          <p:nvPr/>
        </p:nvSpPr>
        <p:spPr>
          <a:xfrm>
            <a:off x="6609080" y="41744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Glucose Slope:</a:t>
            </a:r>
            <a:r>
              <a:rPr lang="en-US" sz="1200" dirty="0">
                <a:solidFill>
                  <a:srgbClr val="C3CEDA"/>
                </a:solidFill>
                <a:latin typeface="IBM Plex Sans" pitchFamily="34" charset="0"/>
                <a:ea typeface="IBM Plex Sans" pitchFamily="34" charset="-122"/>
                <a:cs typeface="IBM Plex Sans" pitchFamily="34" charset="-120"/>
              </a:rPr>
              <a:t> 0.16 mg/dL/min (stable trend)</a:t>
            </a:r>
            <a:endParaRPr lang="en-US" sz="1200" dirty="0"/>
          </a:p>
        </p:txBody>
      </p:sp>
      <p:sp>
        <p:nvSpPr>
          <p:cNvPr id="45" name="Text 41"/>
          <p:cNvSpPr/>
          <p:nvPr/>
        </p:nvSpPr>
        <p:spPr>
          <a:xfrm>
            <a:off x="6316980" y="44272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3</a:t>
            </a:r>
            <a:endParaRPr lang="en-US" sz="1200" dirty="0"/>
          </a:p>
        </p:txBody>
      </p:sp>
      <p:sp>
        <p:nvSpPr>
          <p:cNvPr id="46" name="Text 42"/>
          <p:cNvSpPr/>
          <p:nvPr/>
        </p:nvSpPr>
        <p:spPr>
          <a:xfrm>
            <a:off x="6609080" y="44284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Heart Rate:</a:t>
            </a:r>
            <a:r>
              <a:rPr lang="en-US" sz="1200" dirty="0">
                <a:solidFill>
                  <a:srgbClr val="C3CEDA"/>
                </a:solidFill>
                <a:latin typeface="IBM Plex Sans" pitchFamily="34" charset="0"/>
                <a:ea typeface="IBM Plex Sans" pitchFamily="34" charset="-122"/>
                <a:cs typeface="IBM Plex Sans" pitchFamily="34" charset="-120"/>
              </a:rPr>
              <a:t> 66 bpm (resting)</a:t>
            </a:r>
            <a:endParaRPr lang="en-US" sz="1200" dirty="0"/>
          </a:p>
        </p:txBody>
      </p:sp>
      <p:sp>
        <p:nvSpPr>
          <p:cNvPr id="47" name="Text 43"/>
          <p:cNvSpPr/>
          <p:nvPr/>
        </p:nvSpPr>
        <p:spPr>
          <a:xfrm>
            <a:off x="6316980" y="46812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4</a:t>
            </a:r>
            <a:endParaRPr lang="en-US" sz="1200" dirty="0"/>
          </a:p>
        </p:txBody>
      </p:sp>
      <p:sp>
        <p:nvSpPr>
          <p:cNvPr id="48" name="Text 44"/>
          <p:cNvSpPr/>
          <p:nvPr/>
        </p:nvSpPr>
        <p:spPr>
          <a:xfrm>
            <a:off x="6609080" y="46824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Signal Integrity:</a:t>
            </a:r>
            <a:r>
              <a:rPr lang="en-US" sz="1200" dirty="0">
                <a:solidFill>
                  <a:srgbClr val="C3CEDA"/>
                </a:solidFill>
                <a:latin typeface="IBM Plex Sans" pitchFamily="34" charset="0"/>
                <a:ea typeface="IBM Plex Sans" pitchFamily="34" charset="-122"/>
                <a:cs typeface="IBM Plex Sans" pitchFamily="34" charset="-120"/>
              </a:rPr>
              <a:t> CGM connected, 0% missing data</a:t>
            </a:r>
            <a:endParaRPr lang="en-US" sz="1200" dirty="0"/>
          </a:p>
        </p:txBody>
      </p:sp>
      <p:sp>
        <p:nvSpPr>
          <p:cNvPr id="49" name="Text 45"/>
          <p:cNvSpPr/>
          <p:nvPr/>
        </p:nvSpPr>
        <p:spPr>
          <a:xfrm>
            <a:off x="6316980" y="49352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5</a:t>
            </a:r>
            <a:endParaRPr lang="en-US" sz="1200" dirty="0"/>
          </a:p>
        </p:txBody>
      </p:sp>
      <p:sp>
        <p:nvSpPr>
          <p:cNvPr id="50" name="Text 46"/>
          <p:cNvSpPr/>
          <p:nvPr/>
        </p:nvSpPr>
        <p:spPr>
          <a:xfrm>
            <a:off x="6609080" y="49364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Replay History chart:</a:t>
            </a:r>
            <a:r>
              <a:rPr lang="en-US" sz="1200" dirty="0">
                <a:solidFill>
                  <a:srgbClr val="C3CEDA"/>
                </a:solidFill>
                <a:latin typeface="IBM Plex Sans" pitchFamily="34" charset="0"/>
                <a:ea typeface="IBM Plex Sans" pitchFamily="34" charset="-122"/>
                <a:cs typeface="IBM Plex Sans" pitchFamily="34" charset="-120"/>
              </a:rPr>
              <a:t> Past observed glucose curve</a:t>
            </a:r>
            <a:endParaRPr lang="en-US" sz="1200" dirty="0"/>
          </a:p>
        </p:txBody>
      </p:sp>
      <p:sp>
        <p:nvSpPr>
          <p:cNvPr id="51" name="Text 47"/>
          <p:cNvSpPr/>
          <p:nvPr/>
        </p:nvSpPr>
        <p:spPr>
          <a:xfrm>
            <a:off x="6316980" y="51892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2D3EE"/>
          </a:solidFill>
          <a:ln/>
        </p:spPr>
        <p:txBody>
          <a:bodyPr wrap="square" lIns="0" tIns="0" rIns="0" bIns="0" rtlCol="0" anchor="t">
            <a:normAutofit/>
          </a:bodyPr>
          <a:lstStyle/>
          <a:p>
            <a:pPr marL="0" indent="0" algn="ctr">
              <a:lnSpc>
                <a:spcPts val="1704"/>
              </a:lnSpc>
              <a:buNone/>
            </a:pPr>
            <a:r>
              <a:rPr lang="en-US" sz="1200" b="1" dirty="0">
                <a:solidFill>
                  <a:srgbClr val="04222A"/>
                </a:solidFill>
                <a:latin typeface="IBM Plex Sans" pitchFamily="34" charset="0"/>
                <a:ea typeface="IBM Plex Sans" pitchFamily="34" charset="-122"/>
                <a:cs typeface="IBM Plex Sans" pitchFamily="34" charset="-120"/>
              </a:rPr>
              <a:t>6</a:t>
            </a:r>
            <a:endParaRPr lang="en-US" sz="1200" dirty="0"/>
          </a:p>
        </p:txBody>
      </p:sp>
      <p:sp>
        <p:nvSpPr>
          <p:cNvPr id="52" name="Text 48"/>
          <p:cNvSpPr/>
          <p:nvPr/>
        </p:nvSpPr>
        <p:spPr>
          <a:xfrm>
            <a:off x="6609080" y="5190489"/>
            <a:ext cx="523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Observed Drivers:</a:t>
            </a:r>
            <a:r>
              <a:rPr lang="en-US" sz="1200" dirty="0">
                <a:solidFill>
                  <a:srgbClr val="C3CEDA"/>
                </a:solidFill>
                <a:latin typeface="IBM Plex Sans" pitchFamily="34" charset="0"/>
                <a:ea typeface="IBM Plex Sans" pitchFamily="34" charset="-122"/>
                <a:cs typeface="IBM Plex Sans" pitchFamily="34" charset="-120"/>
              </a:rPr>
              <a:t> Context signals (not causal explanations)</a:t>
            </a:r>
            <a:endParaRPr lang="en-US" sz="1200" dirty="0"/>
          </a:p>
        </p:txBody>
      </p:sp>
      <p:sp>
        <p:nvSpPr>
          <p:cNvPr id="53" name="Text 49"/>
          <p:cNvSpPr/>
          <p:nvPr/>
        </p:nvSpPr>
        <p:spPr>
          <a:xfrm>
            <a:off x="1117600" y="3610452"/>
            <a:ext cx="266700" cy="212011"/>
          </a:xfrm>
          <a:prstGeom prst="rect">
            <a:avLst/>
          </a:prstGeom>
          <a:noFill/>
          <a:ln/>
        </p:spPr>
        <p:txBody>
          <a:bodyPr wrap="square" lIns="0" tIns="0" rIns="0" bIns="0" rtlCol="0" anchor="t">
            <a:normAutofit/>
          </a:bodyPr>
          <a:lstStyle/>
          <a:p>
            <a:pPr marL="0" indent="0" algn="ctr">
              <a:lnSpc>
                <a:spcPts val="1470"/>
              </a:lnSpc>
              <a:buNone/>
            </a:pPr>
            <a:r>
              <a:rPr lang="en-US" sz="1035" b="1" dirty="0">
                <a:solidFill>
                  <a:srgbClr val="04222A"/>
                </a:solidFill>
                <a:latin typeface="IBM Plex Sans" pitchFamily="34" charset="0"/>
                <a:ea typeface="IBM Plex Sans" pitchFamily="34" charset="-122"/>
                <a:cs typeface="IBM Plex Sans" pitchFamily="34" charset="-120"/>
              </a:rPr>
              <a:t>1</a:t>
            </a:r>
            <a:endParaRPr lang="en-US" sz="103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55600" y="279400"/>
            <a:ext cx="355600" cy="50800"/>
          </a:xfrm>
          <a:prstGeom prst="roundRect">
            <a:avLst>
              <a:gd name="adj" fmla="val 50000"/>
            </a:avLst>
          </a:prstGeom>
          <a:solidFill>
            <a:srgbClr val="2DD4BF"/>
          </a:solidFill>
          <a:ln/>
        </p:spPr>
      </p:sp>
      <p:sp>
        <p:nvSpPr>
          <p:cNvPr id="3" name="Shape 1"/>
          <p:cNvSpPr/>
          <p:nvPr/>
        </p:nvSpPr>
        <p:spPr>
          <a:xfrm>
            <a:off x="762000" y="279400"/>
            <a:ext cx="355600" cy="50800"/>
          </a:xfrm>
          <a:prstGeom prst="roundRect">
            <a:avLst>
              <a:gd name="adj" fmla="val 50000"/>
            </a:avLst>
          </a:prstGeom>
          <a:solidFill>
            <a:srgbClr val="22D3EE"/>
          </a:solidFill>
          <a:ln/>
        </p:spPr>
      </p:sp>
      <p:sp>
        <p:nvSpPr>
          <p:cNvPr id="4" name="Shape 2"/>
          <p:cNvSpPr/>
          <p:nvPr/>
        </p:nvSpPr>
        <p:spPr>
          <a:xfrm>
            <a:off x="1168400" y="279400"/>
            <a:ext cx="355600" cy="50800"/>
          </a:xfrm>
          <a:prstGeom prst="roundRect">
            <a:avLst>
              <a:gd name="adj" fmla="val 50000"/>
            </a:avLst>
          </a:prstGeom>
          <a:solidFill>
            <a:srgbClr val="A78BFA"/>
          </a:solidFill>
          <a:ln/>
        </p:spPr>
      </p:sp>
      <p:sp>
        <p:nvSpPr>
          <p:cNvPr id="5" name="Text 3"/>
          <p:cNvSpPr>
            <a:spLocks noGrp="1"/>
          </p:cNvSpPr>
          <p:nvPr>
            <p:ph type="title"/>
          </p:nvPr>
        </p:nvSpPr>
        <p:spPr>
          <a:xfrm>
            <a:off x="355600" y="393700"/>
            <a:ext cx="11825224" cy="41656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F1F5F9"/>
                </a:solidFill>
                <a:latin typeface="IBM Plex Sans" pitchFamily="34" charset="0"/>
                <a:ea typeface="IBM Plex Sans" pitchFamily="34" charset="-122"/>
                <a:cs typeface="IBM Plex Sans" pitchFamily="34" charset="-120"/>
              </a:rPr>
              <a:t>Forward Forecast: Conformal Prediction in Action</a:t>
            </a:r>
            <a:endParaRPr lang="en-US" sz="2800" dirty="0"/>
          </a:p>
        </p:txBody>
      </p:sp>
      <p:pic>
        <p:nvPicPr>
          <p:cNvPr id="6" name="Image 0" descr="Glucose forecast screenshot: 120-minute incident risk 0.0%, sampled peak 107 mg/dL, 90% interval target, three calibrated forecast heads with a shaded interval band and a dashed 180 threshold"/>
          <p:cNvPicPr>
            <a:picLocks noChangeAspect="1"/>
          </p:cNvPicPr>
          <p:nvPr/>
        </p:nvPicPr>
        <p:blipFill>
          <a:blip r:embed="rId3"/>
          <a:srcRect t="89" b="89"/>
          <a:stretch/>
        </p:blipFill>
        <p:spPr>
          <a:xfrm>
            <a:off x="361950" y="918211"/>
            <a:ext cx="6591300" cy="3956050"/>
          </a:xfrm>
          <a:prstGeom prst="roundRect">
            <a:avLst>
              <a:gd name="adj" fmla="val 2087"/>
            </a:avLst>
          </a:prstGeom>
          <a:effectLst>
            <a:outerShdw blurRad="254000" dir="60000" algn="bl" rotWithShape="0">
              <a:srgbClr val="2DD4BF">
                <a:alpha val="30000"/>
              </a:srgbClr>
            </a:outerShdw>
          </a:effectLst>
        </p:spPr>
      </p:pic>
      <p:sp>
        <p:nvSpPr>
          <p:cNvPr id="7" name="Shape 4"/>
          <p:cNvSpPr/>
          <p:nvPr/>
        </p:nvSpPr>
        <p:spPr>
          <a:xfrm>
            <a:off x="358775" y="915036"/>
            <a:ext cx="6597650" cy="3962400"/>
          </a:xfrm>
          <a:prstGeom prst="roundRect">
            <a:avLst>
              <a:gd name="adj" fmla="val 2163"/>
            </a:avLst>
          </a:prstGeom>
          <a:noFill/>
          <a:ln w="6350">
            <a:solidFill>
              <a:srgbClr val="2DD4BF">
                <a:alpha val="70000"/>
              </a:srgbClr>
            </a:solidFill>
            <a:prstDash val="solid"/>
          </a:ln>
        </p:spPr>
      </p:sp>
      <p:sp>
        <p:nvSpPr>
          <p:cNvPr id="8" name="Text 5"/>
          <p:cNvSpPr/>
          <p:nvPr/>
        </p:nvSpPr>
        <p:spPr>
          <a:xfrm>
            <a:off x="2336800" y="15024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1</a:t>
            </a:r>
            <a:endParaRPr lang="en-US" sz="1200" dirty="0"/>
          </a:p>
        </p:txBody>
      </p:sp>
      <p:sp>
        <p:nvSpPr>
          <p:cNvPr id="9" name="Text 6"/>
          <p:cNvSpPr/>
          <p:nvPr/>
        </p:nvSpPr>
        <p:spPr>
          <a:xfrm>
            <a:off x="4476750" y="15024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2</a:t>
            </a:r>
            <a:endParaRPr lang="en-US" sz="1200" dirty="0"/>
          </a:p>
        </p:txBody>
      </p:sp>
      <p:sp>
        <p:nvSpPr>
          <p:cNvPr id="10" name="Text 7"/>
          <p:cNvSpPr/>
          <p:nvPr/>
        </p:nvSpPr>
        <p:spPr>
          <a:xfrm>
            <a:off x="6623050" y="15024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3</a:t>
            </a:r>
            <a:endParaRPr lang="en-US" sz="1200" dirty="0"/>
          </a:p>
        </p:txBody>
      </p:sp>
      <p:sp>
        <p:nvSpPr>
          <p:cNvPr id="11" name="Text 8"/>
          <p:cNvSpPr/>
          <p:nvPr/>
        </p:nvSpPr>
        <p:spPr>
          <a:xfrm>
            <a:off x="3613150" y="27533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4</a:t>
            </a:r>
            <a:endParaRPr lang="en-US" sz="1200" dirty="0"/>
          </a:p>
        </p:txBody>
      </p:sp>
      <p:sp>
        <p:nvSpPr>
          <p:cNvPr id="12" name="Text 9"/>
          <p:cNvSpPr/>
          <p:nvPr/>
        </p:nvSpPr>
        <p:spPr>
          <a:xfrm>
            <a:off x="5473700" y="32423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5</a:t>
            </a:r>
            <a:endParaRPr lang="en-US" sz="1200" dirty="0"/>
          </a:p>
        </p:txBody>
      </p:sp>
      <p:sp>
        <p:nvSpPr>
          <p:cNvPr id="13" name="Text 10"/>
          <p:cNvSpPr/>
          <p:nvPr/>
        </p:nvSpPr>
        <p:spPr>
          <a:xfrm>
            <a:off x="5124450" y="26327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6</a:t>
            </a:r>
            <a:endParaRPr lang="en-US" sz="1200" dirty="0"/>
          </a:p>
        </p:txBody>
      </p:sp>
      <p:sp>
        <p:nvSpPr>
          <p:cNvPr id="14" name="Text 11"/>
          <p:cNvSpPr/>
          <p:nvPr/>
        </p:nvSpPr>
        <p:spPr>
          <a:xfrm>
            <a:off x="3835400" y="39154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7</a:t>
            </a:r>
            <a:endParaRPr lang="en-US" sz="1200" dirty="0"/>
          </a:p>
        </p:txBody>
      </p:sp>
      <p:sp>
        <p:nvSpPr>
          <p:cNvPr id="15" name="Text 12"/>
          <p:cNvSpPr/>
          <p:nvPr/>
        </p:nvSpPr>
        <p:spPr>
          <a:xfrm>
            <a:off x="355600" y="4982211"/>
            <a:ext cx="68021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3A3B5"/>
                </a:solidFill>
                <a:latin typeface="JetBrains Mono" pitchFamily="49" charset="0"/>
                <a:ea typeface="JetBrains Mono" pitchFamily="49" charset="-122"/>
                <a:cs typeface="JetBrains Mono" pitchFamily="49" charset="-120"/>
              </a:rPr>
              <a:t>KEY NUMBERS</a:t>
            </a:r>
            <a:endParaRPr lang="en-US" sz="1200" dirty="0"/>
          </a:p>
        </p:txBody>
      </p:sp>
      <p:sp>
        <p:nvSpPr>
          <p:cNvPr id="16" name="Shape 13"/>
          <p:cNvSpPr/>
          <p:nvPr/>
        </p:nvSpPr>
        <p:spPr>
          <a:xfrm>
            <a:off x="358775" y="5249546"/>
            <a:ext cx="2127250" cy="900430"/>
          </a:xfrm>
          <a:prstGeom prst="roundRect">
            <a:avLst>
              <a:gd name="adj" fmla="val 10931"/>
            </a:avLst>
          </a:prstGeom>
          <a:gradFill rotWithShape="1">
            <a:gsLst>
              <a:gs pos="0">
                <a:srgbClr val="2DD4BF">
                  <a:alpha val="12000"/>
                </a:srgbClr>
              </a:gs>
              <a:gs pos="55000">
                <a:srgbClr val="111923"/>
              </a:gs>
            </a:gsLst>
            <a:lin ang="4200000" scaled="0"/>
          </a:gradFill>
          <a:ln w="6350">
            <a:solidFill>
              <a:srgbClr val="2DD4BF">
                <a:alpha val="55000"/>
              </a:srgbClr>
            </a:solidFill>
            <a:prstDash val="solid"/>
          </a:ln>
          <a:effectLst>
            <a:outerShdw blurRad="152400" dir="60000" algn="bl" rotWithShape="0">
              <a:srgbClr val="2DD4BF">
                <a:alpha val="16000"/>
              </a:srgbClr>
            </a:outerShdw>
          </a:effectLst>
        </p:spPr>
      </p:sp>
      <p:sp>
        <p:nvSpPr>
          <p:cNvPr id="17" name="Text 14"/>
          <p:cNvSpPr/>
          <p:nvPr/>
        </p:nvSpPr>
        <p:spPr>
          <a:xfrm>
            <a:off x="487680" y="5327650"/>
            <a:ext cx="19255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DD4BF"/>
                </a:solidFill>
                <a:latin typeface="JetBrains Mono" pitchFamily="49" charset="0"/>
                <a:ea typeface="JetBrains Mono" pitchFamily="49" charset="-122"/>
                <a:cs typeface="JetBrains Mono" pitchFamily="49" charset="-120"/>
              </a:rPr>
              <a:t>30 MIN</a:t>
            </a:r>
            <a:endParaRPr lang="en-US" sz="1200" dirty="0"/>
          </a:p>
        </p:txBody>
      </p:sp>
      <p:sp>
        <p:nvSpPr>
          <p:cNvPr id="18" name="Text 15"/>
          <p:cNvSpPr/>
          <p:nvPr/>
        </p:nvSpPr>
        <p:spPr>
          <a:xfrm>
            <a:off x="487680" y="5553711"/>
            <a:ext cx="192552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107 </a:t>
            </a:r>
            <a:r>
              <a:rPr lang="en-US" sz="2000" b="1" dirty="0">
                <a:solidFill>
                  <a:srgbClr val="93A3B5"/>
                </a:solidFill>
                <a:latin typeface="IBM Plex Sans" pitchFamily="34" charset="0"/>
                <a:ea typeface="IBM Plex Sans" pitchFamily="34" charset="-122"/>
                <a:cs typeface="IBM Plex Sans" pitchFamily="34" charset="-120"/>
              </a:rPr>
              <a:t>mg/dL</a:t>
            </a:r>
            <a:endParaRPr lang="en-US" sz="2000" dirty="0"/>
          </a:p>
        </p:txBody>
      </p:sp>
      <p:sp>
        <p:nvSpPr>
          <p:cNvPr id="19" name="Text 16"/>
          <p:cNvSpPr/>
          <p:nvPr/>
        </p:nvSpPr>
        <p:spPr>
          <a:xfrm>
            <a:off x="487680" y="5858511"/>
            <a:ext cx="19255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Range </a:t>
            </a:r>
            <a:r>
              <a:rPr lang="en-US" sz="1200" b="1" dirty="0">
                <a:solidFill>
                  <a:srgbClr val="F1F5F9"/>
                </a:solidFill>
                <a:latin typeface="IBM Plex Sans" pitchFamily="34" charset="0"/>
                <a:ea typeface="IBM Plex Sans" pitchFamily="34" charset="-122"/>
                <a:cs typeface="IBM Plex Sans" pitchFamily="34" charset="-120"/>
              </a:rPr>
              <a:t>92–122 mg/dL</a:t>
            </a:r>
            <a:endParaRPr lang="en-US" sz="1200" dirty="0"/>
          </a:p>
        </p:txBody>
      </p:sp>
      <p:sp>
        <p:nvSpPr>
          <p:cNvPr id="20" name="Shape 17"/>
          <p:cNvSpPr/>
          <p:nvPr/>
        </p:nvSpPr>
        <p:spPr>
          <a:xfrm>
            <a:off x="2593975" y="5249546"/>
            <a:ext cx="2127250" cy="900430"/>
          </a:xfrm>
          <a:prstGeom prst="roundRect">
            <a:avLst>
              <a:gd name="adj" fmla="val 10931"/>
            </a:avLst>
          </a:prstGeom>
          <a:gradFill rotWithShape="1">
            <a:gsLst>
              <a:gs pos="0">
                <a:srgbClr val="2DD4BF">
                  <a:alpha val="12000"/>
                </a:srgbClr>
              </a:gs>
              <a:gs pos="55000">
                <a:srgbClr val="111923"/>
              </a:gs>
            </a:gsLst>
            <a:lin ang="4200000" scaled="0"/>
          </a:gradFill>
          <a:ln w="6350">
            <a:solidFill>
              <a:srgbClr val="2DD4BF">
                <a:alpha val="55000"/>
              </a:srgbClr>
            </a:solidFill>
            <a:prstDash val="solid"/>
          </a:ln>
          <a:effectLst>
            <a:outerShdw blurRad="152400" dir="60000" algn="bl" rotWithShape="0">
              <a:srgbClr val="2DD4BF">
                <a:alpha val="16000"/>
              </a:srgbClr>
            </a:outerShdw>
          </a:effectLst>
        </p:spPr>
      </p:sp>
      <p:sp>
        <p:nvSpPr>
          <p:cNvPr id="21" name="Text 18"/>
          <p:cNvSpPr/>
          <p:nvPr/>
        </p:nvSpPr>
        <p:spPr>
          <a:xfrm>
            <a:off x="2722880" y="5327650"/>
            <a:ext cx="19255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DD4BF"/>
                </a:solidFill>
                <a:latin typeface="JetBrains Mono" pitchFamily="49" charset="0"/>
                <a:ea typeface="JetBrains Mono" pitchFamily="49" charset="-122"/>
                <a:cs typeface="JetBrains Mono" pitchFamily="49" charset="-120"/>
              </a:rPr>
              <a:t>60 MIN</a:t>
            </a:r>
            <a:endParaRPr lang="en-US" sz="1200" dirty="0"/>
          </a:p>
        </p:txBody>
      </p:sp>
      <p:sp>
        <p:nvSpPr>
          <p:cNvPr id="22" name="Text 19"/>
          <p:cNvSpPr/>
          <p:nvPr/>
        </p:nvSpPr>
        <p:spPr>
          <a:xfrm>
            <a:off x="2722880" y="5553711"/>
            <a:ext cx="192552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105 </a:t>
            </a:r>
            <a:r>
              <a:rPr lang="en-US" sz="2000" b="1" dirty="0">
                <a:solidFill>
                  <a:srgbClr val="93A3B5"/>
                </a:solidFill>
                <a:latin typeface="IBM Plex Sans" pitchFamily="34" charset="0"/>
                <a:ea typeface="IBM Plex Sans" pitchFamily="34" charset="-122"/>
                <a:cs typeface="IBM Plex Sans" pitchFamily="34" charset="-120"/>
              </a:rPr>
              <a:t>mg/dL</a:t>
            </a:r>
            <a:endParaRPr lang="en-US" sz="2000" dirty="0"/>
          </a:p>
        </p:txBody>
      </p:sp>
      <p:sp>
        <p:nvSpPr>
          <p:cNvPr id="23" name="Text 20"/>
          <p:cNvSpPr/>
          <p:nvPr/>
        </p:nvSpPr>
        <p:spPr>
          <a:xfrm>
            <a:off x="2722880" y="5858511"/>
            <a:ext cx="19255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Range </a:t>
            </a:r>
            <a:r>
              <a:rPr lang="en-US" sz="1200" b="1" dirty="0">
                <a:solidFill>
                  <a:srgbClr val="F1F5F9"/>
                </a:solidFill>
                <a:latin typeface="IBM Plex Sans" pitchFamily="34" charset="0"/>
                <a:ea typeface="IBM Plex Sans" pitchFamily="34" charset="-122"/>
                <a:cs typeface="IBM Plex Sans" pitchFamily="34" charset="-120"/>
              </a:rPr>
              <a:t>89–121 mg/dL</a:t>
            </a:r>
            <a:endParaRPr lang="en-US" sz="1200" dirty="0"/>
          </a:p>
        </p:txBody>
      </p:sp>
      <p:sp>
        <p:nvSpPr>
          <p:cNvPr id="24" name="Shape 21"/>
          <p:cNvSpPr/>
          <p:nvPr/>
        </p:nvSpPr>
        <p:spPr>
          <a:xfrm>
            <a:off x="4829175" y="5249546"/>
            <a:ext cx="2127250" cy="900430"/>
          </a:xfrm>
          <a:prstGeom prst="roundRect">
            <a:avLst>
              <a:gd name="adj" fmla="val 10931"/>
            </a:avLst>
          </a:prstGeom>
          <a:gradFill rotWithShape="1">
            <a:gsLst>
              <a:gs pos="0">
                <a:srgbClr val="2DD4BF">
                  <a:alpha val="12000"/>
                </a:srgbClr>
              </a:gs>
              <a:gs pos="55000">
                <a:srgbClr val="111923"/>
              </a:gs>
            </a:gsLst>
            <a:lin ang="4200000" scaled="0"/>
          </a:gradFill>
          <a:ln w="6350">
            <a:solidFill>
              <a:srgbClr val="2DD4BF">
                <a:alpha val="55000"/>
              </a:srgbClr>
            </a:solidFill>
            <a:prstDash val="solid"/>
          </a:ln>
          <a:effectLst>
            <a:outerShdw blurRad="152400" dir="60000" algn="bl" rotWithShape="0">
              <a:srgbClr val="2DD4BF">
                <a:alpha val="16000"/>
              </a:srgbClr>
            </a:outerShdw>
          </a:effectLst>
        </p:spPr>
      </p:sp>
      <p:sp>
        <p:nvSpPr>
          <p:cNvPr id="25" name="Text 22"/>
          <p:cNvSpPr/>
          <p:nvPr/>
        </p:nvSpPr>
        <p:spPr>
          <a:xfrm>
            <a:off x="4958080" y="5327650"/>
            <a:ext cx="192552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DD4BF"/>
                </a:solidFill>
                <a:latin typeface="JetBrains Mono" pitchFamily="49" charset="0"/>
                <a:ea typeface="JetBrains Mono" pitchFamily="49" charset="-122"/>
                <a:cs typeface="JetBrains Mono" pitchFamily="49" charset="-120"/>
              </a:rPr>
              <a:t>120 MIN</a:t>
            </a:r>
            <a:endParaRPr lang="en-US" sz="1200" dirty="0"/>
          </a:p>
        </p:txBody>
      </p:sp>
      <p:sp>
        <p:nvSpPr>
          <p:cNvPr id="26" name="Text 23"/>
          <p:cNvSpPr/>
          <p:nvPr/>
        </p:nvSpPr>
        <p:spPr>
          <a:xfrm>
            <a:off x="4958080" y="5553711"/>
            <a:ext cx="1925523"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104 </a:t>
            </a:r>
            <a:r>
              <a:rPr lang="en-US" sz="2000" b="1" dirty="0">
                <a:solidFill>
                  <a:srgbClr val="93A3B5"/>
                </a:solidFill>
                <a:latin typeface="IBM Plex Sans" pitchFamily="34" charset="0"/>
                <a:ea typeface="IBM Plex Sans" pitchFamily="34" charset="-122"/>
                <a:cs typeface="IBM Plex Sans" pitchFamily="34" charset="-120"/>
              </a:rPr>
              <a:t>mg/dL</a:t>
            </a:r>
            <a:endParaRPr lang="en-US" sz="2000" dirty="0"/>
          </a:p>
        </p:txBody>
      </p:sp>
      <p:sp>
        <p:nvSpPr>
          <p:cNvPr id="27" name="Text 24"/>
          <p:cNvSpPr/>
          <p:nvPr/>
        </p:nvSpPr>
        <p:spPr>
          <a:xfrm>
            <a:off x="4958080" y="5858511"/>
            <a:ext cx="19255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Range </a:t>
            </a:r>
            <a:r>
              <a:rPr lang="en-US" sz="1200" b="1" dirty="0">
                <a:solidFill>
                  <a:srgbClr val="F1F5F9"/>
                </a:solidFill>
                <a:latin typeface="IBM Plex Sans" pitchFamily="34" charset="0"/>
                <a:ea typeface="IBM Plex Sans" pitchFamily="34" charset="-122"/>
                <a:cs typeface="IBM Plex Sans" pitchFamily="34" charset="-120"/>
              </a:rPr>
              <a:t>86–121 mg/dL</a:t>
            </a:r>
            <a:endParaRPr lang="en-US" sz="1200" dirty="0"/>
          </a:p>
        </p:txBody>
      </p:sp>
      <p:sp>
        <p:nvSpPr>
          <p:cNvPr id="28" name="Shape 25"/>
          <p:cNvSpPr/>
          <p:nvPr/>
        </p:nvSpPr>
        <p:spPr>
          <a:xfrm>
            <a:off x="7191375" y="915036"/>
            <a:ext cx="4641850" cy="5234940"/>
          </a:xfrm>
          <a:prstGeom prst="roundRect">
            <a:avLst>
              <a:gd name="adj" fmla="val 2394"/>
            </a:avLst>
          </a:prstGeom>
          <a:solidFill>
            <a:srgbClr val="111923"/>
          </a:solidFill>
          <a:ln w="6350">
            <a:solidFill>
              <a:srgbClr val="2A3647"/>
            </a:solidFill>
            <a:prstDash val="solid"/>
          </a:ln>
        </p:spPr>
      </p:sp>
      <p:sp>
        <p:nvSpPr>
          <p:cNvPr id="29" name="Shape 26"/>
          <p:cNvSpPr/>
          <p:nvPr/>
        </p:nvSpPr>
        <p:spPr>
          <a:xfrm>
            <a:off x="7332980" y="1525269"/>
            <a:ext cx="4358640" cy="0"/>
          </a:xfrm>
          <a:prstGeom prst="line">
            <a:avLst/>
          </a:prstGeom>
          <a:noFill/>
          <a:ln w="12700">
            <a:solidFill>
              <a:srgbClr val="2DD4BF">
                <a:alpha val="35000"/>
              </a:srgbClr>
            </a:solidFill>
            <a:prstDash val="solid"/>
          </a:ln>
        </p:spPr>
      </p:sp>
      <p:sp>
        <p:nvSpPr>
          <p:cNvPr id="30" name="Text 27"/>
          <p:cNvSpPr/>
          <p:nvPr/>
        </p:nvSpPr>
        <p:spPr>
          <a:xfrm>
            <a:off x="7332980" y="1031239"/>
            <a:ext cx="4489399" cy="4521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DD4BF"/>
                </a:solidFill>
                <a:latin typeface="IBM Plex Sans" pitchFamily="34" charset="0"/>
                <a:ea typeface="IBM Plex Sans" pitchFamily="34" charset="-122"/>
                <a:cs typeface="IBM Plex Sans" pitchFamily="34" charset="-120"/>
              </a:rPr>
              <a:t>30 / 60 / 120 Minute Calibrated Forecast with 90% Confidence Band</a:t>
            </a:r>
            <a:endParaRPr lang="en-US" sz="1400" dirty="0"/>
          </a:p>
        </p:txBody>
      </p:sp>
      <p:sp>
        <p:nvSpPr>
          <p:cNvPr id="31" name="Text 28"/>
          <p:cNvSpPr/>
          <p:nvPr/>
        </p:nvSpPr>
        <p:spPr>
          <a:xfrm>
            <a:off x="7332980" y="16078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1</a:t>
            </a:r>
            <a:endParaRPr lang="en-US" sz="1200" dirty="0"/>
          </a:p>
        </p:txBody>
      </p:sp>
      <p:sp>
        <p:nvSpPr>
          <p:cNvPr id="32" name="Text 29"/>
          <p:cNvSpPr/>
          <p:nvPr/>
        </p:nvSpPr>
        <p:spPr>
          <a:xfrm>
            <a:off x="7625080" y="1607821"/>
            <a:ext cx="418853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120-Min Incident Risk: 0.0%</a:t>
            </a:r>
            <a:r>
              <a:rPr lang="en-US" sz="1200" dirty="0">
                <a:solidFill>
                  <a:srgbClr val="C3CEDA"/>
                </a:solidFill>
                <a:latin typeface="IBM Plex Sans" pitchFamily="34" charset="0"/>
                <a:ea typeface="IBM Plex Sans" pitchFamily="34" charset="-122"/>
                <a:cs typeface="IBM Plex Sans" pitchFamily="34" charset="-120"/>
              </a:rPr>
              <a:t> — No sustained hyperglycemia expected</a:t>
            </a:r>
            <a:endParaRPr lang="en-US" sz="1200" dirty="0"/>
          </a:p>
        </p:txBody>
      </p:sp>
      <p:sp>
        <p:nvSpPr>
          <p:cNvPr id="33" name="Text 30"/>
          <p:cNvSpPr/>
          <p:nvPr/>
        </p:nvSpPr>
        <p:spPr>
          <a:xfrm>
            <a:off x="7332980" y="2110739"/>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2</a:t>
            </a:r>
            <a:endParaRPr lang="en-US" sz="1200" dirty="0"/>
          </a:p>
        </p:txBody>
      </p:sp>
      <p:sp>
        <p:nvSpPr>
          <p:cNvPr id="34" name="Text 31"/>
          <p:cNvSpPr/>
          <p:nvPr/>
        </p:nvSpPr>
        <p:spPr>
          <a:xfrm>
            <a:off x="7625080" y="2110739"/>
            <a:ext cx="418853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Sampled Peak: 107 mg/dL</a:t>
            </a:r>
            <a:r>
              <a:rPr lang="en-US" sz="1200" dirty="0">
                <a:solidFill>
                  <a:srgbClr val="C3CEDA"/>
                </a:solidFill>
                <a:latin typeface="IBM Plex Sans" pitchFamily="34" charset="0"/>
                <a:ea typeface="IBM Plex Sans" pitchFamily="34" charset="-122"/>
                <a:cs typeface="IBM Plex Sans" pitchFamily="34" charset="-120"/>
              </a:rPr>
              <a:t> — Maximum predicted glucose across horizons</a:t>
            </a:r>
            <a:endParaRPr lang="en-US" sz="1200" dirty="0"/>
          </a:p>
        </p:txBody>
      </p:sp>
      <p:sp>
        <p:nvSpPr>
          <p:cNvPr id="35" name="Text 32"/>
          <p:cNvSpPr/>
          <p:nvPr/>
        </p:nvSpPr>
        <p:spPr>
          <a:xfrm>
            <a:off x="7332980" y="26136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3</a:t>
            </a:r>
            <a:endParaRPr lang="en-US" sz="1200" dirty="0"/>
          </a:p>
        </p:txBody>
      </p:sp>
      <p:sp>
        <p:nvSpPr>
          <p:cNvPr id="36" name="Text 33"/>
          <p:cNvSpPr/>
          <p:nvPr/>
        </p:nvSpPr>
        <p:spPr>
          <a:xfrm>
            <a:off x="7625080" y="2613661"/>
            <a:ext cx="418853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Interval Target: 90%</a:t>
            </a:r>
            <a:r>
              <a:rPr lang="en-US" sz="1200" dirty="0">
                <a:solidFill>
                  <a:srgbClr val="C3CEDA"/>
                </a:solidFill>
                <a:latin typeface="IBM Plex Sans" pitchFamily="34" charset="0"/>
                <a:ea typeface="IBM Plex Sans" pitchFamily="34" charset="-122"/>
                <a:cs typeface="IBM Plex Sans" pitchFamily="34" charset="-120"/>
              </a:rPr>
              <a:t> — Split-conformal coverage guarantee</a:t>
            </a:r>
            <a:endParaRPr lang="en-US" sz="1200" dirty="0"/>
          </a:p>
        </p:txBody>
      </p:sp>
      <p:sp>
        <p:nvSpPr>
          <p:cNvPr id="37" name="Text 34"/>
          <p:cNvSpPr/>
          <p:nvPr/>
        </p:nvSpPr>
        <p:spPr>
          <a:xfrm>
            <a:off x="7332980" y="3116582"/>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4</a:t>
            </a:r>
            <a:endParaRPr lang="en-US" sz="1200" dirty="0"/>
          </a:p>
        </p:txBody>
      </p:sp>
      <p:sp>
        <p:nvSpPr>
          <p:cNvPr id="38" name="Text 35"/>
          <p:cNvSpPr/>
          <p:nvPr/>
        </p:nvSpPr>
        <p:spPr>
          <a:xfrm>
            <a:off x="7625080" y="3116582"/>
            <a:ext cx="418853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Three forecast dots:</a:t>
            </a:r>
            <a:r>
              <a:rPr lang="en-US" sz="1200" dirty="0">
                <a:solidFill>
                  <a:srgbClr val="C3CEDA"/>
                </a:solidFill>
                <a:latin typeface="IBM Plex Sans" pitchFamily="34" charset="0"/>
                <a:ea typeface="IBM Plex Sans" pitchFamily="34" charset="-122"/>
                <a:cs typeface="IBM Plex Sans" pitchFamily="34" charset="-120"/>
              </a:rPr>
              <a:t> Calibrated predictions at exactly 30m, 60m, 120m</a:t>
            </a:r>
            <a:endParaRPr lang="en-US" sz="1200" dirty="0"/>
          </a:p>
        </p:txBody>
      </p:sp>
      <p:sp>
        <p:nvSpPr>
          <p:cNvPr id="39" name="Text 36"/>
          <p:cNvSpPr/>
          <p:nvPr/>
        </p:nvSpPr>
        <p:spPr>
          <a:xfrm>
            <a:off x="7332980" y="3619500"/>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5</a:t>
            </a:r>
            <a:endParaRPr lang="en-US" sz="1200" dirty="0"/>
          </a:p>
        </p:txBody>
      </p:sp>
      <p:sp>
        <p:nvSpPr>
          <p:cNvPr id="40" name="Text 37"/>
          <p:cNvSpPr/>
          <p:nvPr/>
        </p:nvSpPr>
        <p:spPr>
          <a:xfrm>
            <a:off x="7625080" y="3619500"/>
            <a:ext cx="418853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Light blue shaded band:</a:t>
            </a:r>
            <a:r>
              <a:rPr lang="en-US" sz="1200" dirty="0">
                <a:solidFill>
                  <a:srgbClr val="C3CEDA"/>
                </a:solidFill>
                <a:latin typeface="IBM Plex Sans" pitchFamily="34" charset="0"/>
                <a:ea typeface="IBM Plex Sans" pitchFamily="34" charset="-122"/>
                <a:cs typeface="IBM Plex Sans" pitchFamily="34" charset="-120"/>
              </a:rPr>
              <a:t> 90% conformal prediction interval</a:t>
            </a:r>
            <a:endParaRPr lang="en-US" sz="1200" dirty="0"/>
          </a:p>
        </p:txBody>
      </p:sp>
      <p:sp>
        <p:nvSpPr>
          <p:cNvPr id="41" name="Text 38"/>
          <p:cNvSpPr/>
          <p:nvPr/>
        </p:nvSpPr>
        <p:spPr>
          <a:xfrm>
            <a:off x="7332980" y="412242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6</a:t>
            </a:r>
            <a:endParaRPr lang="en-US" sz="1200" dirty="0"/>
          </a:p>
        </p:txBody>
      </p:sp>
      <p:sp>
        <p:nvSpPr>
          <p:cNvPr id="42" name="Text 39"/>
          <p:cNvSpPr/>
          <p:nvPr/>
        </p:nvSpPr>
        <p:spPr>
          <a:xfrm>
            <a:off x="7625080" y="4122421"/>
            <a:ext cx="418853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Orange dotted line:</a:t>
            </a:r>
            <a:r>
              <a:rPr lang="en-US" sz="1200" dirty="0">
                <a:solidFill>
                  <a:srgbClr val="C3CEDA"/>
                </a:solidFill>
                <a:latin typeface="IBM Plex Sans" pitchFamily="34" charset="0"/>
                <a:ea typeface="IBM Plex Sans" pitchFamily="34" charset="-122"/>
                <a:cs typeface="IBM Plex Sans" pitchFamily="34" charset="-120"/>
              </a:rPr>
              <a:t> 180 mg/dL clinical hyperglycemia threshold</a:t>
            </a:r>
            <a:endParaRPr lang="en-US" sz="1200" dirty="0"/>
          </a:p>
        </p:txBody>
      </p:sp>
      <p:sp>
        <p:nvSpPr>
          <p:cNvPr id="43" name="Text 40"/>
          <p:cNvSpPr/>
          <p:nvPr/>
        </p:nvSpPr>
        <p:spPr>
          <a:xfrm>
            <a:off x="7332980" y="4625339"/>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2DD4BF"/>
          </a:solidFill>
          <a:ln/>
        </p:spPr>
        <p:txBody>
          <a:bodyPr wrap="square" lIns="0" tIns="0" rIns="0" bIns="0" rtlCol="0" anchor="t">
            <a:normAutofit/>
          </a:bodyPr>
          <a:lstStyle/>
          <a:p>
            <a:pPr marL="0" indent="0" algn="ctr">
              <a:lnSpc>
                <a:spcPts val="1704"/>
              </a:lnSpc>
              <a:buNone/>
            </a:pPr>
            <a:r>
              <a:rPr lang="en-US" sz="1200" b="1" dirty="0">
                <a:solidFill>
                  <a:srgbClr val="06201C"/>
                </a:solidFill>
                <a:latin typeface="IBM Plex Sans" pitchFamily="34" charset="0"/>
                <a:ea typeface="IBM Plex Sans" pitchFamily="34" charset="-122"/>
                <a:cs typeface="IBM Plex Sans" pitchFamily="34" charset="-120"/>
              </a:rPr>
              <a:t>7</a:t>
            </a:r>
            <a:endParaRPr lang="en-US" sz="1200" dirty="0"/>
          </a:p>
        </p:txBody>
      </p:sp>
      <p:sp>
        <p:nvSpPr>
          <p:cNvPr id="44" name="Text 41"/>
          <p:cNvSpPr/>
          <p:nvPr/>
        </p:nvSpPr>
        <p:spPr>
          <a:xfrm>
            <a:off x="7625080" y="4625339"/>
            <a:ext cx="4188536"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BF24"/>
                </a:solidFill>
                <a:latin typeface="IBM Plex Sans" pitchFamily="34" charset="0"/>
                <a:ea typeface="IBM Plex Sans" pitchFamily="34" charset="-122"/>
                <a:cs typeface="IBM Plex Sans" pitchFamily="34" charset="-120"/>
              </a:rPr>
              <a:t>Note:</a:t>
            </a:r>
            <a:r>
              <a:rPr lang="en-US" sz="1200" dirty="0">
                <a:solidFill>
                  <a:srgbClr val="C3CEDA"/>
                </a:solidFill>
                <a:latin typeface="IBM Plex Sans" pitchFamily="34" charset="0"/>
                <a:ea typeface="IBM Plex Sans" pitchFamily="34" charset="-122"/>
                <a:cs typeface="IBM Plex Sans" pitchFamily="34" charset="-120"/>
              </a:rPr>
              <a:t> Lines between dots are visual interpolation, </a:t>
            </a:r>
            <a:r>
              <a:rPr lang="en-US" sz="1200" b="1" dirty="0">
                <a:solidFill>
                  <a:srgbClr val="F1F5F9"/>
                </a:solidFill>
                <a:latin typeface="IBM Plex Sans" pitchFamily="34" charset="0"/>
                <a:ea typeface="IBM Plex Sans" pitchFamily="34" charset="-122"/>
                <a:cs typeface="IBM Plex Sans" pitchFamily="34" charset="-120"/>
              </a:rPr>
              <a:t>not calibrated predictions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55600" y="254000"/>
            <a:ext cx="355600" cy="50800"/>
          </a:xfrm>
          <a:prstGeom prst="roundRect">
            <a:avLst>
              <a:gd name="adj" fmla="val 50000"/>
            </a:avLst>
          </a:prstGeom>
          <a:solidFill>
            <a:srgbClr val="FF5C5C"/>
          </a:solidFill>
          <a:ln/>
        </p:spPr>
      </p:sp>
      <p:sp>
        <p:nvSpPr>
          <p:cNvPr id="3" name="Shape 1"/>
          <p:cNvSpPr/>
          <p:nvPr/>
        </p:nvSpPr>
        <p:spPr>
          <a:xfrm>
            <a:off x="762000" y="254000"/>
            <a:ext cx="355600" cy="50800"/>
          </a:xfrm>
          <a:prstGeom prst="roundRect">
            <a:avLst>
              <a:gd name="adj" fmla="val 50000"/>
            </a:avLst>
          </a:prstGeom>
          <a:solidFill>
            <a:srgbClr val="4ADE80"/>
          </a:solidFill>
          <a:ln/>
        </p:spPr>
      </p:sp>
      <p:sp>
        <p:nvSpPr>
          <p:cNvPr id="4" name="Text 2"/>
          <p:cNvSpPr>
            <a:spLocks noGrp="1"/>
          </p:cNvSpPr>
          <p:nvPr>
            <p:ph type="title"/>
          </p:nvPr>
        </p:nvSpPr>
        <p:spPr>
          <a:xfrm>
            <a:off x="355600" y="368300"/>
            <a:ext cx="11825224" cy="41656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F1F5F9"/>
                </a:solidFill>
                <a:latin typeface="IBM Plex Sans" pitchFamily="34" charset="0"/>
                <a:ea typeface="IBM Plex Sans" pitchFamily="34" charset="-122"/>
                <a:cs typeface="IBM Plex Sans" pitchFamily="34" charset="-120"/>
              </a:rPr>
              <a:t>The Game Changer: Intentional Abstention</a:t>
            </a:r>
            <a:endParaRPr lang="en-US" sz="2800" dirty="0"/>
          </a:p>
        </p:txBody>
      </p:sp>
      <p:sp>
        <p:nvSpPr>
          <p:cNvPr id="5" name="Shape 3"/>
          <p:cNvSpPr/>
          <p:nvPr/>
        </p:nvSpPr>
        <p:spPr>
          <a:xfrm>
            <a:off x="358775" y="902336"/>
            <a:ext cx="5403850" cy="2861310"/>
          </a:xfrm>
          <a:prstGeom prst="roundRect">
            <a:avLst>
              <a:gd name="adj" fmla="val 4771"/>
            </a:avLst>
          </a:prstGeom>
          <a:gradFill rotWithShape="1">
            <a:gsLst>
              <a:gs pos="0">
                <a:srgbClr val="FF5C5C">
                  <a:alpha val="18000"/>
                </a:srgbClr>
              </a:gs>
              <a:gs pos="62000">
                <a:srgbClr val="111923"/>
              </a:gs>
            </a:gsLst>
            <a:lin ang="4200000" scaled="0"/>
          </a:gradFill>
          <a:ln w="6350">
            <a:solidFill>
              <a:srgbClr val="FF5C5C">
                <a:alpha val="65000"/>
              </a:srgbClr>
            </a:solidFill>
            <a:prstDash val="solid"/>
          </a:ln>
          <a:effectLst>
            <a:outerShdw blurRad="279400" dir="60000" algn="bl" rotWithShape="0">
              <a:srgbClr val="FF5C5C">
                <a:alpha val="25000"/>
              </a:srgbClr>
            </a:outerShdw>
          </a:effectLst>
        </p:spPr>
      </p:sp>
      <p:sp>
        <p:nvSpPr>
          <p:cNvPr id="6" name="Text 4"/>
          <p:cNvSpPr/>
          <p:nvPr/>
        </p:nvSpPr>
        <p:spPr>
          <a:xfrm>
            <a:off x="541655" y="1072514"/>
            <a:ext cx="1690370" cy="242570"/>
          </a:xfrm>
          <a:custGeom>
            <a:avLst/>
            <a:gdLst/>
            <a:ahLst/>
            <a:cxnLst/>
            <a:rect l="l" t="t" r="r" b="b"/>
            <a:pathLst>
              <a:path w="1690370" h="242570">
                <a:moveTo>
                  <a:pt x="121285" y="0"/>
                </a:moveTo>
                <a:lnTo>
                  <a:pt x="1569085" y="0"/>
                </a:lnTo>
                <a:arcTo wR="121285" hR="121285" stAng="16200000" swAng="5400000"/>
                <a:lnTo>
                  <a:pt x="1690370" y="121285"/>
                </a:lnTo>
                <a:arcTo wR="121285" hR="121285" stAng="0" swAng="5400000"/>
                <a:lnTo>
                  <a:pt x="121285" y="242570"/>
                </a:lnTo>
                <a:arcTo wR="121285" hR="121285" stAng="5400000" swAng="5400000"/>
                <a:lnTo>
                  <a:pt x="0" y="121285"/>
                </a:lnTo>
                <a:arcTo wR="121285" hR="121285" stAng="10800000" swAng="5400000"/>
                <a:close/>
              </a:path>
            </a:pathLst>
          </a:custGeom>
          <a:solidFill>
            <a:srgbClr val="FF5C5C">
              <a:alpha val="14000"/>
            </a:srgbClr>
          </a:solidFill>
          <a:ln w="6350">
            <a:solidFill>
              <a:srgbClr val="FF5C5C">
                <a:alpha val="50000"/>
              </a:srgbClr>
            </a:solidFill>
            <a:prstDash val="solid"/>
          </a:ln>
        </p:spPr>
        <p:txBody>
          <a:bodyPr wrap="none" lIns="0" tIns="0" rIns="0" bIns="0" rtlCol="0" anchor="ctr">
            <a:normAutofit/>
          </a:bodyPr>
          <a:lstStyle/>
          <a:p>
            <a:pPr marL="0" indent="0" algn="ctr">
              <a:lnSpc>
                <a:spcPts val="1680"/>
              </a:lnSpc>
              <a:buNone/>
            </a:pPr>
            <a:r>
              <a:rPr lang="en-US" sz="1200" b="1" kern="0" spc="100" dirty="0">
                <a:solidFill>
                  <a:srgbClr val="FF5C5C"/>
                </a:solidFill>
                <a:latin typeface="JetBrains Mono" pitchFamily="49" charset="0"/>
                <a:ea typeface="JetBrains Mono" pitchFamily="49" charset="-122"/>
                <a:cs typeface="JetBrains Mono" pitchFamily="49" charset="-120"/>
              </a:rPr>
              <a:t>TRADITIONAL AI</a:t>
            </a:r>
            <a:endParaRPr lang="en-US" sz="1200" dirty="0"/>
          </a:p>
        </p:txBody>
      </p:sp>
      <p:pic>
        <p:nvPicPr>
          <p:cNvPr id="7" name="Image 0" descr="Robot wearing a blindfold"/>
          <p:cNvPicPr>
            <a:picLocks noChangeAspect="1"/>
          </p:cNvPicPr>
          <p:nvPr/>
        </p:nvPicPr>
        <p:blipFill>
          <a:blip r:embed="rId3"/>
          <a:srcRect/>
          <a:stretch/>
        </p:blipFill>
        <p:spPr>
          <a:xfrm>
            <a:off x="538480" y="1419861"/>
            <a:ext cx="698500" cy="698500"/>
          </a:xfrm>
          <a:prstGeom prst="rect">
            <a:avLst/>
          </a:prstGeom>
        </p:spPr>
      </p:pic>
      <p:sp>
        <p:nvSpPr>
          <p:cNvPr id="8" name="Text 5"/>
          <p:cNvSpPr/>
          <p:nvPr/>
        </p:nvSpPr>
        <p:spPr>
          <a:xfrm>
            <a:off x="1363980" y="1477011"/>
            <a:ext cx="3586810"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Sensor Drops → AI Keeps Guessing</a:t>
            </a:r>
            <a:endParaRPr lang="en-US" sz="2000" dirty="0"/>
          </a:p>
        </p:txBody>
      </p:sp>
      <p:pic>
        <p:nvPicPr>
          <p:cNvPr id="9" name="Image 1" descr="Big red X mark"/>
          <p:cNvPicPr>
            <a:picLocks noChangeAspect="1"/>
          </p:cNvPicPr>
          <p:nvPr/>
        </p:nvPicPr>
        <p:blipFill>
          <a:blip r:embed="rId4"/>
          <a:srcRect/>
          <a:stretch/>
        </p:blipFill>
        <p:spPr>
          <a:xfrm>
            <a:off x="4973320" y="1464311"/>
            <a:ext cx="609600" cy="609600"/>
          </a:xfrm>
          <a:prstGeom prst="rect">
            <a:avLst/>
          </a:prstGeom>
        </p:spPr>
      </p:pic>
      <p:sp>
        <p:nvSpPr>
          <p:cNvPr id="10" name="Shape 6"/>
          <p:cNvSpPr/>
          <p:nvPr/>
        </p:nvSpPr>
        <p:spPr>
          <a:xfrm>
            <a:off x="538480" y="2219961"/>
            <a:ext cx="5044440" cy="12700"/>
          </a:xfrm>
          <a:prstGeom prst="rect">
            <a:avLst/>
          </a:prstGeom>
          <a:solidFill>
            <a:srgbClr val="FF5C5C">
              <a:alpha val="35000"/>
            </a:srgbClr>
          </a:solidFill>
          <a:ln/>
        </p:spPr>
      </p:sp>
      <p:sp>
        <p:nvSpPr>
          <p:cNvPr id="11" name="Shape 7"/>
          <p:cNvSpPr/>
          <p:nvPr/>
        </p:nvSpPr>
        <p:spPr>
          <a:xfrm>
            <a:off x="538480" y="2423161"/>
            <a:ext cx="76200" cy="76200"/>
          </a:xfrm>
          <a:prstGeom prst="roundRect">
            <a:avLst>
              <a:gd name="adj" fmla="val 25000"/>
            </a:avLst>
          </a:prstGeom>
          <a:solidFill>
            <a:srgbClr val="FF5C5C"/>
          </a:solidFill>
          <a:ln/>
        </p:spPr>
      </p:sp>
      <p:sp>
        <p:nvSpPr>
          <p:cNvPr id="12" name="Text 8"/>
          <p:cNvSpPr/>
          <p:nvPr/>
        </p:nvSpPr>
        <p:spPr>
          <a:xfrm>
            <a:off x="716280" y="2334261"/>
            <a:ext cx="50126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CGM disconnected for </a:t>
            </a:r>
            <a:r>
              <a:rPr lang="en-US" sz="1400" b="1" dirty="0">
                <a:solidFill>
                  <a:srgbClr val="F1F5F9"/>
                </a:solidFill>
                <a:latin typeface="IBM Plex Sans" pitchFamily="34" charset="0"/>
                <a:ea typeface="IBM Plex Sans" pitchFamily="34" charset="-122"/>
                <a:cs typeface="IBM Plex Sans" pitchFamily="34" charset="-120"/>
              </a:rPr>
              <a:t>30 minutes</a:t>
            </a:r>
            <a:endParaRPr lang="en-US" sz="1400" dirty="0"/>
          </a:p>
        </p:txBody>
      </p:sp>
      <p:sp>
        <p:nvSpPr>
          <p:cNvPr id="13" name="Shape 9"/>
          <p:cNvSpPr/>
          <p:nvPr/>
        </p:nvSpPr>
        <p:spPr>
          <a:xfrm>
            <a:off x="538480" y="2760982"/>
            <a:ext cx="76200" cy="76200"/>
          </a:xfrm>
          <a:prstGeom prst="roundRect">
            <a:avLst>
              <a:gd name="adj" fmla="val 25000"/>
            </a:avLst>
          </a:prstGeom>
          <a:solidFill>
            <a:srgbClr val="FF5C5C"/>
          </a:solidFill>
          <a:ln/>
        </p:spPr>
      </p:sp>
      <p:sp>
        <p:nvSpPr>
          <p:cNvPr id="14" name="Text 10"/>
          <p:cNvSpPr/>
          <p:nvPr/>
        </p:nvSpPr>
        <p:spPr>
          <a:xfrm>
            <a:off x="716280" y="2672082"/>
            <a:ext cx="50126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Model uses </a:t>
            </a:r>
            <a:r>
              <a:rPr lang="en-US" sz="1400" b="1" dirty="0">
                <a:solidFill>
                  <a:srgbClr val="F1F5F9"/>
                </a:solidFill>
                <a:latin typeface="IBM Plex Sans" pitchFamily="34" charset="0"/>
                <a:ea typeface="IBM Plex Sans" pitchFamily="34" charset="-122"/>
                <a:cs typeface="IBM Plex Sans" pitchFamily="34" charset="-120"/>
              </a:rPr>
              <a:t>stale data</a:t>
            </a:r>
            <a:r>
              <a:rPr lang="en-US" sz="1400" dirty="0">
                <a:solidFill>
                  <a:srgbClr val="C3CEDA"/>
                </a:solidFill>
                <a:latin typeface="IBM Plex Sans" pitchFamily="34" charset="0"/>
                <a:ea typeface="IBM Plex Sans" pitchFamily="34" charset="-122"/>
                <a:cs typeface="IBM Plex Sans" pitchFamily="34" charset="-120"/>
              </a:rPr>
              <a:t> to hallucinate prediction</a:t>
            </a:r>
            <a:endParaRPr lang="en-US" sz="1400" dirty="0"/>
          </a:p>
        </p:txBody>
      </p:sp>
      <p:sp>
        <p:nvSpPr>
          <p:cNvPr id="15" name="Shape 11"/>
          <p:cNvSpPr/>
          <p:nvPr/>
        </p:nvSpPr>
        <p:spPr>
          <a:xfrm>
            <a:off x="538480" y="3098800"/>
            <a:ext cx="76200" cy="76200"/>
          </a:xfrm>
          <a:prstGeom prst="roundRect">
            <a:avLst>
              <a:gd name="adj" fmla="val 25000"/>
            </a:avLst>
          </a:prstGeom>
          <a:solidFill>
            <a:srgbClr val="FF5C5C"/>
          </a:solidFill>
          <a:ln/>
        </p:spPr>
      </p:sp>
      <p:sp>
        <p:nvSpPr>
          <p:cNvPr id="16" name="Text 12"/>
          <p:cNvSpPr/>
          <p:nvPr/>
        </p:nvSpPr>
        <p:spPr>
          <a:xfrm>
            <a:off x="716280" y="3009900"/>
            <a:ext cx="50126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Clinician sees </a:t>
            </a:r>
            <a:r>
              <a:rPr lang="en-US" sz="1400" b="1" dirty="0">
                <a:solidFill>
                  <a:srgbClr val="F1F5F9"/>
                </a:solidFill>
                <a:latin typeface="IBM Plex Sans" pitchFamily="34" charset="0"/>
                <a:ea typeface="IBM Plex Sans" pitchFamily="34" charset="-122"/>
                <a:cs typeface="IBM Plex Sans" pitchFamily="34" charset="-120"/>
              </a:rPr>
              <a:t>confident number</a:t>
            </a:r>
            <a:r>
              <a:rPr lang="en-US" sz="1400" dirty="0">
                <a:solidFill>
                  <a:srgbClr val="C3CEDA"/>
                </a:solidFill>
                <a:latin typeface="IBM Plex Sans" pitchFamily="34" charset="0"/>
                <a:ea typeface="IBM Plex Sans" pitchFamily="34" charset="-122"/>
                <a:cs typeface="IBM Plex Sans" pitchFamily="34" charset="-120"/>
              </a:rPr>
              <a:t> → acts on it</a:t>
            </a:r>
            <a:endParaRPr lang="en-US" sz="1400" dirty="0"/>
          </a:p>
        </p:txBody>
      </p:sp>
      <p:sp>
        <p:nvSpPr>
          <p:cNvPr id="17" name="Shape 13"/>
          <p:cNvSpPr/>
          <p:nvPr/>
        </p:nvSpPr>
        <p:spPr>
          <a:xfrm>
            <a:off x="538480" y="3436621"/>
            <a:ext cx="76200" cy="76200"/>
          </a:xfrm>
          <a:prstGeom prst="roundRect">
            <a:avLst>
              <a:gd name="adj" fmla="val 25000"/>
            </a:avLst>
          </a:prstGeom>
          <a:solidFill>
            <a:srgbClr val="FF5C5C"/>
          </a:solidFill>
          <a:ln/>
        </p:spPr>
      </p:sp>
      <p:sp>
        <p:nvSpPr>
          <p:cNvPr id="18" name="Text 14"/>
          <p:cNvSpPr/>
          <p:nvPr/>
        </p:nvSpPr>
        <p:spPr>
          <a:xfrm>
            <a:off x="716280" y="3347721"/>
            <a:ext cx="501263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5C5C"/>
                </a:solidFill>
                <a:latin typeface="IBM Plex Sans" pitchFamily="34" charset="0"/>
                <a:ea typeface="IBM Plex Sans" pitchFamily="34" charset="-122"/>
                <a:cs typeface="IBM Plex Sans" pitchFamily="34" charset="-120"/>
              </a:rPr>
              <a:t>Result:</a:t>
            </a:r>
            <a:r>
              <a:rPr lang="en-US" sz="1400" dirty="0">
                <a:solidFill>
                  <a:srgbClr val="C3CEDA"/>
                </a:solidFill>
                <a:latin typeface="IBM Plex Sans" pitchFamily="34" charset="0"/>
                <a:ea typeface="IBM Plex Sans" pitchFamily="34" charset="-122"/>
                <a:cs typeface="IBM Plex Sans" pitchFamily="34" charset="-120"/>
              </a:rPr>
              <a:t> </a:t>
            </a:r>
            <a:r>
              <a:rPr lang="en-US" sz="1400" b="1" dirty="0">
                <a:solidFill>
                  <a:srgbClr val="F1F5F9"/>
                </a:solidFill>
                <a:latin typeface="IBM Plex Sans" pitchFamily="34" charset="0"/>
                <a:ea typeface="IBM Plex Sans" pitchFamily="34" charset="-122"/>
                <a:cs typeface="IBM Plex Sans" pitchFamily="34" charset="-120"/>
              </a:rPr>
              <a:t>Dangerous wrong insulin dose</a:t>
            </a:r>
            <a:endParaRPr lang="en-US" sz="1400" dirty="0"/>
          </a:p>
        </p:txBody>
      </p:sp>
      <p:sp>
        <p:nvSpPr>
          <p:cNvPr id="19" name="Shape 15"/>
          <p:cNvSpPr/>
          <p:nvPr/>
        </p:nvSpPr>
        <p:spPr>
          <a:xfrm>
            <a:off x="6086475" y="899161"/>
            <a:ext cx="19050" cy="1090930"/>
          </a:xfrm>
          <a:prstGeom prst="rect">
            <a:avLst/>
          </a:prstGeom>
          <a:gradFill rotWithShape="1">
            <a:gsLst>
              <a:gs pos="0">
                <a:srgbClr val="FF5C5C">
                  <a:alpha val="0"/>
                </a:srgbClr>
              </a:gs>
              <a:gs pos="100000">
                <a:srgbClr val="FF5C5C"/>
              </a:gs>
            </a:gsLst>
            <a:lin ang="5400000" scaled="0"/>
          </a:gradFill>
          <a:ln/>
        </p:spPr>
      </p:sp>
      <p:sp>
        <p:nvSpPr>
          <p:cNvPr id="20" name="Text 16"/>
          <p:cNvSpPr/>
          <p:nvPr/>
        </p:nvSpPr>
        <p:spPr>
          <a:xfrm>
            <a:off x="5838825" y="2075814"/>
            <a:ext cx="514350" cy="514350"/>
          </a:xfrm>
          <a:custGeom>
            <a:avLst/>
            <a:gdLst/>
            <a:ahLst/>
            <a:cxnLst/>
            <a:rect l="l" t="t" r="r" b="b"/>
            <a:pathLst>
              <a:path w="514350" h="514350">
                <a:moveTo>
                  <a:pt x="257175" y="0"/>
                </a:moveTo>
                <a:lnTo>
                  <a:pt x="257175" y="0"/>
                </a:lnTo>
                <a:arcTo wR="257175" hR="257175" stAng="16200000" swAng="5400000"/>
                <a:lnTo>
                  <a:pt x="514350" y="257175"/>
                </a:lnTo>
                <a:arcTo wR="257175" hR="257175" stAng="0" swAng="5400000"/>
                <a:lnTo>
                  <a:pt x="257175" y="514350"/>
                </a:lnTo>
                <a:arcTo wR="257175" hR="257175" stAng="5400000" swAng="5400000"/>
                <a:lnTo>
                  <a:pt x="0" y="257175"/>
                </a:lnTo>
                <a:arcTo wR="257175" hR="257175" stAng="10800000" swAng="5400000"/>
                <a:close/>
              </a:path>
            </a:pathLst>
          </a:custGeom>
          <a:solidFill>
            <a:srgbClr val="0A0F16"/>
          </a:solidFill>
          <a:ln w="19050">
            <a:solidFill>
              <a:srgbClr val="F1F5F9"/>
            </a:solidFill>
            <a:prstDash val="solid"/>
          </a:ln>
          <a:effectLst>
            <a:outerShdw blurRad="190500" dir="60000" algn="bl" rotWithShape="0">
              <a:srgbClr val="F1F5F9">
                <a:alpha val="30000"/>
              </a:srgbClr>
            </a:outerShdw>
          </a:effectLst>
        </p:spPr>
        <p:txBody>
          <a:bodyPr wrap="square" lIns="0" tIns="5715" rIns="7620" bIns="0" rtlCol="0" anchor="t">
            <a:normAutofit/>
          </a:bodyPr>
          <a:lstStyle/>
          <a:p>
            <a:pPr marL="0" indent="0" algn="ctr">
              <a:lnSpc>
                <a:spcPts val="3904"/>
              </a:lnSpc>
              <a:buNone/>
            </a:pPr>
            <a:r>
              <a:rPr lang="en-US" sz="1600" b="1" kern="0" spc="50" dirty="0">
                <a:solidFill>
                  <a:srgbClr val="F1F5F9"/>
                </a:solidFill>
                <a:latin typeface="IBM Plex Sans" pitchFamily="34" charset="0"/>
                <a:ea typeface="IBM Plex Sans" pitchFamily="34" charset="-122"/>
                <a:cs typeface="IBM Plex Sans" pitchFamily="34" charset="-120"/>
              </a:rPr>
              <a:t>VS</a:t>
            </a:r>
            <a:endParaRPr lang="en-US" sz="1600" dirty="0"/>
          </a:p>
        </p:txBody>
      </p:sp>
      <p:sp>
        <p:nvSpPr>
          <p:cNvPr id="21" name="Shape 17"/>
          <p:cNvSpPr/>
          <p:nvPr/>
        </p:nvSpPr>
        <p:spPr>
          <a:xfrm>
            <a:off x="6086475" y="2675889"/>
            <a:ext cx="19050" cy="1090930"/>
          </a:xfrm>
          <a:prstGeom prst="rect">
            <a:avLst/>
          </a:prstGeom>
          <a:gradFill rotWithShape="1">
            <a:gsLst>
              <a:gs pos="0">
                <a:srgbClr val="4ADE80"/>
              </a:gs>
              <a:gs pos="100000">
                <a:srgbClr val="4ADE80">
                  <a:alpha val="0"/>
                </a:srgbClr>
              </a:gs>
            </a:gsLst>
            <a:lin ang="5400000" scaled="0"/>
          </a:gradFill>
          <a:ln/>
        </p:spPr>
      </p:sp>
      <p:sp>
        <p:nvSpPr>
          <p:cNvPr id="22" name="Shape 18"/>
          <p:cNvSpPr/>
          <p:nvPr/>
        </p:nvSpPr>
        <p:spPr>
          <a:xfrm>
            <a:off x="6429375" y="902336"/>
            <a:ext cx="5403850" cy="2861310"/>
          </a:xfrm>
          <a:prstGeom prst="roundRect">
            <a:avLst>
              <a:gd name="adj" fmla="val 4771"/>
            </a:avLst>
          </a:prstGeom>
          <a:gradFill rotWithShape="1">
            <a:gsLst>
              <a:gs pos="0">
                <a:srgbClr val="4ADE80">
                  <a:alpha val="18000"/>
                </a:srgbClr>
              </a:gs>
              <a:gs pos="62000">
                <a:srgbClr val="111923"/>
              </a:gs>
            </a:gsLst>
            <a:lin ang="4200000" scaled="0"/>
          </a:gradFill>
          <a:ln w="6350">
            <a:solidFill>
              <a:srgbClr val="4ADE80">
                <a:alpha val="65000"/>
              </a:srgbClr>
            </a:solidFill>
            <a:prstDash val="solid"/>
          </a:ln>
          <a:effectLst>
            <a:outerShdw blurRad="279400" dir="60000" algn="bl" rotWithShape="0">
              <a:srgbClr val="4ADE80">
                <a:alpha val="25000"/>
              </a:srgbClr>
            </a:outerShdw>
          </a:effectLst>
        </p:spPr>
      </p:sp>
      <p:sp>
        <p:nvSpPr>
          <p:cNvPr id="23" name="Text 19"/>
          <p:cNvSpPr/>
          <p:nvPr/>
        </p:nvSpPr>
        <p:spPr>
          <a:xfrm>
            <a:off x="6612255" y="1072514"/>
            <a:ext cx="1586230" cy="242570"/>
          </a:xfrm>
          <a:custGeom>
            <a:avLst/>
            <a:gdLst/>
            <a:ahLst/>
            <a:cxnLst/>
            <a:rect l="l" t="t" r="r" b="b"/>
            <a:pathLst>
              <a:path w="1586230" h="242570">
                <a:moveTo>
                  <a:pt x="121285" y="0"/>
                </a:moveTo>
                <a:lnTo>
                  <a:pt x="1464945" y="0"/>
                </a:lnTo>
                <a:arcTo wR="121285" hR="121285" stAng="16200000" swAng="5400000"/>
                <a:lnTo>
                  <a:pt x="1586230" y="121285"/>
                </a:lnTo>
                <a:arcTo wR="121285" hR="121285" stAng="0" swAng="5400000"/>
                <a:lnTo>
                  <a:pt x="121285" y="242570"/>
                </a:lnTo>
                <a:arcTo wR="121285" hR="121285" stAng="5400000" swAng="5400000"/>
                <a:lnTo>
                  <a:pt x="0" y="121285"/>
                </a:lnTo>
                <a:arcTo wR="121285" hR="121285" stAng="10800000" swAng="5400000"/>
                <a:close/>
              </a:path>
            </a:pathLst>
          </a:custGeom>
          <a:solidFill>
            <a:srgbClr val="4ADE80">
              <a:alpha val="14000"/>
            </a:srgbClr>
          </a:solidFill>
          <a:ln w="6350">
            <a:solidFill>
              <a:srgbClr val="4ADE80">
                <a:alpha val="50000"/>
              </a:srgbClr>
            </a:solidFill>
            <a:prstDash val="solid"/>
          </a:ln>
        </p:spPr>
        <p:txBody>
          <a:bodyPr wrap="none" lIns="0" tIns="0" rIns="0" bIns="0" rtlCol="0" anchor="ctr">
            <a:normAutofit/>
          </a:bodyPr>
          <a:lstStyle/>
          <a:p>
            <a:pPr marL="0" indent="0" algn="ctr">
              <a:lnSpc>
                <a:spcPts val="1680"/>
              </a:lnSpc>
              <a:buNone/>
            </a:pPr>
            <a:r>
              <a:rPr lang="en-US" sz="1200" b="1" kern="0" spc="100" dirty="0">
                <a:solidFill>
                  <a:srgbClr val="4ADE80"/>
                </a:solidFill>
                <a:latin typeface="JetBrains Mono" pitchFamily="49" charset="0"/>
                <a:ea typeface="JetBrains Mono" pitchFamily="49" charset="-122"/>
                <a:cs typeface="JetBrains Mono" pitchFamily="49" charset="-120"/>
              </a:rPr>
              <a:t>AAROGYATWIN-X</a:t>
            </a:r>
            <a:endParaRPr lang="en-US" sz="1200" dirty="0"/>
          </a:p>
        </p:txBody>
      </p:sp>
      <p:pic>
        <p:nvPicPr>
          <p:cNvPr id="24" name="Image 2" descr="Shield with a check mark"/>
          <p:cNvPicPr>
            <a:picLocks noChangeAspect="1"/>
          </p:cNvPicPr>
          <p:nvPr/>
        </p:nvPicPr>
        <p:blipFill>
          <a:blip r:embed="rId5"/>
          <a:srcRect/>
          <a:stretch/>
        </p:blipFill>
        <p:spPr>
          <a:xfrm>
            <a:off x="6609080" y="1419861"/>
            <a:ext cx="698500" cy="698500"/>
          </a:xfrm>
          <a:prstGeom prst="rect">
            <a:avLst/>
          </a:prstGeom>
        </p:spPr>
      </p:pic>
      <p:sp>
        <p:nvSpPr>
          <p:cNvPr id="25" name="Text 20"/>
          <p:cNvSpPr/>
          <p:nvPr/>
        </p:nvSpPr>
        <p:spPr>
          <a:xfrm>
            <a:off x="7434580" y="1477011"/>
            <a:ext cx="3586810"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1F5F9"/>
                </a:solidFill>
                <a:latin typeface="IBM Plex Sans" pitchFamily="34" charset="0"/>
                <a:ea typeface="IBM Plex Sans" pitchFamily="34" charset="-122"/>
                <a:cs typeface="IBM Plex Sans" pitchFamily="34" charset="-120"/>
              </a:rPr>
              <a:t>Sensor Drops → System Abstains</a:t>
            </a:r>
            <a:endParaRPr lang="en-US" sz="2000" dirty="0"/>
          </a:p>
        </p:txBody>
      </p:sp>
      <p:pic>
        <p:nvPicPr>
          <p:cNvPr id="26" name="Image 3" descr="Big green check mark"/>
          <p:cNvPicPr>
            <a:picLocks noChangeAspect="1"/>
          </p:cNvPicPr>
          <p:nvPr/>
        </p:nvPicPr>
        <p:blipFill>
          <a:blip r:embed="rId6"/>
          <a:srcRect/>
          <a:stretch/>
        </p:blipFill>
        <p:spPr>
          <a:xfrm>
            <a:off x="11043920" y="1464311"/>
            <a:ext cx="609600" cy="609600"/>
          </a:xfrm>
          <a:prstGeom prst="rect">
            <a:avLst/>
          </a:prstGeom>
        </p:spPr>
      </p:pic>
      <p:sp>
        <p:nvSpPr>
          <p:cNvPr id="27" name="Shape 21"/>
          <p:cNvSpPr/>
          <p:nvPr/>
        </p:nvSpPr>
        <p:spPr>
          <a:xfrm>
            <a:off x="6609080" y="2219961"/>
            <a:ext cx="5044440" cy="12700"/>
          </a:xfrm>
          <a:prstGeom prst="rect">
            <a:avLst/>
          </a:prstGeom>
          <a:solidFill>
            <a:srgbClr val="4ADE80">
              <a:alpha val="35000"/>
            </a:srgbClr>
          </a:solidFill>
          <a:ln/>
        </p:spPr>
      </p:sp>
      <p:sp>
        <p:nvSpPr>
          <p:cNvPr id="28" name="Shape 22"/>
          <p:cNvSpPr/>
          <p:nvPr/>
        </p:nvSpPr>
        <p:spPr>
          <a:xfrm>
            <a:off x="6609080" y="2423161"/>
            <a:ext cx="76200" cy="76200"/>
          </a:xfrm>
          <a:prstGeom prst="roundRect">
            <a:avLst>
              <a:gd name="adj" fmla="val 25000"/>
            </a:avLst>
          </a:prstGeom>
          <a:solidFill>
            <a:srgbClr val="4ADE80"/>
          </a:solidFill>
          <a:ln/>
        </p:spPr>
      </p:sp>
      <p:sp>
        <p:nvSpPr>
          <p:cNvPr id="29" name="Text 23"/>
          <p:cNvSpPr/>
          <p:nvPr/>
        </p:nvSpPr>
        <p:spPr>
          <a:xfrm>
            <a:off x="6786880" y="2334261"/>
            <a:ext cx="50126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CGM </a:t>
            </a:r>
            <a:r>
              <a:rPr lang="en-US" sz="1400" b="1" dirty="0">
                <a:solidFill>
                  <a:srgbClr val="F1F5F9"/>
                </a:solidFill>
                <a:latin typeface="IBM Plex Sans" pitchFamily="34" charset="0"/>
                <a:ea typeface="IBM Plex Sans" pitchFamily="34" charset="-122"/>
                <a:cs typeface="IBM Plex Sans" pitchFamily="34" charset="-120"/>
              </a:rPr>
              <a:t>stale &gt;15 minutes</a:t>
            </a:r>
            <a:r>
              <a:rPr lang="en-US" sz="1400" dirty="0">
                <a:solidFill>
                  <a:srgbClr val="C3CEDA"/>
                </a:solidFill>
                <a:latin typeface="IBM Plex Sans" pitchFamily="34" charset="0"/>
                <a:ea typeface="IBM Plex Sans" pitchFamily="34" charset="-122"/>
                <a:cs typeface="IBM Plex Sans" pitchFamily="34" charset="-120"/>
              </a:rPr>
              <a:t> detected</a:t>
            </a:r>
            <a:endParaRPr lang="en-US" sz="1400" dirty="0"/>
          </a:p>
        </p:txBody>
      </p:sp>
      <p:sp>
        <p:nvSpPr>
          <p:cNvPr id="30" name="Shape 24"/>
          <p:cNvSpPr/>
          <p:nvPr/>
        </p:nvSpPr>
        <p:spPr>
          <a:xfrm>
            <a:off x="6609080" y="2760982"/>
            <a:ext cx="76200" cy="76200"/>
          </a:xfrm>
          <a:prstGeom prst="roundRect">
            <a:avLst>
              <a:gd name="adj" fmla="val 25000"/>
            </a:avLst>
          </a:prstGeom>
          <a:solidFill>
            <a:srgbClr val="4ADE80"/>
          </a:solidFill>
          <a:ln/>
        </p:spPr>
      </p:sp>
      <p:sp>
        <p:nvSpPr>
          <p:cNvPr id="31" name="Text 25"/>
          <p:cNvSpPr/>
          <p:nvPr/>
        </p:nvSpPr>
        <p:spPr>
          <a:xfrm>
            <a:off x="6786880" y="2672082"/>
            <a:ext cx="50126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Forecast fields become </a:t>
            </a:r>
            <a:r>
              <a:rPr lang="en-US" sz="1400" b="1" dirty="0">
                <a:solidFill>
                  <a:srgbClr val="F1F5F9"/>
                </a:solidFill>
                <a:latin typeface="IBM Plex Sans" pitchFamily="34" charset="0"/>
                <a:ea typeface="IBM Plex Sans" pitchFamily="34" charset="-122"/>
                <a:cs typeface="IBM Plex Sans" pitchFamily="34" charset="-120"/>
              </a:rPr>
              <a:t>NULL</a:t>
            </a:r>
            <a:endParaRPr lang="en-US" sz="1400" dirty="0"/>
          </a:p>
        </p:txBody>
      </p:sp>
      <p:sp>
        <p:nvSpPr>
          <p:cNvPr id="32" name="Shape 26"/>
          <p:cNvSpPr/>
          <p:nvPr/>
        </p:nvSpPr>
        <p:spPr>
          <a:xfrm>
            <a:off x="6609080" y="3098800"/>
            <a:ext cx="76200" cy="76200"/>
          </a:xfrm>
          <a:prstGeom prst="roundRect">
            <a:avLst>
              <a:gd name="adj" fmla="val 25000"/>
            </a:avLst>
          </a:prstGeom>
          <a:solidFill>
            <a:srgbClr val="4ADE80"/>
          </a:solidFill>
          <a:ln/>
        </p:spPr>
      </p:sp>
      <p:sp>
        <p:nvSpPr>
          <p:cNvPr id="33" name="Text 27"/>
          <p:cNvSpPr/>
          <p:nvPr/>
        </p:nvSpPr>
        <p:spPr>
          <a:xfrm>
            <a:off x="6786880" y="3009900"/>
            <a:ext cx="50126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Warning: </a:t>
            </a:r>
            <a:r>
              <a:rPr lang="en-US" sz="1400" b="1" dirty="0">
                <a:solidFill>
                  <a:srgbClr val="F1F5F9"/>
                </a:solidFill>
                <a:latin typeface="IBM Plex Sans" pitchFamily="34" charset="0"/>
                <a:ea typeface="IBM Plex Sans" pitchFamily="34" charset="-122"/>
                <a:cs typeface="IBM Plex Sans" pitchFamily="34" charset="-120"/>
              </a:rPr>
              <a:t>“Prediction abstained — CGM data too stale”</a:t>
            </a:r>
            <a:endParaRPr lang="en-US" sz="1400" dirty="0"/>
          </a:p>
        </p:txBody>
      </p:sp>
      <p:sp>
        <p:nvSpPr>
          <p:cNvPr id="34" name="Shape 28"/>
          <p:cNvSpPr/>
          <p:nvPr/>
        </p:nvSpPr>
        <p:spPr>
          <a:xfrm>
            <a:off x="6609080" y="3436621"/>
            <a:ext cx="76200" cy="76200"/>
          </a:xfrm>
          <a:prstGeom prst="roundRect">
            <a:avLst>
              <a:gd name="adj" fmla="val 25000"/>
            </a:avLst>
          </a:prstGeom>
          <a:solidFill>
            <a:srgbClr val="4ADE80"/>
          </a:solidFill>
          <a:ln/>
        </p:spPr>
      </p:sp>
      <p:sp>
        <p:nvSpPr>
          <p:cNvPr id="35" name="Text 29"/>
          <p:cNvSpPr/>
          <p:nvPr/>
        </p:nvSpPr>
        <p:spPr>
          <a:xfrm>
            <a:off x="6786880" y="3347721"/>
            <a:ext cx="5012639"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IBM Plex Sans" pitchFamily="34" charset="0"/>
                <a:ea typeface="IBM Plex Sans" pitchFamily="34" charset="-122"/>
                <a:cs typeface="IBM Plex Sans" pitchFamily="34" charset="-120"/>
              </a:rPr>
              <a:t>Result:</a:t>
            </a:r>
            <a:r>
              <a:rPr lang="en-US" sz="1400" dirty="0">
                <a:solidFill>
                  <a:srgbClr val="C3CEDA"/>
                </a:solidFill>
                <a:latin typeface="IBM Plex Sans" pitchFamily="34" charset="0"/>
                <a:ea typeface="IBM Plex Sans" pitchFamily="34" charset="-122"/>
                <a:cs typeface="IBM Plex Sans" pitchFamily="34" charset="-120"/>
              </a:rPr>
              <a:t> </a:t>
            </a:r>
            <a:r>
              <a:rPr lang="en-US" sz="1400" b="1" dirty="0">
                <a:solidFill>
                  <a:srgbClr val="F1F5F9"/>
                </a:solidFill>
                <a:latin typeface="IBM Plex Sans" pitchFamily="34" charset="0"/>
                <a:ea typeface="IBM Plex Sans" pitchFamily="34" charset="-122"/>
                <a:cs typeface="IBM Plex Sans" pitchFamily="34" charset="-120"/>
              </a:rPr>
              <a:t>Clinician knows to wait for fresh data</a:t>
            </a:r>
            <a:endParaRPr lang="en-US" sz="1400" dirty="0"/>
          </a:p>
        </p:txBody>
      </p:sp>
      <p:pic>
        <p:nvPicPr>
          <p:cNvPr id="36" name="Image 4" descr="Dashboard screenshot: Simulate CGM dropout toggle switched on, removing the latest 30 minutes from model input"/>
          <p:cNvPicPr>
            <a:picLocks noChangeAspect="1"/>
          </p:cNvPicPr>
          <p:nvPr/>
        </p:nvPicPr>
        <p:blipFill>
          <a:blip r:embed="rId7"/>
          <a:srcRect t="348" b="348"/>
          <a:stretch/>
        </p:blipFill>
        <p:spPr>
          <a:xfrm>
            <a:off x="361950" y="3912871"/>
            <a:ext cx="6375400" cy="1352550"/>
          </a:xfrm>
          <a:prstGeom prst="roundRect">
            <a:avLst>
              <a:gd name="adj" fmla="val 6103"/>
            </a:avLst>
          </a:prstGeom>
          <a:effectLst>
            <a:outerShdw blurRad="203200" dir="60000" algn="bl" rotWithShape="0">
              <a:srgbClr val="FF5C5C">
                <a:alpha val="28000"/>
              </a:srgbClr>
            </a:outerShdw>
          </a:effectLst>
        </p:spPr>
      </p:pic>
      <p:sp>
        <p:nvSpPr>
          <p:cNvPr id="37" name="Shape 30"/>
          <p:cNvSpPr/>
          <p:nvPr/>
        </p:nvSpPr>
        <p:spPr>
          <a:xfrm>
            <a:off x="358775" y="3909696"/>
            <a:ext cx="6381750" cy="1358900"/>
          </a:xfrm>
          <a:prstGeom prst="roundRect">
            <a:avLst>
              <a:gd name="adj" fmla="val 6308"/>
            </a:avLst>
          </a:prstGeom>
          <a:noFill/>
          <a:ln w="6350">
            <a:solidFill>
              <a:srgbClr val="FF5C5C">
                <a:alpha val="70000"/>
              </a:srgbClr>
            </a:solidFill>
            <a:prstDash val="solid"/>
          </a:ln>
        </p:spPr>
      </p:sp>
      <p:sp>
        <p:nvSpPr>
          <p:cNvPr id="38" name="Text 31"/>
          <p:cNvSpPr/>
          <p:nvPr/>
        </p:nvSpPr>
        <p:spPr>
          <a:xfrm>
            <a:off x="4779594" y="5008247"/>
            <a:ext cx="1898650" cy="257174"/>
          </a:xfrm>
          <a:custGeom>
            <a:avLst/>
            <a:gdLst/>
            <a:ahLst/>
            <a:cxnLst/>
            <a:rect l="l" t="t" r="r" b="b"/>
            <a:pathLst>
              <a:path w="1898650" h="242570">
                <a:moveTo>
                  <a:pt x="121285" y="0"/>
                </a:moveTo>
                <a:lnTo>
                  <a:pt x="1777365" y="0"/>
                </a:lnTo>
                <a:arcTo wR="121285" hR="121285" stAng="16200000" swAng="5400000"/>
                <a:lnTo>
                  <a:pt x="1898650" y="121285"/>
                </a:lnTo>
                <a:arcTo wR="121285" hR="121285" stAng="0" swAng="5400000"/>
                <a:lnTo>
                  <a:pt x="121285" y="242570"/>
                </a:lnTo>
                <a:arcTo wR="121285" hR="121285" stAng="5400000" swAng="5400000"/>
                <a:lnTo>
                  <a:pt x="0" y="121285"/>
                </a:lnTo>
                <a:arcTo wR="121285" hR="121285" stAng="10800000" swAng="5400000"/>
                <a:close/>
              </a:path>
            </a:pathLst>
          </a:custGeom>
          <a:solidFill>
            <a:srgbClr val="0A0F16"/>
          </a:solidFill>
          <a:ln w="6350">
            <a:solidFill>
              <a:srgbClr val="FF5C5C">
                <a:alpha val="70000"/>
              </a:srgbClr>
            </a:solidFill>
            <a:prstDash val="solid"/>
          </a:ln>
        </p:spPr>
        <p:txBody>
          <a:bodyPr wrap="square" lIns="0" tIns="14605" rIns="0" bIns="0" rtlCol="0" anchor="t">
            <a:normAutofit/>
          </a:bodyPr>
          <a:lstStyle/>
          <a:p>
            <a:pPr marL="0" indent="0" algn="ctr">
              <a:lnSpc>
                <a:spcPts val="1680"/>
              </a:lnSpc>
              <a:buNone/>
            </a:pPr>
            <a:r>
              <a:rPr lang="en-US" sz="1200" b="1" kern="0" spc="50" dirty="0">
                <a:solidFill>
                  <a:srgbClr val="F1F5F9"/>
                </a:solidFill>
                <a:latin typeface="JetBrains Mono" pitchFamily="49" charset="0"/>
                <a:ea typeface="JetBrains Mono" pitchFamily="49" charset="-122"/>
                <a:cs typeface="JetBrains Mono" pitchFamily="49" charset="-120"/>
              </a:rPr>
              <a:t>DROPOUT TOGGLE: ON</a:t>
            </a:r>
            <a:endParaRPr lang="en-US" sz="1200" dirty="0"/>
          </a:p>
        </p:txBody>
      </p:sp>
      <p:pic>
        <p:nvPicPr>
          <p:cNvPr id="39" name="Image 5" descr="Dashboard screenshot: glucose forecast withheld, 120-minute risk not estimable, sampled peak unavailable, with the message that CGM is older than 15 minutes and the engine abstains"/>
          <p:cNvPicPr>
            <a:picLocks noChangeAspect="1"/>
          </p:cNvPicPr>
          <p:nvPr/>
        </p:nvPicPr>
        <p:blipFill>
          <a:blip r:embed="rId8"/>
          <a:srcRect l="663" r="663"/>
          <a:stretch/>
        </p:blipFill>
        <p:spPr>
          <a:xfrm>
            <a:off x="6902450" y="3912871"/>
            <a:ext cx="4927600" cy="1352550"/>
          </a:xfrm>
          <a:prstGeom prst="roundRect">
            <a:avLst>
              <a:gd name="adj" fmla="val 6103"/>
            </a:avLst>
          </a:prstGeom>
          <a:effectLst>
            <a:outerShdw blurRad="203200" dir="60000" algn="bl" rotWithShape="0">
              <a:srgbClr val="4ADE80">
                <a:alpha val="28000"/>
              </a:srgbClr>
            </a:outerShdw>
          </a:effectLst>
        </p:spPr>
      </p:pic>
      <p:sp>
        <p:nvSpPr>
          <p:cNvPr id="40" name="Shape 32"/>
          <p:cNvSpPr/>
          <p:nvPr/>
        </p:nvSpPr>
        <p:spPr>
          <a:xfrm>
            <a:off x="6899275" y="3909696"/>
            <a:ext cx="4933950" cy="1358900"/>
          </a:xfrm>
          <a:prstGeom prst="roundRect">
            <a:avLst>
              <a:gd name="adj" fmla="val 6308"/>
            </a:avLst>
          </a:prstGeom>
          <a:noFill/>
          <a:ln w="6350">
            <a:solidFill>
              <a:srgbClr val="4ADE80">
                <a:alpha val="70000"/>
              </a:srgbClr>
            </a:solidFill>
            <a:prstDash val="solid"/>
          </a:ln>
        </p:spPr>
      </p:sp>
      <p:sp>
        <p:nvSpPr>
          <p:cNvPr id="41" name="Text 33"/>
          <p:cNvSpPr/>
          <p:nvPr/>
        </p:nvSpPr>
        <p:spPr>
          <a:xfrm>
            <a:off x="9845675" y="4949825"/>
            <a:ext cx="1898650" cy="242570"/>
          </a:xfrm>
          <a:custGeom>
            <a:avLst/>
            <a:gdLst/>
            <a:ahLst/>
            <a:cxnLst/>
            <a:rect l="l" t="t" r="r" b="b"/>
            <a:pathLst>
              <a:path w="1898650" h="242570">
                <a:moveTo>
                  <a:pt x="121285" y="0"/>
                </a:moveTo>
                <a:lnTo>
                  <a:pt x="1777365" y="0"/>
                </a:lnTo>
                <a:arcTo wR="121285" hR="121285" stAng="16200000" swAng="5400000"/>
                <a:lnTo>
                  <a:pt x="1898650" y="121285"/>
                </a:lnTo>
                <a:arcTo wR="121285" hR="121285" stAng="0" swAng="5400000"/>
                <a:lnTo>
                  <a:pt x="121285" y="242570"/>
                </a:lnTo>
                <a:arcTo wR="121285" hR="121285" stAng="5400000" swAng="5400000"/>
                <a:lnTo>
                  <a:pt x="0" y="121285"/>
                </a:lnTo>
                <a:arcTo wR="121285" hR="121285" stAng="10800000" swAng="5400000"/>
                <a:close/>
              </a:path>
            </a:pathLst>
          </a:custGeom>
          <a:solidFill>
            <a:srgbClr val="0A0F16"/>
          </a:solidFill>
          <a:ln w="6350">
            <a:solidFill>
              <a:srgbClr val="4ADE80">
                <a:alpha val="70000"/>
              </a:srgbClr>
            </a:solidFill>
            <a:prstDash val="solid"/>
          </a:ln>
        </p:spPr>
        <p:txBody>
          <a:bodyPr wrap="square" lIns="0" tIns="14605" rIns="0" bIns="0" rtlCol="0" anchor="t">
            <a:normAutofit/>
          </a:bodyPr>
          <a:lstStyle/>
          <a:p>
            <a:pPr marL="0" indent="0" algn="ctr">
              <a:lnSpc>
                <a:spcPts val="1680"/>
              </a:lnSpc>
              <a:buNone/>
            </a:pPr>
            <a:r>
              <a:rPr lang="en-US" sz="1200" b="1" kern="0" spc="50" dirty="0">
                <a:solidFill>
                  <a:srgbClr val="F1F5F9"/>
                </a:solidFill>
                <a:latin typeface="JetBrains Mono" pitchFamily="49" charset="0"/>
                <a:ea typeface="JetBrains Mono" pitchFamily="49" charset="-122"/>
                <a:cs typeface="JetBrains Mono" pitchFamily="49" charset="-120"/>
              </a:rPr>
              <a:t>ENGINE ABSTAINS</a:t>
            </a:r>
            <a:endParaRPr lang="en-US" sz="1200" dirty="0"/>
          </a:p>
        </p:txBody>
      </p:sp>
      <p:sp>
        <p:nvSpPr>
          <p:cNvPr id="42" name="Text 34"/>
          <p:cNvSpPr/>
          <p:nvPr/>
        </p:nvSpPr>
        <p:spPr>
          <a:xfrm>
            <a:off x="358775" y="5414646"/>
            <a:ext cx="11474450" cy="455930"/>
          </a:xfrm>
          <a:prstGeom prst="roundRect">
            <a:avLst>
              <a:gd name="adj" fmla="val 21588"/>
            </a:avLst>
          </a:prstGeom>
          <a:gradFill rotWithShape="1">
            <a:gsLst>
              <a:gs pos="0">
                <a:srgbClr val="FF5C5C">
                  <a:alpha val="12000"/>
                </a:srgbClr>
              </a:gs>
              <a:gs pos="35000">
                <a:srgbClr val="111923"/>
              </a:gs>
              <a:gs pos="65000">
                <a:srgbClr val="111923"/>
              </a:gs>
              <a:gs pos="100000">
                <a:srgbClr val="4ADE80">
                  <a:alpha val="12000"/>
                </a:srgbClr>
              </a:gs>
            </a:gsLst>
            <a:lin ang="0" scaled="0"/>
          </a:gradFill>
          <a:ln w="6350">
            <a:solidFill>
              <a:srgbClr val="2A3647"/>
            </a:solidFill>
            <a:prstDash val="solid"/>
          </a:ln>
        </p:spPr>
        <p:txBody>
          <a:bodyPr wrap="square" lIns="176277" tIns="61977" rIns="176277" bIns="61977" rtlCol="0" anchor="ctr">
            <a:normAutofit/>
          </a:bodyPr>
          <a:lstStyle/>
          <a:p>
            <a:pPr marL="0" indent="0" algn="ctr">
              <a:lnSpc>
                <a:spcPts val="1960"/>
              </a:lnSpc>
              <a:buNone/>
            </a:pPr>
            <a:r>
              <a:rPr lang="en-US" sz="1400" dirty="0">
                <a:solidFill>
                  <a:srgbClr val="C3CEDA"/>
                </a:solidFill>
                <a:latin typeface="IBM Plex Sans" pitchFamily="34" charset="0"/>
                <a:ea typeface="IBM Plex Sans" pitchFamily="34" charset="-122"/>
                <a:cs typeface="IBM Plex Sans" pitchFamily="34" charset="-120"/>
              </a:rPr>
              <a:t>In medical AI, </a:t>
            </a:r>
            <a:r>
              <a:rPr lang="en-US" sz="1400" b="1" dirty="0">
                <a:solidFill>
                  <a:srgbClr val="F1F5F9"/>
                </a:solidFill>
                <a:latin typeface="IBM Plex Sans" pitchFamily="34" charset="0"/>
                <a:ea typeface="IBM Plex Sans" pitchFamily="34" charset="-122"/>
                <a:cs typeface="IBM Plex Sans" pitchFamily="34" charset="-120"/>
              </a:rPr>
              <a:t>staying silent when uncertain</a:t>
            </a:r>
            <a:r>
              <a:rPr lang="en-US" sz="1400" dirty="0">
                <a:solidFill>
                  <a:srgbClr val="C3CEDA"/>
                </a:solidFill>
                <a:latin typeface="IBM Plex Sans" pitchFamily="34" charset="0"/>
                <a:ea typeface="IBM Plex Sans" pitchFamily="34" charset="-122"/>
                <a:cs typeface="IBM Plex Sans" pitchFamily="34" charset="-120"/>
              </a:rPr>
              <a:t> is a thousand times safer than giving a </a:t>
            </a:r>
            <a:r>
              <a:rPr lang="en-US" sz="1400" b="1" dirty="0">
                <a:solidFill>
                  <a:srgbClr val="F1F5F9"/>
                </a:solidFill>
                <a:latin typeface="IBM Plex Sans" pitchFamily="34" charset="0"/>
                <a:ea typeface="IBM Plex Sans" pitchFamily="34" charset="-122"/>
                <a:cs typeface="IBM Plex Sans" pitchFamily="34" charset="-120"/>
              </a:rPr>
              <a:t>confident wrong answer</a:t>
            </a:r>
            <a:r>
              <a:rPr lang="en-US" sz="1400" dirty="0">
                <a:solidFill>
                  <a:srgbClr val="C3CEDA"/>
                </a:solidFill>
                <a:latin typeface="IBM Plex Sans" pitchFamily="34" charset="0"/>
                <a:ea typeface="IBM Plex Sans" pitchFamily="34" charset="-122"/>
                <a:cs typeface="IBM Plex Sans"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55600" y="254000"/>
            <a:ext cx="355600" cy="50800"/>
          </a:xfrm>
          <a:prstGeom prst="roundRect">
            <a:avLst>
              <a:gd name="adj" fmla="val 50000"/>
            </a:avLst>
          </a:prstGeom>
          <a:solidFill>
            <a:srgbClr val="4ADE80"/>
          </a:solidFill>
          <a:ln/>
        </p:spPr>
      </p:sp>
      <p:sp>
        <p:nvSpPr>
          <p:cNvPr id="3" name="Shape 1"/>
          <p:cNvSpPr/>
          <p:nvPr/>
        </p:nvSpPr>
        <p:spPr>
          <a:xfrm>
            <a:off x="762000" y="254000"/>
            <a:ext cx="355600" cy="50800"/>
          </a:xfrm>
          <a:prstGeom prst="roundRect">
            <a:avLst>
              <a:gd name="adj" fmla="val 50000"/>
            </a:avLst>
          </a:prstGeom>
          <a:solidFill>
            <a:srgbClr val="2DD4BF"/>
          </a:solidFill>
          <a:ln/>
        </p:spPr>
      </p:sp>
      <p:sp>
        <p:nvSpPr>
          <p:cNvPr id="4" name="Shape 2"/>
          <p:cNvSpPr/>
          <p:nvPr/>
        </p:nvSpPr>
        <p:spPr>
          <a:xfrm>
            <a:off x="1168400" y="254000"/>
            <a:ext cx="355600" cy="50800"/>
          </a:xfrm>
          <a:prstGeom prst="roundRect">
            <a:avLst>
              <a:gd name="adj" fmla="val 50000"/>
            </a:avLst>
          </a:prstGeom>
          <a:solidFill>
            <a:srgbClr val="FBBF24"/>
          </a:solidFill>
          <a:ln/>
        </p:spPr>
      </p:sp>
      <p:sp>
        <p:nvSpPr>
          <p:cNvPr id="5" name="Text 3"/>
          <p:cNvSpPr>
            <a:spLocks noGrp="1"/>
          </p:cNvSpPr>
          <p:nvPr>
            <p:ph type="title"/>
          </p:nvPr>
        </p:nvSpPr>
        <p:spPr>
          <a:xfrm>
            <a:off x="355600" y="368300"/>
            <a:ext cx="6866763" cy="41656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F1F5F9"/>
                </a:solidFill>
                <a:latin typeface="IBM Plex Sans" pitchFamily="34" charset="0"/>
                <a:ea typeface="IBM Plex Sans" pitchFamily="34" charset="-122"/>
                <a:cs typeface="IBM Plex Sans" pitchFamily="34" charset="-120"/>
              </a:rPr>
              <a:t>Clinician What-If Scenario Sandbox</a:t>
            </a:r>
            <a:endParaRPr lang="en-US" sz="2800" dirty="0"/>
          </a:p>
        </p:txBody>
      </p:sp>
      <p:sp>
        <p:nvSpPr>
          <p:cNvPr id="6" name="Text 4"/>
          <p:cNvSpPr/>
          <p:nvPr/>
        </p:nvSpPr>
        <p:spPr>
          <a:xfrm>
            <a:off x="8435340" y="510539"/>
            <a:ext cx="340106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BBF24"/>
                </a:solidFill>
                <a:latin typeface="IBM Plex Sans" pitchFamily="34" charset="0"/>
                <a:ea typeface="IBM Plex Sans" pitchFamily="34" charset="-122"/>
                <a:cs typeface="IBM Plex Sans" pitchFamily="34" charset="-120"/>
              </a:rPr>
              <a:t>Unvalidated sandbox,</a:t>
            </a:r>
            <a:r>
              <a:rPr lang="en-US" sz="1400" dirty="0">
                <a:solidFill>
                  <a:srgbClr val="AEBBCA"/>
                </a:solidFill>
                <a:latin typeface="IBM Plex Sans" pitchFamily="34" charset="0"/>
                <a:ea typeface="IBM Plex Sans" pitchFamily="34" charset="-122"/>
                <a:cs typeface="IBM Plex Sans" pitchFamily="34" charset="-120"/>
              </a:rPr>
              <a:t> synthetic data</a:t>
            </a:r>
            <a:endParaRPr lang="en-US" sz="1400" dirty="0"/>
          </a:p>
        </p:txBody>
      </p:sp>
      <p:pic>
        <p:nvPicPr>
          <p:cNvPr id="7" name="Image 0" descr="Scenario comparison screenshot: not-medical-advice warning, activity and carbohydrate sliders, Run comparison and Reset buttons, baseline versus scenario forecast curves and a horizon table"/>
          <p:cNvPicPr>
            <a:picLocks noChangeAspect="1"/>
          </p:cNvPicPr>
          <p:nvPr/>
        </p:nvPicPr>
        <p:blipFill>
          <a:blip r:embed="rId3"/>
          <a:srcRect t="5" b="5"/>
          <a:stretch/>
        </p:blipFill>
        <p:spPr>
          <a:xfrm>
            <a:off x="361950" y="892811"/>
            <a:ext cx="4813300" cy="4610100"/>
          </a:xfrm>
          <a:prstGeom prst="roundRect">
            <a:avLst>
              <a:gd name="adj" fmla="val 1791"/>
            </a:avLst>
          </a:prstGeom>
          <a:effectLst>
            <a:outerShdw blurRad="254000" dir="60000" algn="bl" rotWithShape="0">
              <a:srgbClr val="4ADE80">
                <a:alpha val="30000"/>
              </a:srgbClr>
            </a:outerShdw>
          </a:effectLst>
        </p:spPr>
      </p:pic>
      <p:sp>
        <p:nvSpPr>
          <p:cNvPr id="8" name="Shape 5"/>
          <p:cNvSpPr/>
          <p:nvPr/>
        </p:nvSpPr>
        <p:spPr>
          <a:xfrm>
            <a:off x="358775" y="889636"/>
            <a:ext cx="4819650" cy="4616450"/>
          </a:xfrm>
          <a:prstGeom prst="roundRect">
            <a:avLst>
              <a:gd name="adj" fmla="val 1857"/>
            </a:avLst>
          </a:prstGeom>
          <a:noFill/>
          <a:ln w="6350">
            <a:solidFill>
              <a:srgbClr val="4ADE80">
                <a:alpha val="70000"/>
              </a:srgbClr>
            </a:solidFill>
            <a:prstDash val="solid"/>
          </a:ln>
        </p:spPr>
      </p:sp>
      <p:sp>
        <p:nvSpPr>
          <p:cNvPr id="9" name="Text 6"/>
          <p:cNvSpPr/>
          <p:nvPr/>
        </p:nvSpPr>
        <p:spPr>
          <a:xfrm>
            <a:off x="908050" y="16484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1</a:t>
            </a:r>
            <a:endParaRPr lang="en-US" sz="1200" dirty="0"/>
          </a:p>
        </p:txBody>
      </p:sp>
      <p:sp>
        <p:nvSpPr>
          <p:cNvPr id="10" name="Text 7"/>
          <p:cNvSpPr/>
          <p:nvPr/>
        </p:nvSpPr>
        <p:spPr>
          <a:xfrm>
            <a:off x="2241550" y="16484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2</a:t>
            </a:r>
            <a:endParaRPr lang="en-US" sz="1200" dirty="0"/>
          </a:p>
        </p:txBody>
      </p:sp>
      <p:sp>
        <p:nvSpPr>
          <p:cNvPr id="11" name="Text 8"/>
          <p:cNvSpPr/>
          <p:nvPr/>
        </p:nvSpPr>
        <p:spPr>
          <a:xfrm>
            <a:off x="4248150" y="16421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3</a:t>
            </a:r>
            <a:endParaRPr lang="en-US" sz="1200" dirty="0"/>
          </a:p>
        </p:txBody>
      </p:sp>
      <p:sp>
        <p:nvSpPr>
          <p:cNvPr id="12" name="Text 9"/>
          <p:cNvSpPr/>
          <p:nvPr/>
        </p:nvSpPr>
        <p:spPr>
          <a:xfrm>
            <a:off x="4845050" y="16421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4</a:t>
            </a:r>
            <a:endParaRPr lang="en-US" sz="1200" dirty="0"/>
          </a:p>
        </p:txBody>
      </p:sp>
      <p:sp>
        <p:nvSpPr>
          <p:cNvPr id="13" name="Text 10"/>
          <p:cNvSpPr/>
          <p:nvPr/>
        </p:nvSpPr>
        <p:spPr>
          <a:xfrm>
            <a:off x="4756150" y="95631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FBBF24"/>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2B1D00"/>
                </a:solidFill>
                <a:latin typeface="IBM Plex Sans" pitchFamily="34" charset="0"/>
                <a:ea typeface="IBM Plex Sans" pitchFamily="34" charset="-122"/>
                <a:cs typeface="IBM Plex Sans" pitchFamily="34" charset="-120"/>
              </a:rPr>
              <a:t>5</a:t>
            </a:r>
            <a:endParaRPr lang="en-US" sz="1200" dirty="0"/>
          </a:p>
        </p:txBody>
      </p:sp>
      <p:sp>
        <p:nvSpPr>
          <p:cNvPr id="14" name="Text 11"/>
          <p:cNvSpPr/>
          <p:nvPr/>
        </p:nvSpPr>
        <p:spPr>
          <a:xfrm>
            <a:off x="1574800" y="32105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a:effectLst>
            <a:outerShdw blurRad="25400" dir="60000" algn="bl" rotWithShape="0">
              <a:srgbClr val="0A0F16">
                <a:alpha val="85000"/>
              </a:srgbClr>
            </a:outerShdw>
          </a:effectLst>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6</a:t>
            </a:r>
            <a:endParaRPr lang="en-US" sz="1200" dirty="0"/>
          </a:p>
        </p:txBody>
      </p:sp>
      <p:sp>
        <p:nvSpPr>
          <p:cNvPr id="15" name="Shape 12"/>
          <p:cNvSpPr/>
          <p:nvPr/>
        </p:nvSpPr>
        <p:spPr>
          <a:xfrm>
            <a:off x="5413375" y="889636"/>
            <a:ext cx="6419850" cy="2081530"/>
          </a:xfrm>
          <a:prstGeom prst="roundRect">
            <a:avLst>
              <a:gd name="adj" fmla="val 5339"/>
            </a:avLst>
          </a:prstGeom>
          <a:solidFill>
            <a:srgbClr val="111923"/>
          </a:solidFill>
          <a:ln w="6350">
            <a:solidFill>
              <a:srgbClr val="4ADE80">
                <a:alpha val="45000"/>
              </a:srgbClr>
            </a:solidFill>
            <a:prstDash val="solid"/>
          </a:ln>
          <a:effectLst>
            <a:outerShdw blurRad="177800" dir="60000" algn="bl" rotWithShape="0">
              <a:srgbClr val="4ADE80">
                <a:alpha val="14000"/>
              </a:srgbClr>
            </a:outerShdw>
          </a:effectLst>
        </p:spPr>
      </p:sp>
      <p:sp>
        <p:nvSpPr>
          <p:cNvPr id="16" name="Shape 13"/>
          <p:cNvSpPr/>
          <p:nvPr/>
        </p:nvSpPr>
        <p:spPr>
          <a:xfrm>
            <a:off x="5554980" y="1261109"/>
            <a:ext cx="6136640" cy="0"/>
          </a:xfrm>
          <a:prstGeom prst="line">
            <a:avLst/>
          </a:prstGeom>
          <a:noFill/>
          <a:ln w="12700">
            <a:solidFill>
              <a:srgbClr val="4ADE80">
                <a:alpha val="35000"/>
              </a:srgbClr>
            </a:solidFill>
            <a:prstDash val="solid"/>
          </a:ln>
        </p:spPr>
      </p:sp>
      <p:sp>
        <p:nvSpPr>
          <p:cNvPr id="17" name="Text 14"/>
          <p:cNvSpPr/>
          <p:nvPr/>
        </p:nvSpPr>
        <p:spPr>
          <a:xfrm>
            <a:off x="5554980" y="993139"/>
            <a:ext cx="632073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4ADE80"/>
                </a:solidFill>
                <a:latin typeface="IBM Plex Sans" pitchFamily="34" charset="0"/>
                <a:ea typeface="IBM Plex Sans" pitchFamily="34" charset="-122"/>
                <a:cs typeface="IBM Plex Sans" pitchFamily="34" charset="-120"/>
              </a:rPr>
              <a:t>What each control does</a:t>
            </a:r>
            <a:endParaRPr lang="en-US" sz="1400" dirty="0"/>
          </a:p>
        </p:txBody>
      </p:sp>
      <p:sp>
        <p:nvSpPr>
          <p:cNvPr id="18" name="Text 15"/>
          <p:cNvSpPr/>
          <p:nvPr/>
        </p:nvSpPr>
        <p:spPr>
          <a:xfrm>
            <a:off x="5554980" y="13182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1</a:t>
            </a:r>
            <a:endParaRPr lang="en-US" sz="1200" dirty="0"/>
          </a:p>
        </p:txBody>
      </p:sp>
      <p:sp>
        <p:nvSpPr>
          <p:cNvPr id="19" name="Text 16"/>
          <p:cNvSpPr/>
          <p:nvPr/>
        </p:nvSpPr>
        <p:spPr>
          <a:xfrm>
            <a:off x="5847080" y="1319532"/>
            <a:ext cx="60198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Activity Assumption slider:</a:t>
            </a:r>
            <a:r>
              <a:rPr lang="en-US" sz="1200" dirty="0">
                <a:solidFill>
                  <a:srgbClr val="C3CEDA"/>
                </a:solidFill>
                <a:latin typeface="IBM Plex Sans" pitchFamily="34" charset="0"/>
                <a:ea typeface="IBM Plex Sans" pitchFamily="34" charset="-122"/>
                <a:cs typeface="IBM Plex Sans" pitchFamily="34" charset="-120"/>
              </a:rPr>
              <a:t> 0 to 30 minutes of exercise</a:t>
            </a:r>
            <a:endParaRPr lang="en-US" sz="1200" dirty="0"/>
          </a:p>
        </p:txBody>
      </p:sp>
      <p:sp>
        <p:nvSpPr>
          <p:cNvPr id="20" name="Text 17"/>
          <p:cNvSpPr/>
          <p:nvPr/>
        </p:nvSpPr>
        <p:spPr>
          <a:xfrm>
            <a:off x="5554980" y="15849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2</a:t>
            </a:r>
            <a:endParaRPr lang="en-US" sz="1200" dirty="0"/>
          </a:p>
        </p:txBody>
      </p:sp>
      <p:sp>
        <p:nvSpPr>
          <p:cNvPr id="21" name="Text 18"/>
          <p:cNvSpPr/>
          <p:nvPr/>
        </p:nvSpPr>
        <p:spPr>
          <a:xfrm>
            <a:off x="5847080" y="1586232"/>
            <a:ext cx="60198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Carbohydrate Assumption slider:</a:t>
            </a:r>
            <a:r>
              <a:rPr lang="en-US" sz="1200" dirty="0">
                <a:solidFill>
                  <a:srgbClr val="C3CEDA"/>
                </a:solidFill>
                <a:latin typeface="IBM Plex Sans" pitchFamily="34" charset="0"/>
                <a:ea typeface="IBM Plex Sans" pitchFamily="34" charset="-122"/>
                <a:cs typeface="IBM Plex Sans" pitchFamily="34" charset="-120"/>
              </a:rPr>
              <a:t> 0 to 100 grams of carbs</a:t>
            </a:r>
            <a:endParaRPr lang="en-US" sz="1200" dirty="0"/>
          </a:p>
        </p:txBody>
      </p:sp>
      <p:sp>
        <p:nvSpPr>
          <p:cNvPr id="22" name="Text 19"/>
          <p:cNvSpPr/>
          <p:nvPr/>
        </p:nvSpPr>
        <p:spPr>
          <a:xfrm>
            <a:off x="5554980" y="18516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3</a:t>
            </a:r>
            <a:endParaRPr lang="en-US" sz="1200" dirty="0"/>
          </a:p>
        </p:txBody>
      </p:sp>
      <p:sp>
        <p:nvSpPr>
          <p:cNvPr id="23" name="Text 20"/>
          <p:cNvSpPr/>
          <p:nvPr/>
        </p:nvSpPr>
        <p:spPr>
          <a:xfrm>
            <a:off x="5847080" y="1852932"/>
            <a:ext cx="60198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Run Comparison button:</a:t>
            </a:r>
            <a:r>
              <a:rPr lang="en-US" sz="1200" dirty="0">
                <a:solidFill>
                  <a:srgbClr val="C3CEDA"/>
                </a:solidFill>
                <a:latin typeface="IBM Plex Sans" pitchFamily="34" charset="0"/>
                <a:ea typeface="IBM Plex Sans" pitchFamily="34" charset="-122"/>
                <a:cs typeface="IBM Plex Sans" pitchFamily="34" charset="-120"/>
              </a:rPr>
              <a:t> Sends scenario to API, overlays result</a:t>
            </a:r>
            <a:endParaRPr lang="en-US" sz="1200" dirty="0"/>
          </a:p>
        </p:txBody>
      </p:sp>
      <p:sp>
        <p:nvSpPr>
          <p:cNvPr id="24" name="Text 21"/>
          <p:cNvSpPr/>
          <p:nvPr/>
        </p:nvSpPr>
        <p:spPr>
          <a:xfrm>
            <a:off x="5554980" y="21183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4</a:t>
            </a:r>
            <a:endParaRPr lang="en-US" sz="1200" dirty="0"/>
          </a:p>
        </p:txBody>
      </p:sp>
      <p:sp>
        <p:nvSpPr>
          <p:cNvPr id="25" name="Text 22"/>
          <p:cNvSpPr/>
          <p:nvPr/>
        </p:nvSpPr>
        <p:spPr>
          <a:xfrm>
            <a:off x="5847080" y="2119632"/>
            <a:ext cx="60198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Reset button:</a:t>
            </a:r>
            <a:r>
              <a:rPr lang="en-US" sz="1200" dirty="0">
                <a:solidFill>
                  <a:srgbClr val="C3CEDA"/>
                </a:solidFill>
                <a:latin typeface="IBM Plex Sans" pitchFamily="34" charset="0"/>
                <a:ea typeface="IBM Plex Sans" pitchFamily="34" charset="-122"/>
                <a:cs typeface="IBM Plex Sans" pitchFamily="34" charset="-120"/>
              </a:rPr>
              <a:t> Clear scenario back to baseline</a:t>
            </a:r>
            <a:endParaRPr lang="en-US" sz="1200" dirty="0"/>
          </a:p>
        </p:txBody>
      </p:sp>
      <p:sp>
        <p:nvSpPr>
          <p:cNvPr id="26" name="Text 23"/>
          <p:cNvSpPr/>
          <p:nvPr/>
        </p:nvSpPr>
        <p:spPr>
          <a:xfrm>
            <a:off x="5554980" y="23850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FBBF24"/>
          </a:solidFill>
          <a:ln/>
        </p:spPr>
        <p:txBody>
          <a:bodyPr wrap="square" lIns="0" tIns="0" rIns="0" bIns="0" rtlCol="0" anchor="t">
            <a:normAutofit/>
          </a:bodyPr>
          <a:lstStyle/>
          <a:p>
            <a:pPr marL="0" indent="0" algn="ctr">
              <a:lnSpc>
                <a:spcPts val="1704"/>
              </a:lnSpc>
              <a:buNone/>
            </a:pPr>
            <a:r>
              <a:rPr lang="en-US" sz="1200" b="1" dirty="0">
                <a:solidFill>
                  <a:srgbClr val="2B1D00"/>
                </a:solidFill>
                <a:latin typeface="IBM Plex Sans" pitchFamily="34" charset="0"/>
                <a:ea typeface="IBM Plex Sans" pitchFamily="34" charset="-122"/>
                <a:cs typeface="IBM Plex Sans" pitchFamily="34" charset="-120"/>
              </a:rPr>
              <a:t>5</a:t>
            </a:r>
            <a:endParaRPr lang="en-US" sz="1200" dirty="0"/>
          </a:p>
        </p:txBody>
      </p:sp>
      <p:sp>
        <p:nvSpPr>
          <p:cNvPr id="27" name="Text 24"/>
          <p:cNvSpPr/>
          <p:nvPr/>
        </p:nvSpPr>
        <p:spPr>
          <a:xfrm>
            <a:off x="5847080" y="2386332"/>
            <a:ext cx="60198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BF24"/>
                </a:solidFill>
                <a:latin typeface="IBM Plex Sans" pitchFamily="34" charset="0"/>
                <a:ea typeface="IBM Plex Sans" pitchFamily="34" charset="-122"/>
                <a:cs typeface="IBM Plex Sans" pitchFamily="34" charset="-120"/>
              </a:rPr>
              <a:t>Safety Warning:</a:t>
            </a:r>
            <a:r>
              <a:rPr lang="en-US" sz="1200" dirty="0">
                <a:solidFill>
                  <a:srgbClr val="C3CEDA"/>
                </a:solidFill>
                <a:latin typeface="IBM Plex Sans" pitchFamily="34" charset="0"/>
                <a:ea typeface="IBM Plex Sans" pitchFamily="34" charset="-122"/>
                <a:cs typeface="IBM Plex Sans" pitchFamily="34" charset="-120"/>
              </a:rPr>
              <a:t> </a:t>
            </a:r>
            <a:r>
              <a:rPr lang="en-US" sz="1200" b="1" dirty="0">
                <a:solidFill>
                  <a:srgbClr val="F1F5F9"/>
                </a:solidFill>
                <a:latin typeface="IBM Plex Sans" pitchFamily="34" charset="0"/>
                <a:ea typeface="IBM Plex Sans" pitchFamily="34" charset="-122"/>
                <a:cs typeface="IBM Plex Sans" pitchFamily="34" charset="-120"/>
              </a:rPr>
              <a:t>“Not medical advice — not a treatment estimate”</a:t>
            </a:r>
            <a:endParaRPr lang="en-US" sz="1200" dirty="0"/>
          </a:p>
        </p:txBody>
      </p:sp>
      <p:sp>
        <p:nvSpPr>
          <p:cNvPr id="28" name="Text 25"/>
          <p:cNvSpPr/>
          <p:nvPr/>
        </p:nvSpPr>
        <p:spPr>
          <a:xfrm>
            <a:off x="5554980" y="2651761"/>
            <a:ext cx="215900" cy="215900"/>
          </a:xfrm>
          <a:custGeom>
            <a:avLst/>
            <a:gdLst/>
            <a:ahLst/>
            <a:cxnLst/>
            <a:rect l="l" t="t" r="r" b="b"/>
            <a:pathLst>
              <a:path w="215900" h="215900">
                <a:moveTo>
                  <a:pt x="107950" y="0"/>
                </a:moveTo>
                <a:lnTo>
                  <a:pt x="107950" y="0"/>
                </a:lnTo>
                <a:arcTo wR="107950" hR="107950" stAng="16200000" swAng="5400000"/>
                <a:lnTo>
                  <a:pt x="215900" y="107950"/>
                </a:lnTo>
                <a:arcTo wR="107950" hR="107950" stAng="0" swAng="5400000"/>
                <a:lnTo>
                  <a:pt x="107950" y="215900"/>
                </a:lnTo>
                <a:arcTo wR="107950" hR="107950" stAng="5400000" swAng="5400000"/>
                <a:lnTo>
                  <a:pt x="0" y="107950"/>
                </a:lnTo>
                <a:arcTo wR="107950" hR="107950" stAng="10800000" swAng="5400000"/>
                <a:close/>
              </a:path>
            </a:pathLst>
          </a:custGeom>
          <a:solidFill>
            <a:srgbClr val="4ADE80"/>
          </a:solidFill>
          <a:ln/>
        </p:spPr>
        <p:txBody>
          <a:bodyPr wrap="square" lIns="0" tIns="0" rIns="0" bIns="0" rtlCol="0" anchor="t">
            <a:normAutofit/>
          </a:bodyPr>
          <a:lstStyle/>
          <a:p>
            <a:pPr marL="0" indent="0" algn="ctr">
              <a:lnSpc>
                <a:spcPts val="1704"/>
              </a:lnSpc>
              <a:buNone/>
            </a:pPr>
            <a:r>
              <a:rPr lang="en-US" sz="1200" b="1" dirty="0">
                <a:solidFill>
                  <a:srgbClr val="052E16"/>
                </a:solidFill>
                <a:latin typeface="IBM Plex Sans" pitchFamily="34" charset="0"/>
                <a:ea typeface="IBM Plex Sans" pitchFamily="34" charset="-122"/>
                <a:cs typeface="IBM Plex Sans" pitchFamily="34" charset="-120"/>
              </a:rPr>
              <a:t>6</a:t>
            </a:r>
            <a:endParaRPr lang="en-US" sz="1200" dirty="0"/>
          </a:p>
        </p:txBody>
      </p:sp>
      <p:sp>
        <p:nvSpPr>
          <p:cNvPr id="29" name="Text 26"/>
          <p:cNvSpPr/>
          <p:nvPr/>
        </p:nvSpPr>
        <p:spPr>
          <a:xfrm>
            <a:off x="5847080" y="2653032"/>
            <a:ext cx="60198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Baseline vs Scenario comparison:</a:t>
            </a:r>
            <a:r>
              <a:rPr lang="en-US" sz="1200" dirty="0">
                <a:solidFill>
                  <a:srgbClr val="C3CEDA"/>
                </a:solidFill>
                <a:latin typeface="IBM Plex Sans" pitchFamily="34" charset="0"/>
                <a:ea typeface="IBM Plex Sans" pitchFamily="34" charset="-122"/>
                <a:cs typeface="IBM Plex Sans" pitchFamily="34" charset="-120"/>
              </a:rPr>
              <a:t> Two curves overlaid</a:t>
            </a:r>
            <a:endParaRPr lang="en-US" sz="1200" dirty="0"/>
          </a:p>
        </p:txBody>
      </p:sp>
      <p:sp>
        <p:nvSpPr>
          <p:cNvPr id="30" name="Shape 27"/>
          <p:cNvSpPr/>
          <p:nvPr/>
        </p:nvSpPr>
        <p:spPr>
          <a:xfrm>
            <a:off x="5413375" y="3104514"/>
            <a:ext cx="6419850" cy="2401570"/>
          </a:xfrm>
          <a:prstGeom prst="roundRect">
            <a:avLst>
              <a:gd name="adj" fmla="val 4627"/>
            </a:avLst>
          </a:prstGeom>
          <a:gradFill rotWithShape="1">
            <a:gsLst>
              <a:gs pos="0">
                <a:srgbClr val="4ADE80">
                  <a:alpha val="10000"/>
                </a:srgbClr>
              </a:gs>
              <a:gs pos="55000">
                <a:srgbClr val="111923"/>
              </a:gs>
            </a:gsLst>
            <a:lin ang="4200000" scaled="0"/>
          </a:gradFill>
          <a:ln w="6350">
            <a:solidFill>
              <a:srgbClr val="4ADE80">
                <a:alpha val="45000"/>
              </a:srgbClr>
            </a:solidFill>
            <a:prstDash val="solid"/>
          </a:ln>
          <a:effectLst>
            <a:outerShdw blurRad="177800" dir="60000" algn="bl" rotWithShape="0">
              <a:srgbClr val="4ADE80">
                <a:alpha val="14000"/>
              </a:srgbClr>
            </a:outerShdw>
          </a:effectLst>
        </p:spPr>
      </p:sp>
      <p:sp>
        <p:nvSpPr>
          <p:cNvPr id="31" name="Shape 28"/>
          <p:cNvSpPr/>
          <p:nvPr/>
        </p:nvSpPr>
        <p:spPr>
          <a:xfrm>
            <a:off x="5554980" y="3475991"/>
            <a:ext cx="6136640" cy="0"/>
          </a:xfrm>
          <a:prstGeom prst="line">
            <a:avLst/>
          </a:prstGeom>
          <a:noFill/>
          <a:ln w="12700">
            <a:solidFill>
              <a:srgbClr val="4ADE80">
                <a:alpha val="35000"/>
              </a:srgbClr>
            </a:solidFill>
            <a:prstDash val="solid"/>
          </a:ln>
        </p:spPr>
      </p:sp>
      <p:sp>
        <p:nvSpPr>
          <p:cNvPr id="32" name="Text 29"/>
          <p:cNvSpPr/>
          <p:nvPr/>
        </p:nvSpPr>
        <p:spPr>
          <a:xfrm>
            <a:off x="5554980" y="3208021"/>
            <a:ext cx="632073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4ADE80"/>
                </a:solidFill>
                <a:latin typeface="IBM Plex Sans" pitchFamily="34" charset="0"/>
                <a:ea typeface="IBM Plex Sans" pitchFamily="34" charset="-122"/>
                <a:cs typeface="IBM Plex Sans" pitchFamily="34" charset="-120"/>
              </a:rPr>
              <a:t>Use Case Examples</a:t>
            </a:r>
            <a:endParaRPr lang="en-US" sz="1400" dirty="0"/>
          </a:p>
        </p:txBody>
      </p:sp>
      <p:sp>
        <p:nvSpPr>
          <p:cNvPr id="33" name="Text 30"/>
          <p:cNvSpPr/>
          <p:nvPr/>
        </p:nvSpPr>
        <p:spPr>
          <a:xfrm>
            <a:off x="5554980" y="3533139"/>
            <a:ext cx="2964155"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3A3B5"/>
                </a:solidFill>
                <a:latin typeface="JetBrains Mono" pitchFamily="49" charset="0"/>
                <a:ea typeface="JetBrains Mono" pitchFamily="49" charset="-122"/>
                <a:cs typeface="JetBrains Mono" pitchFamily="49" charset="-120"/>
              </a:rPr>
              <a:t>SCENARIO</a:t>
            </a:r>
            <a:endParaRPr lang="en-US" sz="1200" dirty="0"/>
          </a:p>
        </p:txBody>
      </p:sp>
      <p:sp>
        <p:nvSpPr>
          <p:cNvPr id="34" name="Text 31"/>
          <p:cNvSpPr/>
          <p:nvPr/>
        </p:nvSpPr>
        <p:spPr>
          <a:xfrm>
            <a:off x="8813800" y="3533139"/>
            <a:ext cx="2964155"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3A3B5"/>
                </a:solidFill>
                <a:latin typeface="JetBrains Mono" pitchFamily="49" charset="0"/>
                <a:ea typeface="JetBrains Mono" pitchFamily="49" charset="-122"/>
                <a:cs typeface="JetBrains Mono" pitchFamily="49" charset="-120"/>
              </a:rPr>
              <a:t>CLINICIAN ASKS</a:t>
            </a:r>
            <a:endParaRPr lang="en-US" sz="1200" dirty="0"/>
          </a:p>
        </p:txBody>
      </p:sp>
      <p:sp>
        <p:nvSpPr>
          <p:cNvPr id="35" name="Shape 32"/>
          <p:cNvSpPr/>
          <p:nvPr/>
        </p:nvSpPr>
        <p:spPr>
          <a:xfrm>
            <a:off x="5558155" y="3800475"/>
            <a:ext cx="6130290" cy="532130"/>
          </a:xfrm>
          <a:prstGeom prst="roundRect">
            <a:avLst>
              <a:gd name="adj" fmla="val 13723"/>
            </a:avLst>
          </a:prstGeom>
          <a:solidFill>
            <a:srgbClr val="4ADE80">
              <a:alpha val="7000"/>
            </a:srgbClr>
          </a:solidFill>
          <a:ln w="6350">
            <a:solidFill>
              <a:srgbClr val="2A3647"/>
            </a:solidFill>
            <a:prstDash val="solid"/>
          </a:ln>
        </p:spPr>
      </p:sp>
      <p:sp>
        <p:nvSpPr>
          <p:cNvPr id="36" name="Text 33"/>
          <p:cNvSpPr/>
          <p:nvPr/>
        </p:nvSpPr>
        <p:spPr>
          <a:xfrm>
            <a:off x="5648960" y="3853182"/>
            <a:ext cx="2867355"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“Patient wants to eat 40g carbs (2 rotis)”</a:t>
            </a:r>
            <a:endParaRPr lang="en-US" sz="1200" dirty="0"/>
          </a:p>
        </p:txBody>
      </p:sp>
      <p:sp>
        <p:nvSpPr>
          <p:cNvPr id="37" name="Text 34"/>
          <p:cNvSpPr/>
          <p:nvPr/>
        </p:nvSpPr>
        <p:spPr>
          <a:xfrm>
            <a:off x="8534400" y="3959861"/>
            <a:ext cx="2286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4ADE80"/>
                </a:solidFill>
                <a:latin typeface="IBM Plex Sans" pitchFamily="34" charset="0"/>
                <a:ea typeface="IBM Plex Sans" pitchFamily="34" charset="-122"/>
                <a:cs typeface="IBM Plex Sans" pitchFamily="34" charset="-120"/>
              </a:rPr>
              <a:t>→</a:t>
            </a:r>
            <a:endParaRPr lang="en-US" sz="1400" dirty="0"/>
          </a:p>
        </p:txBody>
      </p:sp>
      <p:sp>
        <p:nvSpPr>
          <p:cNvPr id="38" name="Text 35"/>
          <p:cNvSpPr/>
          <p:nvPr/>
        </p:nvSpPr>
        <p:spPr>
          <a:xfrm>
            <a:off x="8813800" y="3959861"/>
            <a:ext cx="28673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“How much will glucose spike?”</a:t>
            </a:r>
            <a:endParaRPr lang="en-US" sz="1200" dirty="0"/>
          </a:p>
        </p:txBody>
      </p:sp>
      <p:sp>
        <p:nvSpPr>
          <p:cNvPr id="39" name="Shape 36"/>
          <p:cNvSpPr/>
          <p:nvPr/>
        </p:nvSpPr>
        <p:spPr>
          <a:xfrm>
            <a:off x="5558155" y="4389754"/>
            <a:ext cx="6130290" cy="318770"/>
          </a:xfrm>
          <a:prstGeom prst="roundRect">
            <a:avLst>
              <a:gd name="adj" fmla="val 22908"/>
            </a:avLst>
          </a:prstGeom>
          <a:solidFill>
            <a:srgbClr val="4ADE80">
              <a:alpha val="7000"/>
            </a:srgbClr>
          </a:solidFill>
          <a:ln w="6350">
            <a:solidFill>
              <a:srgbClr val="2A3647"/>
            </a:solidFill>
            <a:prstDash val="solid"/>
          </a:ln>
        </p:spPr>
      </p:sp>
      <p:sp>
        <p:nvSpPr>
          <p:cNvPr id="40" name="Text 37"/>
          <p:cNvSpPr/>
          <p:nvPr/>
        </p:nvSpPr>
        <p:spPr>
          <a:xfrm>
            <a:off x="5648960" y="4442464"/>
            <a:ext cx="286735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“Patient can walk for 20 minutes”</a:t>
            </a:r>
            <a:endParaRPr lang="en-US" sz="1200" dirty="0"/>
          </a:p>
        </p:txBody>
      </p:sp>
      <p:sp>
        <p:nvSpPr>
          <p:cNvPr id="41" name="Text 38"/>
          <p:cNvSpPr/>
          <p:nvPr/>
        </p:nvSpPr>
        <p:spPr>
          <a:xfrm>
            <a:off x="8534400" y="4442464"/>
            <a:ext cx="2286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4ADE80"/>
                </a:solidFill>
                <a:latin typeface="IBM Plex Sans" pitchFamily="34" charset="0"/>
                <a:ea typeface="IBM Plex Sans" pitchFamily="34" charset="-122"/>
                <a:cs typeface="IBM Plex Sans" pitchFamily="34" charset="-120"/>
              </a:rPr>
              <a:t>→</a:t>
            </a:r>
            <a:endParaRPr lang="en-US" sz="1400" dirty="0"/>
          </a:p>
        </p:txBody>
      </p:sp>
      <p:sp>
        <p:nvSpPr>
          <p:cNvPr id="42" name="Text 39"/>
          <p:cNvSpPr/>
          <p:nvPr/>
        </p:nvSpPr>
        <p:spPr>
          <a:xfrm>
            <a:off x="8813800" y="4442464"/>
            <a:ext cx="28673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“Will walking offset the carb spike?”</a:t>
            </a:r>
            <a:endParaRPr lang="en-US" sz="1200" dirty="0"/>
          </a:p>
        </p:txBody>
      </p:sp>
      <p:sp>
        <p:nvSpPr>
          <p:cNvPr id="43" name="Shape 40"/>
          <p:cNvSpPr/>
          <p:nvPr/>
        </p:nvSpPr>
        <p:spPr>
          <a:xfrm>
            <a:off x="5558155" y="4765675"/>
            <a:ext cx="6130290" cy="318770"/>
          </a:xfrm>
          <a:prstGeom prst="roundRect">
            <a:avLst>
              <a:gd name="adj" fmla="val 22908"/>
            </a:avLst>
          </a:prstGeom>
          <a:solidFill>
            <a:srgbClr val="4ADE80">
              <a:alpha val="7000"/>
            </a:srgbClr>
          </a:solidFill>
          <a:ln w="6350">
            <a:solidFill>
              <a:srgbClr val="2A3647"/>
            </a:solidFill>
            <a:prstDash val="solid"/>
          </a:ln>
        </p:spPr>
      </p:sp>
      <p:sp>
        <p:nvSpPr>
          <p:cNvPr id="44" name="Text 41"/>
          <p:cNvSpPr/>
          <p:nvPr/>
        </p:nvSpPr>
        <p:spPr>
          <a:xfrm>
            <a:off x="5648960" y="4818379"/>
            <a:ext cx="286735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“Combine both”</a:t>
            </a:r>
            <a:endParaRPr lang="en-US" sz="1200" dirty="0"/>
          </a:p>
        </p:txBody>
      </p:sp>
      <p:sp>
        <p:nvSpPr>
          <p:cNvPr id="45" name="Text 42"/>
          <p:cNvSpPr/>
          <p:nvPr/>
        </p:nvSpPr>
        <p:spPr>
          <a:xfrm>
            <a:off x="8534400" y="4818379"/>
            <a:ext cx="2286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4ADE80"/>
                </a:solidFill>
                <a:latin typeface="IBM Plex Sans" pitchFamily="34" charset="0"/>
                <a:ea typeface="IBM Plex Sans" pitchFamily="34" charset="-122"/>
                <a:cs typeface="IBM Plex Sans" pitchFamily="34" charset="-120"/>
              </a:rPr>
              <a:t>→</a:t>
            </a:r>
            <a:endParaRPr lang="en-US" sz="1400" dirty="0"/>
          </a:p>
        </p:txBody>
      </p:sp>
      <p:sp>
        <p:nvSpPr>
          <p:cNvPr id="46" name="Text 43"/>
          <p:cNvSpPr/>
          <p:nvPr/>
        </p:nvSpPr>
        <p:spPr>
          <a:xfrm>
            <a:off x="8813800" y="4818379"/>
            <a:ext cx="28673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“Net effect of meal + exercise?”</a:t>
            </a:r>
            <a:endParaRPr lang="en-US" sz="1200" dirty="0"/>
          </a:p>
        </p:txBody>
      </p:sp>
      <p:sp>
        <p:nvSpPr>
          <p:cNvPr id="47" name="Shape 44"/>
          <p:cNvSpPr/>
          <p:nvPr/>
        </p:nvSpPr>
        <p:spPr>
          <a:xfrm>
            <a:off x="358775" y="5639439"/>
            <a:ext cx="11474450" cy="704850"/>
          </a:xfrm>
          <a:prstGeom prst="roundRect">
            <a:avLst>
              <a:gd name="adj" fmla="val 13964"/>
            </a:avLst>
          </a:prstGeom>
          <a:gradFill rotWithShape="1">
            <a:gsLst>
              <a:gs pos="0">
                <a:srgbClr val="FBBF24">
                  <a:alpha val="16000"/>
                </a:srgbClr>
              </a:gs>
              <a:gs pos="70000">
                <a:srgbClr val="111923"/>
              </a:gs>
            </a:gsLst>
            <a:lin ang="0" scaled="0"/>
          </a:gradFill>
          <a:ln w="6350">
            <a:solidFill>
              <a:srgbClr val="FBBF24">
                <a:alpha val="60000"/>
              </a:srgbClr>
            </a:solidFill>
            <a:prstDash val="solid"/>
          </a:ln>
          <a:effectLst>
            <a:outerShdw blurRad="190500" dir="60000" algn="bl" rotWithShape="0">
              <a:srgbClr val="FBBF24">
                <a:alpha val="16000"/>
              </a:srgbClr>
            </a:outerShdw>
          </a:effectLst>
        </p:spPr>
      </p:sp>
      <p:pic>
        <p:nvPicPr>
          <p:cNvPr id="48" name="Image 1" descr="Amber warning triangle"/>
          <p:cNvPicPr>
            <a:picLocks noChangeAspect="1"/>
          </p:cNvPicPr>
          <p:nvPr/>
        </p:nvPicPr>
        <p:blipFill>
          <a:blip r:embed="rId4"/>
          <a:srcRect/>
          <a:stretch/>
        </p:blipFill>
        <p:spPr>
          <a:xfrm>
            <a:off x="538480" y="5826764"/>
            <a:ext cx="330200" cy="330200"/>
          </a:xfrm>
          <a:prstGeom prst="rect">
            <a:avLst/>
          </a:prstGeom>
        </p:spPr>
      </p:pic>
      <p:sp>
        <p:nvSpPr>
          <p:cNvPr id="49" name="Text 45"/>
          <p:cNvSpPr/>
          <p:nvPr/>
        </p:nvSpPr>
        <p:spPr>
          <a:xfrm>
            <a:off x="1008380" y="5742942"/>
            <a:ext cx="1096449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All scenario outputs are </a:t>
            </a:r>
            <a:r>
              <a:rPr lang="en-US" sz="1400" b="1" dirty="0">
                <a:solidFill>
                  <a:srgbClr val="F1F5F9"/>
                </a:solidFill>
                <a:latin typeface="IBM Plex Sans" pitchFamily="34" charset="0"/>
                <a:ea typeface="IBM Plex Sans" pitchFamily="34" charset="-122"/>
                <a:cs typeface="IBM Plex Sans" pitchFamily="34" charset="-120"/>
              </a:rPr>
              <a:t>bounded sandbox assumptions</a:t>
            </a:r>
            <a:r>
              <a:rPr lang="en-US" sz="1400" dirty="0">
                <a:solidFill>
                  <a:srgbClr val="C3CEDA"/>
                </a:solidFill>
                <a:latin typeface="IBM Plex Sans" pitchFamily="34" charset="0"/>
                <a:ea typeface="IBM Plex Sans" pitchFamily="34" charset="-122"/>
                <a:cs typeface="IBM Plex Sans" pitchFamily="34" charset="-120"/>
              </a:rPr>
              <a:t>. They are </a:t>
            </a:r>
            <a:r>
              <a:rPr lang="en-US" sz="1400" b="1" dirty="0">
                <a:solidFill>
                  <a:srgbClr val="FBBF24"/>
                </a:solidFill>
                <a:latin typeface="IBM Plex Sans" pitchFamily="34" charset="0"/>
                <a:ea typeface="IBM Plex Sans" pitchFamily="34" charset="-122"/>
                <a:cs typeface="IBM Plex Sans" pitchFamily="34" charset="-120"/>
              </a:rPr>
              <a:t>NOT</a:t>
            </a:r>
            <a:r>
              <a:rPr lang="en-US" sz="1400" dirty="0">
                <a:solidFill>
                  <a:srgbClr val="C3CEDA"/>
                </a:solidFill>
                <a:latin typeface="IBM Plex Sans" pitchFamily="34" charset="0"/>
                <a:ea typeface="IBM Plex Sans" pitchFamily="34" charset="-122"/>
                <a:cs typeface="IBM Plex Sans" pitchFamily="34" charset="-120"/>
              </a:rPr>
              <a:t> treatment effects, medication recommendations, or clinical dosing guidance.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55600" y="254000"/>
            <a:ext cx="355600" cy="50800"/>
          </a:xfrm>
          <a:prstGeom prst="roundRect">
            <a:avLst>
              <a:gd name="adj" fmla="val 50000"/>
            </a:avLst>
          </a:prstGeom>
          <a:solidFill>
            <a:srgbClr val="2DD4BF"/>
          </a:solidFill>
          <a:ln/>
        </p:spPr>
      </p:sp>
      <p:sp>
        <p:nvSpPr>
          <p:cNvPr id="3" name="Shape 1"/>
          <p:cNvSpPr/>
          <p:nvPr/>
        </p:nvSpPr>
        <p:spPr>
          <a:xfrm>
            <a:off x="762000" y="254000"/>
            <a:ext cx="355600" cy="50800"/>
          </a:xfrm>
          <a:prstGeom prst="roundRect">
            <a:avLst>
              <a:gd name="adj" fmla="val 50000"/>
            </a:avLst>
          </a:prstGeom>
          <a:solidFill>
            <a:srgbClr val="4ADE80"/>
          </a:solidFill>
          <a:ln/>
        </p:spPr>
      </p:sp>
      <p:sp>
        <p:nvSpPr>
          <p:cNvPr id="4" name="Shape 2"/>
          <p:cNvSpPr/>
          <p:nvPr/>
        </p:nvSpPr>
        <p:spPr>
          <a:xfrm>
            <a:off x="1168400" y="254000"/>
            <a:ext cx="355600" cy="50800"/>
          </a:xfrm>
          <a:prstGeom prst="roundRect">
            <a:avLst>
              <a:gd name="adj" fmla="val 50000"/>
            </a:avLst>
          </a:prstGeom>
          <a:solidFill>
            <a:srgbClr val="5B9DFF"/>
          </a:solidFill>
          <a:ln/>
        </p:spPr>
      </p:sp>
      <p:sp>
        <p:nvSpPr>
          <p:cNvPr id="5" name="Text 3"/>
          <p:cNvSpPr>
            <a:spLocks noGrp="1"/>
          </p:cNvSpPr>
          <p:nvPr>
            <p:ph type="title"/>
          </p:nvPr>
        </p:nvSpPr>
        <p:spPr>
          <a:xfrm>
            <a:off x="355600" y="368300"/>
            <a:ext cx="11825224" cy="41656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F1F5F9"/>
                </a:solidFill>
                <a:latin typeface="IBM Plex Sans" pitchFamily="34" charset="0"/>
                <a:ea typeface="IBM Plex Sans" pitchFamily="34" charset="-122"/>
                <a:cs typeface="IBM Plex Sans" pitchFamily="34" charset="-120"/>
              </a:rPr>
              <a:t>Quantitative Evaluation on Held-Out Test Patients</a:t>
            </a:r>
            <a:endParaRPr lang="en-US" sz="2800" dirty="0"/>
          </a:p>
        </p:txBody>
      </p:sp>
      <p:sp>
        <p:nvSpPr>
          <p:cNvPr id="6" name="Text 4"/>
          <p:cNvSpPr/>
          <p:nvPr/>
        </p:nvSpPr>
        <p:spPr>
          <a:xfrm>
            <a:off x="355600" y="886464"/>
            <a:ext cx="118252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DD4BF"/>
                </a:solidFill>
                <a:latin typeface="IBM Plex Sans" pitchFamily="34" charset="0"/>
                <a:ea typeface="IBM Plex Sans" pitchFamily="34" charset="-122"/>
                <a:cs typeface="IBM Plex Sans" pitchFamily="34" charset="-120"/>
              </a:rPr>
              <a:t>Forecast Accuracy &amp; Uncertainty Coverage</a:t>
            </a:r>
            <a:endParaRPr lang="en-US" sz="1600" dirty="0"/>
          </a:p>
        </p:txBody>
      </p:sp>
      <p:sp>
        <p:nvSpPr>
          <p:cNvPr id="7" name="Shape 5"/>
          <p:cNvSpPr/>
          <p:nvPr/>
        </p:nvSpPr>
        <p:spPr>
          <a:xfrm>
            <a:off x="358775" y="1184275"/>
            <a:ext cx="11474450" cy="1797050"/>
          </a:xfrm>
          <a:prstGeom prst="roundRect">
            <a:avLst>
              <a:gd name="adj" fmla="val 5477"/>
            </a:avLst>
          </a:prstGeom>
          <a:noFill/>
          <a:ln w="6350">
            <a:solidFill>
              <a:srgbClr val="2DD4BF">
                <a:alpha val="55000"/>
              </a:srgbClr>
            </a:solidFill>
            <a:prstDash val="solid"/>
          </a:ln>
          <a:effectLst>
            <a:outerShdw blurRad="203200" dir="60000" algn="bl" rotWithShape="0">
              <a:srgbClr val="2DD4BF">
                <a:alpha val="16000"/>
              </a:srgbClr>
            </a:outerShdw>
          </a:effectLst>
        </p:spPr>
      </p:sp>
      <p:sp>
        <p:nvSpPr>
          <p:cNvPr id="8" name="Shape 6"/>
          <p:cNvSpPr/>
          <p:nvPr/>
        </p:nvSpPr>
        <p:spPr>
          <a:xfrm>
            <a:off x="360680" y="1186179"/>
            <a:ext cx="11470640" cy="574040"/>
          </a:xfrm>
          <a:custGeom>
            <a:avLst/>
            <a:gdLst/>
            <a:ahLst/>
            <a:cxnLst/>
            <a:rect l="l" t="t" r="r" b="b"/>
            <a:pathLst>
              <a:path w="11470640" h="574040">
                <a:moveTo>
                  <a:pt x="0" y="96520"/>
                </a:moveTo>
                <a:arcTo wR="96520" hR="96520" stAng="10800000" swAng="5400000"/>
                <a:lnTo>
                  <a:pt x="11374120" y="0"/>
                </a:lnTo>
                <a:arcTo wR="96520" hR="96520" stAng="16200000" swAng="5400000"/>
                <a:lnTo>
                  <a:pt x="11470640" y="574040"/>
                </a:lnTo>
                <a:lnTo>
                  <a:pt x="0" y="574040"/>
                </a:lnTo>
                <a:close/>
              </a:path>
            </a:pathLst>
          </a:custGeom>
          <a:gradFill rotWithShape="1">
            <a:gsLst>
              <a:gs pos="0">
                <a:srgbClr val="14B8A6"/>
              </a:gs>
              <a:gs pos="100000">
                <a:srgbClr val="2DD4BF"/>
              </a:gs>
            </a:gsLst>
            <a:lin ang="0" scaled="0"/>
          </a:gradFill>
          <a:ln/>
        </p:spPr>
      </p:sp>
      <p:sp>
        <p:nvSpPr>
          <p:cNvPr id="9" name="Text 7"/>
          <p:cNvSpPr/>
          <p:nvPr/>
        </p:nvSpPr>
        <p:spPr>
          <a:xfrm>
            <a:off x="513080" y="1374142"/>
            <a:ext cx="1244362"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HORIZON</a:t>
            </a:r>
            <a:endParaRPr lang="en-US" sz="1200" dirty="0"/>
          </a:p>
        </p:txBody>
      </p:sp>
      <p:sp>
        <p:nvSpPr>
          <p:cNvPr id="10" name="Text 8"/>
          <p:cNvSpPr/>
          <p:nvPr/>
        </p:nvSpPr>
        <p:spPr>
          <a:xfrm>
            <a:off x="2011442" y="1374142"/>
            <a:ext cx="1741726"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MAE</a:t>
            </a:r>
            <a:endParaRPr lang="en-US" sz="1200" dirty="0"/>
          </a:p>
        </p:txBody>
      </p:sp>
      <p:sp>
        <p:nvSpPr>
          <p:cNvPr id="11" name="Text 9"/>
          <p:cNvSpPr/>
          <p:nvPr/>
        </p:nvSpPr>
        <p:spPr>
          <a:xfrm>
            <a:off x="4007167" y="1374142"/>
            <a:ext cx="1741726"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RMSE</a:t>
            </a:r>
            <a:endParaRPr lang="en-US" sz="1200" dirty="0"/>
          </a:p>
        </p:txBody>
      </p:sp>
      <p:sp>
        <p:nvSpPr>
          <p:cNvPr id="12" name="Text 10"/>
          <p:cNvSpPr/>
          <p:nvPr/>
        </p:nvSpPr>
        <p:spPr>
          <a:xfrm>
            <a:off x="6002893" y="1275079"/>
            <a:ext cx="3073544" cy="42164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CONFORMAL COVERAGE (TARGET: 90%)</a:t>
            </a:r>
            <a:endParaRPr lang="en-US" sz="1200" dirty="0"/>
          </a:p>
        </p:txBody>
      </p:sp>
      <p:sp>
        <p:nvSpPr>
          <p:cNvPr id="13" name="Text 11"/>
          <p:cNvSpPr/>
          <p:nvPr/>
        </p:nvSpPr>
        <p:spPr>
          <a:xfrm>
            <a:off x="9291717" y="1374142"/>
            <a:ext cx="2458819"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INTERVAL WIDTH</a:t>
            </a:r>
            <a:endParaRPr lang="en-US" sz="1200" dirty="0"/>
          </a:p>
        </p:txBody>
      </p:sp>
      <p:sp>
        <p:nvSpPr>
          <p:cNvPr id="14" name="Shape 12"/>
          <p:cNvSpPr/>
          <p:nvPr/>
        </p:nvSpPr>
        <p:spPr>
          <a:xfrm>
            <a:off x="360680" y="1760221"/>
            <a:ext cx="11470640" cy="406400"/>
          </a:xfrm>
          <a:prstGeom prst="rect">
            <a:avLst/>
          </a:prstGeom>
          <a:solidFill>
            <a:srgbClr val="111923"/>
          </a:solidFill>
          <a:ln/>
        </p:spPr>
      </p:sp>
      <p:sp>
        <p:nvSpPr>
          <p:cNvPr id="15" name="Shape 13"/>
          <p:cNvSpPr/>
          <p:nvPr/>
        </p:nvSpPr>
        <p:spPr>
          <a:xfrm>
            <a:off x="360680" y="1763396"/>
            <a:ext cx="11470640" cy="0"/>
          </a:xfrm>
          <a:prstGeom prst="line">
            <a:avLst/>
          </a:prstGeom>
          <a:noFill/>
          <a:ln w="6350">
            <a:solidFill>
              <a:srgbClr val="1F2A38"/>
            </a:solidFill>
            <a:prstDash val="solid"/>
          </a:ln>
        </p:spPr>
      </p:sp>
      <p:sp>
        <p:nvSpPr>
          <p:cNvPr id="16" name="Text 14"/>
          <p:cNvSpPr/>
          <p:nvPr/>
        </p:nvSpPr>
        <p:spPr>
          <a:xfrm>
            <a:off x="513080" y="1842139"/>
            <a:ext cx="12443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1F5F9"/>
                </a:solidFill>
                <a:latin typeface="IBM Plex Sans" pitchFamily="34" charset="0"/>
                <a:ea typeface="IBM Plex Sans" pitchFamily="34" charset="-122"/>
                <a:cs typeface="IBM Plex Sans" pitchFamily="34" charset="-120"/>
              </a:rPr>
              <a:t>30 min</a:t>
            </a:r>
            <a:endParaRPr lang="en-US" sz="1500" dirty="0"/>
          </a:p>
        </p:txBody>
      </p:sp>
      <p:sp>
        <p:nvSpPr>
          <p:cNvPr id="17" name="Text 15"/>
          <p:cNvSpPr/>
          <p:nvPr/>
        </p:nvSpPr>
        <p:spPr>
          <a:xfrm>
            <a:off x="2011442" y="1841500"/>
            <a:ext cx="17417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7.21 mg/dL</a:t>
            </a:r>
            <a:endParaRPr lang="en-US" sz="1400" dirty="0"/>
          </a:p>
        </p:txBody>
      </p:sp>
      <p:sp>
        <p:nvSpPr>
          <p:cNvPr id="18" name="Text 16"/>
          <p:cNvSpPr/>
          <p:nvPr/>
        </p:nvSpPr>
        <p:spPr>
          <a:xfrm>
            <a:off x="4007167" y="1841500"/>
            <a:ext cx="17417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9.76 mg/dL</a:t>
            </a:r>
            <a:endParaRPr lang="en-US" sz="1400" dirty="0"/>
          </a:p>
        </p:txBody>
      </p:sp>
      <p:sp>
        <p:nvSpPr>
          <p:cNvPr id="19" name="Text 17"/>
          <p:cNvSpPr/>
          <p:nvPr/>
        </p:nvSpPr>
        <p:spPr>
          <a:xfrm>
            <a:off x="6002893" y="1841500"/>
            <a:ext cx="7289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JetBrains Mono" pitchFamily="49" charset="0"/>
                <a:ea typeface="JetBrains Mono" pitchFamily="49" charset="-122"/>
                <a:cs typeface="JetBrains Mono" pitchFamily="49" charset="-120"/>
              </a:rPr>
              <a:t>89.95%</a:t>
            </a:r>
            <a:endParaRPr lang="en-US" sz="1400" dirty="0"/>
          </a:p>
        </p:txBody>
      </p:sp>
      <p:pic>
        <p:nvPicPr>
          <p:cNvPr id="20" name="Image 0" descr="Target met"/>
          <p:cNvPicPr>
            <a:picLocks noChangeAspect="1"/>
          </p:cNvPicPr>
          <p:nvPr/>
        </p:nvPicPr>
        <p:blipFill>
          <a:blip r:embed="rId3"/>
          <a:srcRect/>
          <a:stretch/>
        </p:blipFill>
        <p:spPr>
          <a:xfrm>
            <a:off x="6731874" y="1864364"/>
            <a:ext cx="203200" cy="203200"/>
          </a:xfrm>
          <a:prstGeom prst="rect">
            <a:avLst/>
          </a:prstGeom>
        </p:spPr>
      </p:pic>
      <p:sp>
        <p:nvSpPr>
          <p:cNvPr id="21" name="Text 18"/>
          <p:cNvSpPr/>
          <p:nvPr/>
        </p:nvSpPr>
        <p:spPr>
          <a:xfrm>
            <a:off x="9291717" y="1841500"/>
            <a:ext cx="245881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30.04 mg/dL</a:t>
            </a:r>
            <a:endParaRPr lang="en-US" sz="1400" dirty="0"/>
          </a:p>
        </p:txBody>
      </p:sp>
      <p:sp>
        <p:nvSpPr>
          <p:cNvPr id="22" name="Shape 19"/>
          <p:cNvSpPr/>
          <p:nvPr/>
        </p:nvSpPr>
        <p:spPr>
          <a:xfrm>
            <a:off x="360680" y="2166621"/>
            <a:ext cx="11470640" cy="406400"/>
          </a:xfrm>
          <a:prstGeom prst="rect">
            <a:avLst/>
          </a:prstGeom>
          <a:solidFill>
            <a:srgbClr val="0E151E"/>
          </a:solidFill>
          <a:ln/>
        </p:spPr>
      </p:sp>
      <p:sp>
        <p:nvSpPr>
          <p:cNvPr id="23" name="Shape 20"/>
          <p:cNvSpPr/>
          <p:nvPr/>
        </p:nvSpPr>
        <p:spPr>
          <a:xfrm>
            <a:off x="360680" y="2169796"/>
            <a:ext cx="11470640" cy="0"/>
          </a:xfrm>
          <a:prstGeom prst="line">
            <a:avLst/>
          </a:prstGeom>
          <a:noFill/>
          <a:ln w="6350">
            <a:solidFill>
              <a:srgbClr val="1F2A38"/>
            </a:solidFill>
            <a:prstDash val="solid"/>
          </a:ln>
        </p:spPr>
      </p:sp>
      <p:sp>
        <p:nvSpPr>
          <p:cNvPr id="24" name="Text 21"/>
          <p:cNvSpPr/>
          <p:nvPr/>
        </p:nvSpPr>
        <p:spPr>
          <a:xfrm>
            <a:off x="513080" y="2248539"/>
            <a:ext cx="12443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1F5F9"/>
                </a:solidFill>
                <a:latin typeface="IBM Plex Sans" pitchFamily="34" charset="0"/>
                <a:ea typeface="IBM Plex Sans" pitchFamily="34" charset="-122"/>
                <a:cs typeface="IBM Plex Sans" pitchFamily="34" charset="-120"/>
              </a:rPr>
              <a:t>60 min</a:t>
            </a:r>
            <a:endParaRPr lang="en-US" sz="1500" dirty="0"/>
          </a:p>
        </p:txBody>
      </p:sp>
      <p:sp>
        <p:nvSpPr>
          <p:cNvPr id="25" name="Text 22"/>
          <p:cNvSpPr/>
          <p:nvPr/>
        </p:nvSpPr>
        <p:spPr>
          <a:xfrm>
            <a:off x="2011442" y="2247900"/>
            <a:ext cx="17417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7.85 mg/dL</a:t>
            </a:r>
            <a:endParaRPr lang="en-US" sz="1400" dirty="0"/>
          </a:p>
        </p:txBody>
      </p:sp>
      <p:sp>
        <p:nvSpPr>
          <p:cNvPr id="26" name="Text 23"/>
          <p:cNvSpPr/>
          <p:nvPr/>
        </p:nvSpPr>
        <p:spPr>
          <a:xfrm>
            <a:off x="4007167" y="2247900"/>
            <a:ext cx="17417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10.42 mg/dL</a:t>
            </a:r>
            <a:endParaRPr lang="en-US" sz="1400" dirty="0"/>
          </a:p>
        </p:txBody>
      </p:sp>
      <p:sp>
        <p:nvSpPr>
          <p:cNvPr id="27" name="Text 24"/>
          <p:cNvSpPr/>
          <p:nvPr/>
        </p:nvSpPr>
        <p:spPr>
          <a:xfrm>
            <a:off x="6002893" y="2247900"/>
            <a:ext cx="7289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JetBrains Mono" pitchFamily="49" charset="0"/>
                <a:ea typeface="JetBrains Mono" pitchFamily="49" charset="-122"/>
                <a:cs typeface="JetBrains Mono" pitchFamily="49" charset="-120"/>
              </a:rPr>
              <a:t>89.36%</a:t>
            </a:r>
            <a:endParaRPr lang="en-US" sz="1400" dirty="0"/>
          </a:p>
        </p:txBody>
      </p:sp>
      <p:pic>
        <p:nvPicPr>
          <p:cNvPr id="28" name="Image 1" descr="Target met"/>
          <p:cNvPicPr>
            <a:picLocks noChangeAspect="1"/>
          </p:cNvPicPr>
          <p:nvPr/>
        </p:nvPicPr>
        <p:blipFill>
          <a:blip r:embed="rId3"/>
          <a:srcRect/>
          <a:stretch/>
        </p:blipFill>
        <p:spPr>
          <a:xfrm>
            <a:off x="6731874" y="2270764"/>
            <a:ext cx="203200" cy="203200"/>
          </a:xfrm>
          <a:prstGeom prst="rect">
            <a:avLst/>
          </a:prstGeom>
        </p:spPr>
      </p:pic>
      <p:sp>
        <p:nvSpPr>
          <p:cNvPr id="29" name="Text 25"/>
          <p:cNvSpPr/>
          <p:nvPr/>
        </p:nvSpPr>
        <p:spPr>
          <a:xfrm>
            <a:off x="9291717" y="2247900"/>
            <a:ext cx="245881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32.08 mg/dL</a:t>
            </a:r>
            <a:endParaRPr lang="en-US" sz="1400" dirty="0"/>
          </a:p>
        </p:txBody>
      </p:sp>
      <p:sp>
        <p:nvSpPr>
          <p:cNvPr id="30" name="Shape 26"/>
          <p:cNvSpPr/>
          <p:nvPr/>
        </p:nvSpPr>
        <p:spPr>
          <a:xfrm>
            <a:off x="360680" y="2573021"/>
            <a:ext cx="11470640" cy="406400"/>
          </a:xfrm>
          <a:custGeom>
            <a:avLst/>
            <a:gdLst/>
            <a:ahLst/>
            <a:cxnLst/>
            <a:rect l="l" t="t" r="r" b="b"/>
            <a:pathLst>
              <a:path w="11470640" h="406400">
                <a:moveTo>
                  <a:pt x="11470640" y="309880"/>
                </a:moveTo>
                <a:arcTo wR="96520" hR="96520" stAng="0" swAng="5400000"/>
                <a:lnTo>
                  <a:pt x="96520" y="406400"/>
                </a:lnTo>
                <a:arcTo wR="96520" hR="96520" stAng="5400000" swAng="5400000"/>
                <a:lnTo>
                  <a:pt x="0" y="0"/>
                </a:lnTo>
                <a:lnTo>
                  <a:pt x="11470640" y="0"/>
                </a:lnTo>
                <a:close/>
              </a:path>
            </a:pathLst>
          </a:custGeom>
          <a:solidFill>
            <a:srgbClr val="111923"/>
          </a:solidFill>
          <a:ln/>
        </p:spPr>
      </p:sp>
      <p:sp>
        <p:nvSpPr>
          <p:cNvPr id="31" name="Shape 27"/>
          <p:cNvSpPr/>
          <p:nvPr/>
        </p:nvSpPr>
        <p:spPr>
          <a:xfrm>
            <a:off x="360680" y="2573021"/>
            <a:ext cx="11470640" cy="406400"/>
          </a:xfrm>
          <a:custGeom>
            <a:avLst/>
            <a:gdLst/>
            <a:ahLst/>
            <a:cxnLst/>
            <a:rect l="l" t="t" r="r" b="b"/>
            <a:pathLst>
              <a:path w="11470640" h="406400">
                <a:moveTo>
                  <a:pt x="0" y="0"/>
                </a:moveTo>
                <a:lnTo>
                  <a:pt x="11470640" y="0"/>
                </a:lnTo>
                <a:lnTo>
                  <a:pt x="11470640" y="6350"/>
                </a:lnTo>
                <a:lnTo>
                  <a:pt x="0" y="6350"/>
                </a:lnTo>
                <a:lnTo>
                  <a:pt x="0" y="0"/>
                </a:lnTo>
                <a:close/>
              </a:path>
            </a:pathLst>
          </a:custGeom>
          <a:solidFill>
            <a:srgbClr val="1F2A38"/>
          </a:solidFill>
          <a:ln/>
        </p:spPr>
      </p:sp>
      <p:sp>
        <p:nvSpPr>
          <p:cNvPr id="32" name="Text 28"/>
          <p:cNvSpPr/>
          <p:nvPr/>
        </p:nvSpPr>
        <p:spPr>
          <a:xfrm>
            <a:off x="513080" y="2654939"/>
            <a:ext cx="1244362"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1F5F9"/>
                </a:solidFill>
                <a:latin typeface="IBM Plex Sans" pitchFamily="34" charset="0"/>
                <a:ea typeface="IBM Plex Sans" pitchFamily="34" charset="-122"/>
                <a:cs typeface="IBM Plex Sans" pitchFamily="34" charset="-120"/>
              </a:rPr>
              <a:t>120 min</a:t>
            </a:r>
            <a:endParaRPr lang="en-US" sz="1500" dirty="0"/>
          </a:p>
        </p:txBody>
      </p:sp>
      <p:sp>
        <p:nvSpPr>
          <p:cNvPr id="33" name="Text 29"/>
          <p:cNvSpPr/>
          <p:nvPr/>
        </p:nvSpPr>
        <p:spPr>
          <a:xfrm>
            <a:off x="2011442" y="2654300"/>
            <a:ext cx="17417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8.38 mg/dL</a:t>
            </a:r>
            <a:endParaRPr lang="en-US" sz="1400" dirty="0"/>
          </a:p>
        </p:txBody>
      </p:sp>
      <p:sp>
        <p:nvSpPr>
          <p:cNvPr id="34" name="Text 30"/>
          <p:cNvSpPr/>
          <p:nvPr/>
        </p:nvSpPr>
        <p:spPr>
          <a:xfrm>
            <a:off x="4007167" y="2654300"/>
            <a:ext cx="17417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11.00 mg/dL</a:t>
            </a:r>
            <a:endParaRPr lang="en-US" sz="1400" dirty="0"/>
          </a:p>
        </p:txBody>
      </p:sp>
      <p:sp>
        <p:nvSpPr>
          <p:cNvPr id="35" name="Text 31"/>
          <p:cNvSpPr/>
          <p:nvPr/>
        </p:nvSpPr>
        <p:spPr>
          <a:xfrm>
            <a:off x="6002893" y="2654300"/>
            <a:ext cx="7289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JetBrains Mono" pitchFamily="49" charset="0"/>
                <a:ea typeface="JetBrains Mono" pitchFamily="49" charset="-122"/>
                <a:cs typeface="JetBrains Mono" pitchFamily="49" charset="-120"/>
              </a:rPr>
              <a:t>90.00%</a:t>
            </a:r>
            <a:endParaRPr lang="en-US" sz="1400" dirty="0"/>
          </a:p>
        </p:txBody>
      </p:sp>
      <p:pic>
        <p:nvPicPr>
          <p:cNvPr id="36" name="Image 2" descr="Target met"/>
          <p:cNvPicPr>
            <a:picLocks noChangeAspect="1"/>
          </p:cNvPicPr>
          <p:nvPr/>
        </p:nvPicPr>
        <p:blipFill>
          <a:blip r:embed="rId3"/>
          <a:srcRect/>
          <a:stretch/>
        </p:blipFill>
        <p:spPr>
          <a:xfrm>
            <a:off x="6731874" y="2677164"/>
            <a:ext cx="203200" cy="203200"/>
          </a:xfrm>
          <a:prstGeom prst="rect">
            <a:avLst/>
          </a:prstGeom>
        </p:spPr>
      </p:pic>
      <p:sp>
        <p:nvSpPr>
          <p:cNvPr id="37" name="Text 32"/>
          <p:cNvSpPr/>
          <p:nvPr/>
        </p:nvSpPr>
        <p:spPr>
          <a:xfrm>
            <a:off x="9291717" y="2654300"/>
            <a:ext cx="245881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34.93 mg/dL</a:t>
            </a:r>
            <a:endParaRPr lang="en-US" sz="1400" dirty="0"/>
          </a:p>
        </p:txBody>
      </p:sp>
      <p:sp>
        <p:nvSpPr>
          <p:cNvPr id="38" name="Text 33"/>
          <p:cNvSpPr/>
          <p:nvPr/>
        </p:nvSpPr>
        <p:spPr>
          <a:xfrm>
            <a:off x="355600" y="3111500"/>
            <a:ext cx="118252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DD4BF"/>
                </a:solidFill>
                <a:latin typeface="IBM Plex Sans" pitchFamily="34" charset="0"/>
                <a:ea typeface="IBM Plex Sans" pitchFamily="34" charset="-122"/>
                <a:cs typeface="IBM Plex Sans" pitchFamily="34" charset="-120"/>
              </a:rPr>
              <a:t>Event Risk Calibration </a:t>
            </a:r>
            <a:r>
              <a:rPr lang="en-US" sz="1600" b="1" dirty="0">
                <a:solidFill>
                  <a:srgbClr val="93A3B5"/>
                </a:solidFill>
                <a:latin typeface="IBM Plex Sans" pitchFamily="34" charset="0"/>
                <a:ea typeface="IBM Plex Sans" pitchFamily="34" charset="-122"/>
                <a:cs typeface="IBM Plex Sans" pitchFamily="34" charset="-120"/>
              </a:rPr>
              <a:t>(Before → After Platt Scaling)</a:t>
            </a:r>
            <a:endParaRPr lang="en-US" sz="1600" dirty="0"/>
          </a:p>
        </p:txBody>
      </p:sp>
      <p:sp>
        <p:nvSpPr>
          <p:cNvPr id="39" name="Shape 34"/>
          <p:cNvSpPr/>
          <p:nvPr/>
        </p:nvSpPr>
        <p:spPr>
          <a:xfrm>
            <a:off x="358775" y="3409317"/>
            <a:ext cx="11474450" cy="2005330"/>
          </a:xfrm>
          <a:prstGeom prst="roundRect">
            <a:avLst>
              <a:gd name="adj" fmla="val 4908"/>
            </a:avLst>
          </a:prstGeom>
          <a:noFill/>
          <a:ln w="6350">
            <a:solidFill>
              <a:srgbClr val="2DD4BF">
                <a:alpha val="55000"/>
              </a:srgbClr>
            </a:solidFill>
            <a:prstDash val="solid"/>
          </a:ln>
          <a:effectLst>
            <a:outerShdw blurRad="203200" dir="60000" algn="bl" rotWithShape="0">
              <a:srgbClr val="2DD4BF">
                <a:alpha val="16000"/>
              </a:srgbClr>
            </a:outerShdw>
          </a:effectLst>
        </p:spPr>
      </p:sp>
      <p:sp>
        <p:nvSpPr>
          <p:cNvPr id="40" name="Shape 35"/>
          <p:cNvSpPr/>
          <p:nvPr/>
        </p:nvSpPr>
        <p:spPr>
          <a:xfrm>
            <a:off x="360680" y="3411221"/>
            <a:ext cx="11470640" cy="375920"/>
          </a:xfrm>
          <a:custGeom>
            <a:avLst/>
            <a:gdLst/>
            <a:ahLst/>
            <a:cxnLst/>
            <a:rect l="l" t="t" r="r" b="b"/>
            <a:pathLst>
              <a:path w="11470640" h="375920">
                <a:moveTo>
                  <a:pt x="0" y="96520"/>
                </a:moveTo>
                <a:arcTo wR="96520" hR="96520" stAng="10800000" swAng="5400000"/>
                <a:lnTo>
                  <a:pt x="11374120" y="0"/>
                </a:lnTo>
                <a:arcTo wR="96520" hR="96520" stAng="16200000" swAng="5400000"/>
                <a:lnTo>
                  <a:pt x="11470640" y="375920"/>
                </a:lnTo>
                <a:lnTo>
                  <a:pt x="0" y="375920"/>
                </a:lnTo>
                <a:close/>
              </a:path>
            </a:pathLst>
          </a:custGeom>
          <a:gradFill rotWithShape="1">
            <a:gsLst>
              <a:gs pos="0">
                <a:srgbClr val="14B8A6"/>
              </a:gs>
              <a:gs pos="100000">
                <a:srgbClr val="2DD4BF"/>
              </a:gs>
            </a:gsLst>
            <a:lin ang="0" scaled="0"/>
          </a:gradFill>
          <a:ln/>
        </p:spPr>
      </p:sp>
      <p:sp>
        <p:nvSpPr>
          <p:cNvPr id="41" name="Text 36"/>
          <p:cNvSpPr/>
          <p:nvPr/>
        </p:nvSpPr>
        <p:spPr>
          <a:xfrm>
            <a:off x="513080" y="3500121"/>
            <a:ext cx="2111764"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METRIC</a:t>
            </a:r>
            <a:endParaRPr lang="en-US" sz="1200" dirty="0"/>
          </a:p>
        </p:txBody>
      </p:sp>
      <p:sp>
        <p:nvSpPr>
          <p:cNvPr id="42" name="Text 37"/>
          <p:cNvSpPr/>
          <p:nvPr/>
        </p:nvSpPr>
        <p:spPr>
          <a:xfrm>
            <a:off x="2868136" y="3500121"/>
            <a:ext cx="2534198"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BEFORE CALIBRATION</a:t>
            </a:r>
            <a:endParaRPr lang="en-US" sz="1200" dirty="0"/>
          </a:p>
        </p:txBody>
      </p:sp>
      <p:sp>
        <p:nvSpPr>
          <p:cNvPr id="43" name="Text 38"/>
          <p:cNvSpPr/>
          <p:nvPr/>
        </p:nvSpPr>
        <p:spPr>
          <a:xfrm>
            <a:off x="5633323" y="3500121"/>
            <a:ext cx="2534117"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AFTER CALIBRATION</a:t>
            </a:r>
            <a:endParaRPr lang="en-US" sz="1200" dirty="0"/>
          </a:p>
        </p:txBody>
      </p:sp>
      <p:sp>
        <p:nvSpPr>
          <p:cNvPr id="44" name="Text 39"/>
          <p:cNvSpPr/>
          <p:nvPr/>
        </p:nvSpPr>
        <p:spPr>
          <a:xfrm>
            <a:off x="8398431" y="3500121"/>
            <a:ext cx="3378904" cy="22352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04222A"/>
                </a:solidFill>
                <a:latin typeface="IBM Plex Sans" pitchFamily="34" charset="0"/>
                <a:ea typeface="IBM Plex Sans" pitchFamily="34" charset="-122"/>
                <a:cs typeface="IBM Plex Sans" pitchFamily="34" charset="-120"/>
              </a:rPr>
              <a:t>IMPROVEMENT</a:t>
            </a:r>
            <a:endParaRPr lang="en-US" sz="1200" dirty="0"/>
          </a:p>
        </p:txBody>
      </p:sp>
      <p:sp>
        <p:nvSpPr>
          <p:cNvPr id="45" name="Shape 40"/>
          <p:cNvSpPr/>
          <p:nvPr/>
        </p:nvSpPr>
        <p:spPr>
          <a:xfrm>
            <a:off x="360680" y="3787142"/>
            <a:ext cx="11470640" cy="406400"/>
          </a:xfrm>
          <a:prstGeom prst="rect">
            <a:avLst/>
          </a:prstGeom>
          <a:solidFill>
            <a:srgbClr val="111923"/>
          </a:solidFill>
          <a:ln/>
        </p:spPr>
      </p:sp>
      <p:sp>
        <p:nvSpPr>
          <p:cNvPr id="46" name="Shape 41"/>
          <p:cNvSpPr/>
          <p:nvPr/>
        </p:nvSpPr>
        <p:spPr>
          <a:xfrm>
            <a:off x="360680" y="3790317"/>
            <a:ext cx="11470640" cy="0"/>
          </a:xfrm>
          <a:prstGeom prst="line">
            <a:avLst/>
          </a:prstGeom>
          <a:noFill/>
          <a:ln w="6350">
            <a:solidFill>
              <a:srgbClr val="1F2A38"/>
            </a:solidFill>
            <a:prstDash val="solid"/>
          </a:ln>
        </p:spPr>
      </p:sp>
      <p:sp>
        <p:nvSpPr>
          <p:cNvPr id="47" name="Text 42"/>
          <p:cNvSpPr/>
          <p:nvPr/>
        </p:nvSpPr>
        <p:spPr>
          <a:xfrm>
            <a:off x="513080" y="3869054"/>
            <a:ext cx="211176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1F5F9"/>
                </a:solidFill>
                <a:latin typeface="IBM Plex Sans" pitchFamily="34" charset="0"/>
                <a:ea typeface="IBM Plex Sans" pitchFamily="34" charset="-122"/>
                <a:cs typeface="IBM Plex Sans" pitchFamily="34" charset="-120"/>
              </a:rPr>
              <a:t>AUROC</a:t>
            </a:r>
            <a:endParaRPr lang="en-US" sz="1500" dirty="0"/>
          </a:p>
        </p:txBody>
      </p:sp>
      <p:sp>
        <p:nvSpPr>
          <p:cNvPr id="48" name="Text 43"/>
          <p:cNvSpPr/>
          <p:nvPr/>
        </p:nvSpPr>
        <p:spPr>
          <a:xfrm>
            <a:off x="2868136" y="3868421"/>
            <a:ext cx="253419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0.94330</a:t>
            </a:r>
            <a:endParaRPr lang="en-US" sz="1400" dirty="0"/>
          </a:p>
        </p:txBody>
      </p:sp>
      <p:sp>
        <p:nvSpPr>
          <p:cNvPr id="49" name="Text 44"/>
          <p:cNvSpPr/>
          <p:nvPr/>
        </p:nvSpPr>
        <p:spPr>
          <a:xfrm>
            <a:off x="5633323" y="3868421"/>
            <a:ext cx="253411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0.94330</a:t>
            </a:r>
            <a:endParaRPr lang="en-US" sz="1400" dirty="0"/>
          </a:p>
        </p:txBody>
      </p:sp>
      <p:sp>
        <p:nvSpPr>
          <p:cNvPr id="50" name="Text 45"/>
          <p:cNvSpPr/>
          <p:nvPr/>
        </p:nvSpPr>
        <p:spPr>
          <a:xfrm>
            <a:off x="8398431" y="3868421"/>
            <a:ext cx="3378904" cy="27432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AEBBCA"/>
                </a:solidFill>
                <a:latin typeface="IBM Plex Sans" pitchFamily="34" charset="0"/>
                <a:ea typeface="IBM Plex Sans" pitchFamily="34" charset="-122"/>
                <a:cs typeface="IBM Plex Sans" pitchFamily="34" charset="-120"/>
              </a:rPr>
              <a:t>(ranking preserved)</a:t>
            </a:r>
            <a:endParaRPr lang="en-US" sz="1400" dirty="0"/>
          </a:p>
        </p:txBody>
      </p:sp>
      <p:sp>
        <p:nvSpPr>
          <p:cNvPr id="51" name="Shape 46"/>
          <p:cNvSpPr/>
          <p:nvPr/>
        </p:nvSpPr>
        <p:spPr>
          <a:xfrm>
            <a:off x="360680" y="4193542"/>
            <a:ext cx="11470640" cy="406400"/>
          </a:xfrm>
          <a:prstGeom prst="rect">
            <a:avLst/>
          </a:prstGeom>
          <a:solidFill>
            <a:srgbClr val="0E151E"/>
          </a:solidFill>
          <a:ln/>
        </p:spPr>
      </p:sp>
      <p:sp>
        <p:nvSpPr>
          <p:cNvPr id="52" name="Shape 47"/>
          <p:cNvSpPr/>
          <p:nvPr/>
        </p:nvSpPr>
        <p:spPr>
          <a:xfrm>
            <a:off x="360680" y="4196717"/>
            <a:ext cx="11470640" cy="0"/>
          </a:xfrm>
          <a:prstGeom prst="line">
            <a:avLst/>
          </a:prstGeom>
          <a:noFill/>
          <a:ln w="6350">
            <a:solidFill>
              <a:srgbClr val="1F2A38"/>
            </a:solidFill>
            <a:prstDash val="solid"/>
          </a:ln>
        </p:spPr>
      </p:sp>
      <p:sp>
        <p:nvSpPr>
          <p:cNvPr id="53" name="Text 48"/>
          <p:cNvSpPr/>
          <p:nvPr/>
        </p:nvSpPr>
        <p:spPr>
          <a:xfrm>
            <a:off x="513080" y="4275454"/>
            <a:ext cx="211176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1F5F9"/>
                </a:solidFill>
                <a:latin typeface="IBM Plex Sans" pitchFamily="34" charset="0"/>
                <a:ea typeface="IBM Plex Sans" pitchFamily="34" charset="-122"/>
                <a:cs typeface="IBM Plex Sans" pitchFamily="34" charset="-120"/>
              </a:rPr>
              <a:t>Brier Score</a:t>
            </a:r>
            <a:endParaRPr lang="en-US" sz="1500" dirty="0"/>
          </a:p>
        </p:txBody>
      </p:sp>
      <p:sp>
        <p:nvSpPr>
          <p:cNvPr id="54" name="Text 49"/>
          <p:cNvSpPr/>
          <p:nvPr/>
        </p:nvSpPr>
        <p:spPr>
          <a:xfrm>
            <a:off x="2868136" y="4274821"/>
            <a:ext cx="253419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0.05035</a:t>
            </a:r>
            <a:endParaRPr lang="en-US" sz="1400" dirty="0"/>
          </a:p>
        </p:txBody>
      </p:sp>
      <p:sp>
        <p:nvSpPr>
          <p:cNvPr id="55" name="Text 50"/>
          <p:cNvSpPr/>
          <p:nvPr/>
        </p:nvSpPr>
        <p:spPr>
          <a:xfrm>
            <a:off x="5633323" y="4274821"/>
            <a:ext cx="81026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JetBrains Mono" pitchFamily="49" charset="0"/>
                <a:ea typeface="JetBrains Mono" pitchFamily="49" charset="-122"/>
                <a:cs typeface="JetBrains Mono" pitchFamily="49" charset="-120"/>
              </a:rPr>
              <a:t>0.02437</a:t>
            </a:r>
            <a:endParaRPr lang="en-US" sz="1400" dirty="0"/>
          </a:p>
        </p:txBody>
      </p:sp>
      <p:pic>
        <p:nvPicPr>
          <p:cNvPr id="56" name="Image 3" descr="Lower is better"/>
          <p:cNvPicPr>
            <a:picLocks noChangeAspect="1"/>
          </p:cNvPicPr>
          <p:nvPr/>
        </p:nvPicPr>
        <p:blipFill>
          <a:blip r:embed="rId4"/>
          <a:srcRect/>
          <a:stretch/>
        </p:blipFill>
        <p:spPr>
          <a:xfrm>
            <a:off x="6443583" y="4310379"/>
            <a:ext cx="177800" cy="177800"/>
          </a:xfrm>
          <a:prstGeom prst="rect">
            <a:avLst/>
          </a:prstGeom>
        </p:spPr>
      </p:pic>
      <p:sp>
        <p:nvSpPr>
          <p:cNvPr id="57" name="Text 51"/>
          <p:cNvSpPr/>
          <p:nvPr/>
        </p:nvSpPr>
        <p:spPr>
          <a:xfrm>
            <a:off x="8398431" y="4274821"/>
            <a:ext cx="337890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IBM Plex Sans" pitchFamily="34" charset="0"/>
                <a:ea typeface="IBM Plex Sans" pitchFamily="34" charset="-122"/>
                <a:cs typeface="IBM Plex Sans" pitchFamily="34" charset="-120"/>
              </a:rPr>
              <a:t>51.6% better</a:t>
            </a:r>
            <a:endParaRPr lang="en-US" sz="1400" dirty="0"/>
          </a:p>
        </p:txBody>
      </p:sp>
      <p:sp>
        <p:nvSpPr>
          <p:cNvPr id="58" name="Shape 52"/>
          <p:cNvSpPr/>
          <p:nvPr/>
        </p:nvSpPr>
        <p:spPr>
          <a:xfrm>
            <a:off x="360680" y="4599942"/>
            <a:ext cx="11470640" cy="406400"/>
          </a:xfrm>
          <a:prstGeom prst="rect">
            <a:avLst/>
          </a:prstGeom>
          <a:solidFill>
            <a:srgbClr val="111923"/>
          </a:solidFill>
          <a:ln/>
        </p:spPr>
      </p:sp>
      <p:sp>
        <p:nvSpPr>
          <p:cNvPr id="59" name="Shape 53"/>
          <p:cNvSpPr/>
          <p:nvPr/>
        </p:nvSpPr>
        <p:spPr>
          <a:xfrm>
            <a:off x="360680" y="4603117"/>
            <a:ext cx="11470640" cy="0"/>
          </a:xfrm>
          <a:prstGeom prst="line">
            <a:avLst/>
          </a:prstGeom>
          <a:noFill/>
          <a:ln w="6350">
            <a:solidFill>
              <a:srgbClr val="1F2A38"/>
            </a:solidFill>
            <a:prstDash val="solid"/>
          </a:ln>
        </p:spPr>
      </p:sp>
      <p:sp>
        <p:nvSpPr>
          <p:cNvPr id="60" name="Text 54"/>
          <p:cNvSpPr/>
          <p:nvPr/>
        </p:nvSpPr>
        <p:spPr>
          <a:xfrm>
            <a:off x="513080" y="4681854"/>
            <a:ext cx="211176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1F5F9"/>
                </a:solidFill>
                <a:latin typeface="IBM Plex Sans" pitchFamily="34" charset="0"/>
                <a:ea typeface="IBM Plex Sans" pitchFamily="34" charset="-122"/>
                <a:cs typeface="IBM Plex Sans" pitchFamily="34" charset="-120"/>
              </a:rPr>
              <a:t>Log Loss</a:t>
            </a:r>
            <a:endParaRPr lang="en-US" sz="1500" dirty="0"/>
          </a:p>
        </p:txBody>
      </p:sp>
      <p:sp>
        <p:nvSpPr>
          <p:cNvPr id="61" name="Text 55"/>
          <p:cNvSpPr/>
          <p:nvPr/>
        </p:nvSpPr>
        <p:spPr>
          <a:xfrm>
            <a:off x="2868136" y="4681221"/>
            <a:ext cx="253419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0.18466</a:t>
            </a:r>
            <a:endParaRPr lang="en-US" sz="1400" dirty="0"/>
          </a:p>
        </p:txBody>
      </p:sp>
      <p:sp>
        <p:nvSpPr>
          <p:cNvPr id="62" name="Text 56"/>
          <p:cNvSpPr/>
          <p:nvPr/>
        </p:nvSpPr>
        <p:spPr>
          <a:xfrm>
            <a:off x="5633323" y="4681221"/>
            <a:ext cx="81026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JetBrains Mono" pitchFamily="49" charset="0"/>
                <a:ea typeface="JetBrains Mono" pitchFamily="49" charset="-122"/>
                <a:cs typeface="JetBrains Mono" pitchFamily="49" charset="-120"/>
              </a:rPr>
              <a:t>0.13559</a:t>
            </a:r>
            <a:endParaRPr lang="en-US" sz="1400" dirty="0"/>
          </a:p>
        </p:txBody>
      </p:sp>
      <p:pic>
        <p:nvPicPr>
          <p:cNvPr id="63" name="Image 4" descr="Lower is better"/>
          <p:cNvPicPr>
            <a:picLocks noChangeAspect="1"/>
          </p:cNvPicPr>
          <p:nvPr/>
        </p:nvPicPr>
        <p:blipFill>
          <a:blip r:embed="rId4"/>
          <a:srcRect/>
          <a:stretch/>
        </p:blipFill>
        <p:spPr>
          <a:xfrm>
            <a:off x="6443583" y="4716779"/>
            <a:ext cx="177800" cy="177800"/>
          </a:xfrm>
          <a:prstGeom prst="rect">
            <a:avLst/>
          </a:prstGeom>
        </p:spPr>
      </p:pic>
      <p:sp>
        <p:nvSpPr>
          <p:cNvPr id="64" name="Text 57"/>
          <p:cNvSpPr/>
          <p:nvPr/>
        </p:nvSpPr>
        <p:spPr>
          <a:xfrm>
            <a:off x="8398431" y="4681221"/>
            <a:ext cx="337890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IBM Plex Sans" pitchFamily="34" charset="0"/>
                <a:ea typeface="IBM Plex Sans" pitchFamily="34" charset="-122"/>
                <a:cs typeface="IBM Plex Sans" pitchFamily="34" charset="-120"/>
              </a:rPr>
              <a:t>26.6% better</a:t>
            </a:r>
            <a:endParaRPr lang="en-US" sz="1400" dirty="0"/>
          </a:p>
        </p:txBody>
      </p:sp>
      <p:sp>
        <p:nvSpPr>
          <p:cNvPr id="65" name="Shape 58"/>
          <p:cNvSpPr/>
          <p:nvPr/>
        </p:nvSpPr>
        <p:spPr>
          <a:xfrm>
            <a:off x="360680" y="5006342"/>
            <a:ext cx="11470640" cy="406400"/>
          </a:xfrm>
          <a:custGeom>
            <a:avLst/>
            <a:gdLst/>
            <a:ahLst/>
            <a:cxnLst/>
            <a:rect l="l" t="t" r="r" b="b"/>
            <a:pathLst>
              <a:path w="11470640" h="406400">
                <a:moveTo>
                  <a:pt x="11470640" y="309880"/>
                </a:moveTo>
                <a:arcTo wR="96520" hR="96520" stAng="0" swAng="5400000"/>
                <a:lnTo>
                  <a:pt x="96520" y="406400"/>
                </a:lnTo>
                <a:arcTo wR="96520" hR="96520" stAng="5400000" swAng="5400000"/>
                <a:lnTo>
                  <a:pt x="0" y="0"/>
                </a:lnTo>
                <a:lnTo>
                  <a:pt x="11470640" y="0"/>
                </a:lnTo>
                <a:close/>
              </a:path>
            </a:pathLst>
          </a:custGeom>
          <a:solidFill>
            <a:srgbClr val="0E151E"/>
          </a:solidFill>
          <a:ln/>
        </p:spPr>
      </p:sp>
      <p:sp>
        <p:nvSpPr>
          <p:cNvPr id="66" name="Shape 59"/>
          <p:cNvSpPr/>
          <p:nvPr/>
        </p:nvSpPr>
        <p:spPr>
          <a:xfrm>
            <a:off x="360680" y="5006342"/>
            <a:ext cx="11470640" cy="406400"/>
          </a:xfrm>
          <a:custGeom>
            <a:avLst/>
            <a:gdLst/>
            <a:ahLst/>
            <a:cxnLst/>
            <a:rect l="l" t="t" r="r" b="b"/>
            <a:pathLst>
              <a:path w="11470640" h="406400">
                <a:moveTo>
                  <a:pt x="0" y="0"/>
                </a:moveTo>
                <a:lnTo>
                  <a:pt x="11470640" y="0"/>
                </a:lnTo>
                <a:lnTo>
                  <a:pt x="11470640" y="6350"/>
                </a:lnTo>
                <a:lnTo>
                  <a:pt x="0" y="6350"/>
                </a:lnTo>
                <a:lnTo>
                  <a:pt x="0" y="0"/>
                </a:lnTo>
                <a:close/>
              </a:path>
            </a:pathLst>
          </a:custGeom>
          <a:solidFill>
            <a:srgbClr val="1F2A38"/>
          </a:solidFill>
          <a:ln/>
        </p:spPr>
      </p:sp>
      <p:sp>
        <p:nvSpPr>
          <p:cNvPr id="67" name="Text 60"/>
          <p:cNvSpPr/>
          <p:nvPr/>
        </p:nvSpPr>
        <p:spPr>
          <a:xfrm>
            <a:off x="513080" y="5088254"/>
            <a:ext cx="2111764"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1F5F9"/>
                </a:solidFill>
                <a:latin typeface="IBM Plex Sans" pitchFamily="34" charset="0"/>
                <a:ea typeface="IBM Plex Sans" pitchFamily="34" charset="-122"/>
                <a:cs typeface="IBM Plex Sans" pitchFamily="34" charset="-120"/>
              </a:rPr>
              <a:t>ECE</a:t>
            </a:r>
            <a:endParaRPr lang="en-US" sz="1500" dirty="0"/>
          </a:p>
        </p:txBody>
      </p:sp>
      <p:sp>
        <p:nvSpPr>
          <p:cNvPr id="68" name="Text 61"/>
          <p:cNvSpPr/>
          <p:nvPr/>
        </p:nvSpPr>
        <p:spPr>
          <a:xfrm>
            <a:off x="2868136" y="5087621"/>
            <a:ext cx="253419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2E8F0"/>
                </a:solidFill>
                <a:latin typeface="JetBrains Mono" pitchFamily="49" charset="0"/>
                <a:ea typeface="JetBrains Mono" pitchFamily="49" charset="-122"/>
                <a:cs typeface="JetBrains Mono" pitchFamily="49" charset="-120"/>
              </a:rPr>
              <a:t>0.05814</a:t>
            </a:r>
            <a:endParaRPr lang="en-US" sz="1400" dirty="0"/>
          </a:p>
        </p:txBody>
      </p:sp>
      <p:sp>
        <p:nvSpPr>
          <p:cNvPr id="69" name="Text 62"/>
          <p:cNvSpPr/>
          <p:nvPr/>
        </p:nvSpPr>
        <p:spPr>
          <a:xfrm>
            <a:off x="5633323" y="5087621"/>
            <a:ext cx="81026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JetBrains Mono" pitchFamily="49" charset="0"/>
                <a:ea typeface="JetBrains Mono" pitchFamily="49" charset="-122"/>
                <a:cs typeface="JetBrains Mono" pitchFamily="49" charset="-120"/>
              </a:rPr>
              <a:t>0.02387</a:t>
            </a:r>
            <a:endParaRPr lang="en-US" sz="1400" dirty="0"/>
          </a:p>
        </p:txBody>
      </p:sp>
      <p:pic>
        <p:nvPicPr>
          <p:cNvPr id="70" name="Image 5" descr="Lower is better"/>
          <p:cNvPicPr>
            <a:picLocks noChangeAspect="1"/>
          </p:cNvPicPr>
          <p:nvPr/>
        </p:nvPicPr>
        <p:blipFill>
          <a:blip r:embed="rId4"/>
          <a:srcRect/>
          <a:stretch/>
        </p:blipFill>
        <p:spPr>
          <a:xfrm>
            <a:off x="6443583" y="5123179"/>
            <a:ext cx="177800" cy="177800"/>
          </a:xfrm>
          <a:prstGeom prst="rect">
            <a:avLst/>
          </a:prstGeom>
        </p:spPr>
      </p:pic>
      <p:sp>
        <p:nvSpPr>
          <p:cNvPr id="71" name="Text 63"/>
          <p:cNvSpPr/>
          <p:nvPr/>
        </p:nvSpPr>
        <p:spPr>
          <a:xfrm>
            <a:off x="8398431" y="5087621"/>
            <a:ext cx="337890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DE80"/>
                </a:solidFill>
                <a:latin typeface="IBM Plex Sans" pitchFamily="34" charset="0"/>
                <a:ea typeface="IBM Plex Sans" pitchFamily="34" charset="-122"/>
                <a:cs typeface="IBM Plex Sans" pitchFamily="34" charset="-120"/>
              </a:rPr>
              <a:t>58.9% better</a:t>
            </a:r>
            <a:endParaRPr lang="en-US" sz="1400" dirty="0"/>
          </a:p>
        </p:txBody>
      </p:sp>
      <p:sp>
        <p:nvSpPr>
          <p:cNvPr id="72" name="Shape 64"/>
          <p:cNvSpPr/>
          <p:nvPr/>
        </p:nvSpPr>
        <p:spPr>
          <a:xfrm>
            <a:off x="358775" y="5547996"/>
            <a:ext cx="11474450" cy="537210"/>
          </a:xfrm>
          <a:prstGeom prst="roundRect">
            <a:avLst>
              <a:gd name="adj" fmla="val 18322"/>
            </a:avLst>
          </a:prstGeom>
          <a:gradFill rotWithShape="1">
            <a:gsLst>
              <a:gs pos="0">
                <a:srgbClr val="2DD4BF">
                  <a:alpha val="16000"/>
                </a:srgbClr>
              </a:gs>
              <a:gs pos="70000">
                <a:srgbClr val="111923"/>
              </a:gs>
            </a:gsLst>
            <a:lin ang="0" scaled="0"/>
          </a:gradFill>
          <a:ln w="6350">
            <a:solidFill>
              <a:srgbClr val="2DD4BF">
                <a:alpha val="60000"/>
              </a:srgbClr>
            </a:solidFill>
            <a:prstDash val="solid"/>
          </a:ln>
          <a:effectLst>
            <a:outerShdw blurRad="190500" dir="60000" algn="bl" rotWithShape="0">
              <a:srgbClr val="2DD4BF">
                <a:alpha val="18000"/>
              </a:srgbClr>
            </a:outerShdw>
          </a:effectLst>
        </p:spPr>
      </p:sp>
      <p:pic>
        <p:nvPicPr>
          <p:cNvPr id="73" name="Image 6" descr="Teal shield with a check mark"/>
          <p:cNvPicPr>
            <a:picLocks noChangeAspect="1"/>
          </p:cNvPicPr>
          <p:nvPr/>
        </p:nvPicPr>
        <p:blipFill>
          <a:blip r:embed="rId5"/>
          <a:srcRect/>
          <a:stretch/>
        </p:blipFill>
        <p:spPr>
          <a:xfrm>
            <a:off x="538480" y="5651500"/>
            <a:ext cx="330200" cy="330200"/>
          </a:xfrm>
          <a:prstGeom prst="rect">
            <a:avLst/>
          </a:prstGeom>
        </p:spPr>
      </p:pic>
      <p:sp>
        <p:nvSpPr>
          <p:cNvPr id="74" name="Text 65"/>
          <p:cNvSpPr/>
          <p:nvPr/>
        </p:nvSpPr>
        <p:spPr>
          <a:xfrm>
            <a:off x="1008380" y="5692142"/>
            <a:ext cx="1096449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CEDA"/>
                </a:solidFill>
                <a:latin typeface="IBM Plex Sans" pitchFamily="34" charset="0"/>
                <a:ea typeface="IBM Plex Sans" pitchFamily="34" charset="-122"/>
                <a:cs typeface="IBM Plex Sans" pitchFamily="34" charset="-120"/>
              </a:rPr>
              <a:t>All results are from </a:t>
            </a:r>
            <a:r>
              <a:rPr lang="en-US" sz="1400" b="1" dirty="0">
                <a:solidFill>
                  <a:srgbClr val="F1F5F9"/>
                </a:solidFill>
                <a:latin typeface="IBM Plex Sans" pitchFamily="34" charset="0"/>
                <a:ea typeface="IBM Plex Sans" pitchFamily="34" charset="-122"/>
                <a:cs typeface="IBM Plex Sans" pitchFamily="34" charset="-120"/>
              </a:rPr>
              <a:t>12 held-out test patients (60 patient-days)</a:t>
            </a:r>
            <a:r>
              <a:rPr lang="en-US" sz="1400" dirty="0">
                <a:solidFill>
                  <a:srgbClr val="C3CEDA"/>
                </a:solidFill>
                <a:latin typeface="IBM Plex Sans" pitchFamily="34" charset="0"/>
                <a:ea typeface="IBM Plex Sans" pitchFamily="34" charset="-122"/>
                <a:cs typeface="IBM Plex Sans" pitchFamily="34" charset="-120"/>
              </a:rPr>
              <a:t> that were </a:t>
            </a:r>
            <a:r>
              <a:rPr lang="en-US" sz="1400" b="1" dirty="0">
                <a:solidFill>
                  <a:srgbClr val="2DD4BF"/>
                </a:solidFill>
                <a:latin typeface="IBM Plex Sans" pitchFamily="34" charset="0"/>
                <a:ea typeface="IBM Plex Sans" pitchFamily="34" charset="-122"/>
                <a:cs typeface="IBM Plex Sans" pitchFamily="34" charset="-120"/>
              </a:rPr>
              <a:t>NEVER</a:t>
            </a:r>
            <a:r>
              <a:rPr lang="en-US" sz="1400" dirty="0">
                <a:solidFill>
                  <a:srgbClr val="C3CEDA"/>
                </a:solidFill>
                <a:latin typeface="IBM Plex Sans" pitchFamily="34" charset="0"/>
                <a:ea typeface="IBM Plex Sans" pitchFamily="34" charset="-122"/>
                <a:cs typeface="IBM Plex Sans" pitchFamily="34" charset="-120"/>
              </a:rPr>
              <a:t> used during training or calibration.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55600" y="279400"/>
            <a:ext cx="355600" cy="50800"/>
          </a:xfrm>
          <a:prstGeom prst="roundRect">
            <a:avLst>
              <a:gd name="adj" fmla="val 50000"/>
            </a:avLst>
          </a:prstGeom>
          <a:solidFill>
            <a:srgbClr val="4ADE80"/>
          </a:solidFill>
          <a:ln/>
        </p:spPr>
      </p:sp>
      <p:sp>
        <p:nvSpPr>
          <p:cNvPr id="3" name="Shape 1"/>
          <p:cNvSpPr/>
          <p:nvPr/>
        </p:nvSpPr>
        <p:spPr>
          <a:xfrm>
            <a:off x="762000" y="279400"/>
            <a:ext cx="355600" cy="50800"/>
          </a:xfrm>
          <a:prstGeom prst="roundRect">
            <a:avLst>
              <a:gd name="adj" fmla="val 50000"/>
            </a:avLst>
          </a:prstGeom>
          <a:solidFill>
            <a:srgbClr val="2DD4BF"/>
          </a:solidFill>
          <a:ln/>
        </p:spPr>
      </p:sp>
      <p:sp>
        <p:nvSpPr>
          <p:cNvPr id="4" name="Shape 2"/>
          <p:cNvSpPr/>
          <p:nvPr/>
        </p:nvSpPr>
        <p:spPr>
          <a:xfrm>
            <a:off x="1168400" y="279400"/>
            <a:ext cx="355600" cy="50800"/>
          </a:xfrm>
          <a:prstGeom prst="roundRect">
            <a:avLst>
              <a:gd name="adj" fmla="val 50000"/>
            </a:avLst>
          </a:prstGeom>
          <a:solidFill>
            <a:srgbClr val="5B9DFF"/>
          </a:solidFill>
          <a:ln/>
        </p:spPr>
      </p:sp>
      <p:sp>
        <p:nvSpPr>
          <p:cNvPr id="5" name="Shape 3"/>
          <p:cNvSpPr/>
          <p:nvPr/>
        </p:nvSpPr>
        <p:spPr>
          <a:xfrm>
            <a:off x="1574800" y="279400"/>
            <a:ext cx="355600" cy="50800"/>
          </a:xfrm>
          <a:prstGeom prst="roundRect">
            <a:avLst>
              <a:gd name="adj" fmla="val 50000"/>
            </a:avLst>
          </a:prstGeom>
          <a:solidFill>
            <a:srgbClr val="A78BFA"/>
          </a:solidFill>
          <a:ln/>
        </p:spPr>
      </p:sp>
      <p:sp>
        <p:nvSpPr>
          <p:cNvPr id="6" name="Text 4"/>
          <p:cNvSpPr>
            <a:spLocks noGrp="1"/>
          </p:cNvSpPr>
          <p:nvPr>
            <p:ph type="title"/>
          </p:nvPr>
        </p:nvSpPr>
        <p:spPr>
          <a:xfrm>
            <a:off x="355600" y="393700"/>
            <a:ext cx="11825224" cy="416560"/>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F1F5F9"/>
                </a:solidFill>
                <a:latin typeface="IBM Plex Sans" pitchFamily="34" charset="0"/>
                <a:ea typeface="IBM Plex Sans" pitchFamily="34" charset="-122"/>
                <a:cs typeface="IBM Plex Sans" pitchFamily="34" charset="-120"/>
              </a:rPr>
              <a:t>Future Roadmap: From Prototype to Clinical Validation</a:t>
            </a:r>
            <a:endParaRPr lang="en-US" sz="2800" dirty="0"/>
          </a:p>
        </p:txBody>
      </p:sp>
      <p:sp>
        <p:nvSpPr>
          <p:cNvPr id="7" name="Shape 5"/>
          <p:cNvSpPr/>
          <p:nvPr/>
        </p:nvSpPr>
        <p:spPr>
          <a:xfrm>
            <a:off x="1733550" y="1286514"/>
            <a:ext cx="8724900" cy="50800"/>
          </a:xfrm>
          <a:prstGeom prst="roundRect">
            <a:avLst>
              <a:gd name="adj" fmla="val 50000"/>
            </a:avLst>
          </a:prstGeom>
          <a:gradFill rotWithShape="1">
            <a:gsLst>
              <a:gs pos="0">
                <a:srgbClr val="4ADE80"/>
              </a:gs>
              <a:gs pos="36000">
                <a:srgbClr val="2DD4BF"/>
              </a:gs>
              <a:gs pos="68000">
                <a:srgbClr val="5B9DFF"/>
              </a:gs>
              <a:gs pos="100000">
                <a:srgbClr val="A78BFA"/>
              </a:gs>
            </a:gsLst>
            <a:lin ang="0" scaled="0"/>
          </a:gradFill>
          <a:ln/>
          <a:effectLst>
            <a:outerShdw blurRad="139700" dir="60000" algn="bl" rotWithShape="0">
              <a:srgbClr val="2DD4BF">
                <a:alpha val="55000"/>
              </a:srgbClr>
            </a:outerShdw>
          </a:effectLst>
        </p:spPr>
      </p:sp>
      <p:sp>
        <p:nvSpPr>
          <p:cNvPr id="8" name="Shape 6"/>
          <p:cNvSpPr/>
          <p:nvPr/>
        </p:nvSpPr>
        <p:spPr>
          <a:xfrm>
            <a:off x="1720850" y="1559564"/>
            <a:ext cx="25400" cy="152400"/>
          </a:xfrm>
          <a:prstGeom prst="rect">
            <a:avLst/>
          </a:prstGeom>
          <a:solidFill>
            <a:srgbClr val="4ADE80"/>
          </a:solidFill>
          <a:ln/>
        </p:spPr>
      </p:sp>
      <p:sp>
        <p:nvSpPr>
          <p:cNvPr id="9" name="Shape 7"/>
          <p:cNvSpPr/>
          <p:nvPr/>
        </p:nvSpPr>
        <p:spPr>
          <a:xfrm>
            <a:off x="4629150" y="1559564"/>
            <a:ext cx="25400" cy="152400"/>
          </a:xfrm>
          <a:prstGeom prst="rect">
            <a:avLst/>
          </a:prstGeom>
          <a:solidFill>
            <a:srgbClr val="2DD4BF"/>
          </a:solidFill>
          <a:ln/>
        </p:spPr>
      </p:sp>
      <p:sp>
        <p:nvSpPr>
          <p:cNvPr id="10" name="Shape 8"/>
          <p:cNvSpPr/>
          <p:nvPr/>
        </p:nvSpPr>
        <p:spPr>
          <a:xfrm>
            <a:off x="7537450" y="1559564"/>
            <a:ext cx="25400" cy="152400"/>
          </a:xfrm>
          <a:prstGeom prst="rect">
            <a:avLst/>
          </a:prstGeom>
          <a:solidFill>
            <a:srgbClr val="5B9DFF"/>
          </a:solidFill>
          <a:ln/>
        </p:spPr>
      </p:sp>
      <p:sp>
        <p:nvSpPr>
          <p:cNvPr id="11" name="Shape 9"/>
          <p:cNvSpPr/>
          <p:nvPr/>
        </p:nvSpPr>
        <p:spPr>
          <a:xfrm>
            <a:off x="10445750" y="1559564"/>
            <a:ext cx="25400" cy="152400"/>
          </a:xfrm>
          <a:prstGeom prst="rect">
            <a:avLst/>
          </a:prstGeom>
          <a:solidFill>
            <a:srgbClr val="A78BFA"/>
          </a:solidFill>
          <a:ln/>
        </p:spPr>
      </p:sp>
      <p:sp>
        <p:nvSpPr>
          <p:cNvPr id="12" name="Shape 10"/>
          <p:cNvSpPr/>
          <p:nvPr/>
        </p:nvSpPr>
        <p:spPr>
          <a:xfrm>
            <a:off x="1441450" y="1000764"/>
            <a:ext cx="533400" cy="533400"/>
          </a:xfrm>
          <a:prstGeom prst="roundRect">
            <a:avLst>
              <a:gd name="adj" fmla="val 50000"/>
            </a:avLst>
          </a:prstGeom>
          <a:solidFill>
            <a:srgbClr val="4ADE80"/>
          </a:solidFill>
          <a:ln w="25400">
            <a:solidFill>
              <a:srgbClr val="4ADE80"/>
            </a:solidFill>
            <a:prstDash val="solid"/>
          </a:ln>
          <a:effectLst>
            <a:outerShdw blurRad="50800" dir="60000" algn="bl" rotWithShape="0">
              <a:srgbClr val="4ADE80">
                <a:alpha val="18000"/>
              </a:srgbClr>
            </a:outerShdw>
          </a:effectLst>
        </p:spPr>
      </p:sp>
      <p:pic>
        <p:nvPicPr>
          <p:cNvPr id="13" name="Image 0" descr="Completed check mark"/>
          <p:cNvPicPr>
            <a:picLocks noChangeAspect="1"/>
          </p:cNvPicPr>
          <p:nvPr/>
        </p:nvPicPr>
        <p:blipFill>
          <a:blip r:embed="rId3"/>
          <a:srcRect/>
          <a:stretch/>
        </p:blipFill>
        <p:spPr>
          <a:xfrm>
            <a:off x="1543050" y="1102364"/>
            <a:ext cx="330200" cy="330200"/>
          </a:xfrm>
          <a:prstGeom prst="rect">
            <a:avLst/>
          </a:prstGeom>
        </p:spPr>
      </p:pic>
      <p:sp>
        <p:nvSpPr>
          <p:cNvPr id="14" name="Shape 11"/>
          <p:cNvSpPr/>
          <p:nvPr/>
        </p:nvSpPr>
        <p:spPr>
          <a:xfrm>
            <a:off x="4349750" y="1000764"/>
            <a:ext cx="533400" cy="533400"/>
          </a:xfrm>
          <a:prstGeom prst="roundRect">
            <a:avLst>
              <a:gd name="adj" fmla="val 50000"/>
            </a:avLst>
          </a:prstGeom>
          <a:solidFill>
            <a:srgbClr val="0A0F16"/>
          </a:solidFill>
          <a:ln w="25400">
            <a:solidFill>
              <a:srgbClr val="2DD4BF"/>
            </a:solidFill>
            <a:prstDash val="solid"/>
          </a:ln>
          <a:effectLst>
            <a:outerShdw blurRad="50800" dir="60000" algn="bl" rotWithShape="0">
              <a:srgbClr val="2DD4BF">
                <a:alpha val="18000"/>
              </a:srgbClr>
            </a:outerShdw>
          </a:effectLst>
        </p:spPr>
      </p:sp>
      <p:pic>
        <p:nvPicPr>
          <p:cNvPr id="15" name="Image 1" descr="Real-world dataset"/>
          <p:cNvPicPr>
            <a:picLocks noChangeAspect="1"/>
          </p:cNvPicPr>
          <p:nvPr/>
        </p:nvPicPr>
        <p:blipFill>
          <a:blip r:embed="rId4"/>
          <a:srcRect/>
          <a:stretch/>
        </p:blipFill>
        <p:spPr>
          <a:xfrm>
            <a:off x="4451350" y="1102364"/>
            <a:ext cx="330200" cy="330200"/>
          </a:xfrm>
          <a:prstGeom prst="rect">
            <a:avLst/>
          </a:prstGeom>
        </p:spPr>
      </p:pic>
      <p:sp>
        <p:nvSpPr>
          <p:cNvPr id="16" name="Shape 12"/>
          <p:cNvSpPr/>
          <p:nvPr/>
        </p:nvSpPr>
        <p:spPr>
          <a:xfrm>
            <a:off x="7258050" y="1000764"/>
            <a:ext cx="533400" cy="533400"/>
          </a:xfrm>
          <a:prstGeom prst="roundRect">
            <a:avLst>
              <a:gd name="adj" fmla="val 50000"/>
            </a:avLst>
          </a:prstGeom>
          <a:solidFill>
            <a:srgbClr val="0A0F16"/>
          </a:solidFill>
          <a:ln w="25400">
            <a:solidFill>
              <a:srgbClr val="5B9DFF"/>
            </a:solidFill>
            <a:prstDash val="solid"/>
          </a:ln>
          <a:effectLst>
            <a:outerShdw blurRad="50800" dir="60000" algn="bl" rotWithShape="0">
              <a:srgbClr val="5B9DFF">
                <a:alpha val="18000"/>
              </a:srgbClr>
            </a:outerShdw>
          </a:effectLst>
        </p:spPr>
      </p:sp>
      <p:pic>
        <p:nvPicPr>
          <p:cNvPr id="17" name="Image 2" descr="Live sensor signal"/>
          <p:cNvPicPr>
            <a:picLocks noChangeAspect="1"/>
          </p:cNvPicPr>
          <p:nvPr/>
        </p:nvPicPr>
        <p:blipFill>
          <a:blip r:embed="rId5"/>
          <a:srcRect/>
          <a:stretch/>
        </p:blipFill>
        <p:spPr>
          <a:xfrm>
            <a:off x="7359650" y="1102364"/>
            <a:ext cx="330200" cy="330200"/>
          </a:xfrm>
          <a:prstGeom prst="rect">
            <a:avLst/>
          </a:prstGeom>
        </p:spPr>
      </p:pic>
      <p:sp>
        <p:nvSpPr>
          <p:cNvPr id="18" name="Shape 13"/>
          <p:cNvSpPr/>
          <p:nvPr/>
        </p:nvSpPr>
        <p:spPr>
          <a:xfrm>
            <a:off x="10166350" y="1000764"/>
            <a:ext cx="533400" cy="533400"/>
          </a:xfrm>
          <a:prstGeom prst="roundRect">
            <a:avLst>
              <a:gd name="adj" fmla="val 50000"/>
            </a:avLst>
          </a:prstGeom>
          <a:solidFill>
            <a:srgbClr val="0A0F16"/>
          </a:solidFill>
          <a:ln w="25400">
            <a:solidFill>
              <a:srgbClr val="A78BFA"/>
            </a:solidFill>
            <a:prstDash val="solid"/>
          </a:ln>
          <a:effectLst>
            <a:outerShdw blurRad="50800" dir="60000" algn="bl" rotWithShape="0">
              <a:srgbClr val="A78BFA">
                <a:alpha val="18000"/>
              </a:srgbClr>
            </a:outerShdw>
          </a:effectLst>
        </p:spPr>
      </p:sp>
      <p:pic>
        <p:nvPicPr>
          <p:cNvPr id="19" name="Image 3" descr="Clinical cross"/>
          <p:cNvPicPr>
            <a:picLocks noChangeAspect="1"/>
          </p:cNvPicPr>
          <p:nvPr/>
        </p:nvPicPr>
        <p:blipFill>
          <a:blip r:embed="rId6"/>
          <a:srcRect/>
          <a:stretch/>
        </p:blipFill>
        <p:spPr>
          <a:xfrm>
            <a:off x="10267950" y="1102364"/>
            <a:ext cx="330200" cy="330200"/>
          </a:xfrm>
          <a:prstGeom prst="rect">
            <a:avLst/>
          </a:prstGeom>
        </p:spPr>
      </p:pic>
      <p:sp>
        <p:nvSpPr>
          <p:cNvPr id="20" name="Shape 14"/>
          <p:cNvSpPr/>
          <p:nvPr/>
        </p:nvSpPr>
        <p:spPr>
          <a:xfrm>
            <a:off x="358775" y="1854839"/>
            <a:ext cx="2749550" cy="3180080"/>
          </a:xfrm>
          <a:prstGeom prst="roundRect">
            <a:avLst>
              <a:gd name="adj" fmla="val 4503"/>
            </a:avLst>
          </a:prstGeom>
          <a:gradFill rotWithShape="1">
            <a:gsLst>
              <a:gs pos="0">
                <a:srgbClr val="4ADE80">
                  <a:alpha val="16000"/>
                </a:srgbClr>
              </a:gs>
              <a:gs pos="52000">
                <a:srgbClr val="111923"/>
              </a:gs>
            </a:gsLst>
            <a:lin ang="4800000" scaled="0"/>
          </a:gradFill>
          <a:ln w="6350">
            <a:solidFill>
              <a:srgbClr val="4ADE80">
                <a:alpha val="70000"/>
              </a:srgbClr>
            </a:solidFill>
            <a:prstDash val="solid"/>
          </a:ln>
          <a:effectLst>
            <a:outerShdw blurRad="215900" dir="60000" algn="bl" rotWithShape="0">
              <a:srgbClr val="4ADE80">
                <a:alpha val="22000"/>
              </a:srgbClr>
            </a:outerShdw>
          </a:effectLst>
        </p:spPr>
      </p:sp>
      <p:sp>
        <p:nvSpPr>
          <p:cNvPr id="21" name="Text 15"/>
          <p:cNvSpPr/>
          <p:nvPr/>
        </p:nvSpPr>
        <p:spPr>
          <a:xfrm>
            <a:off x="516255" y="2012317"/>
            <a:ext cx="1087120" cy="217170"/>
          </a:xfrm>
          <a:custGeom>
            <a:avLst/>
            <a:gdLst/>
            <a:ahLst/>
            <a:cxnLst/>
            <a:rect l="l" t="t" r="r" b="b"/>
            <a:pathLst>
              <a:path w="1087120" h="217170">
                <a:moveTo>
                  <a:pt x="108585" y="0"/>
                </a:moveTo>
                <a:lnTo>
                  <a:pt x="978535" y="0"/>
                </a:lnTo>
                <a:arcTo wR="108585" hR="108585" stAng="16200000" swAng="5400000"/>
                <a:lnTo>
                  <a:pt x="1087120" y="108585"/>
                </a:lnTo>
                <a:arcTo wR="108585" hR="108585" stAng="0" swAng="5400000"/>
                <a:lnTo>
                  <a:pt x="108585" y="217170"/>
                </a:lnTo>
                <a:arcTo wR="108585" hR="108585" stAng="5400000" swAng="5400000"/>
                <a:lnTo>
                  <a:pt x="0" y="108585"/>
                </a:lnTo>
                <a:arcTo wR="108585" hR="108585" stAng="10800000" swAng="5400000"/>
                <a:close/>
              </a:path>
            </a:pathLst>
          </a:custGeom>
          <a:solidFill>
            <a:srgbClr val="4ADE80">
              <a:alpha val="14000"/>
            </a:srgbClr>
          </a:solidFill>
          <a:ln w="6350">
            <a:solidFill>
              <a:srgbClr val="4ADE80">
                <a:alpha val="50000"/>
              </a:srgbClr>
            </a:solidFill>
            <a:prstDash val="solid"/>
          </a:ln>
        </p:spPr>
        <p:txBody>
          <a:bodyPr wrap="none" lIns="0" tIns="0" rIns="0" bIns="0" rtlCol="0" anchor="ctr">
            <a:normAutofit/>
          </a:bodyPr>
          <a:lstStyle/>
          <a:p>
            <a:pPr marL="0" indent="0" algn="ctr">
              <a:lnSpc>
                <a:spcPts val="1680"/>
              </a:lnSpc>
              <a:buNone/>
            </a:pPr>
            <a:r>
              <a:rPr lang="en-US" sz="1200" b="1" kern="0" spc="50" dirty="0">
                <a:solidFill>
                  <a:srgbClr val="4ADE80"/>
                </a:solidFill>
                <a:latin typeface="JetBrains Mono" pitchFamily="49" charset="0"/>
                <a:ea typeface="JetBrains Mono" pitchFamily="49" charset="-122"/>
                <a:cs typeface="JetBrains Mono" pitchFamily="49" charset="-120"/>
              </a:rPr>
              <a:t>COMPLETED</a:t>
            </a:r>
            <a:endParaRPr lang="en-US" sz="1200" dirty="0"/>
          </a:p>
        </p:txBody>
      </p:sp>
      <p:sp>
        <p:nvSpPr>
          <p:cNvPr id="22" name="Text 16"/>
          <p:cNvSpPr/>
          <p:nvPr/>
        </p:nvSpPr>
        <p:spPr>
          <a:xfrm>
            <a:off x="513080" y="2308864"/>
            <a:ext cx="251416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DE80"/>
                </a:solidFill>
                <a:latin typeface="JetBrains Mono" pitchFamily="49" charset="0"/>
                <a:ea typeface="JetBrains Mono" pitchFamily="49" charset="-122"/>
                <a:cs typeface="JetBrains Mono" pitchFamily="49" charset="-120"/>
              </a:rPr>
              <a:t>PHASE 1</a:t>
            </a:r>
            <a:endParaRPr lang="en-US" sz="1200" dirty="0"/>
          </a:p>
        </p:txBody>
      </p:sp>
      <p:sp>
        <p:nvSpPr>
          <p:cNvPr id="23" name="Text 17"/>
          <p:cNvSpPr/>
          <p:nvPr/>
        </p:nvSpPr>
        <p:spPr>
          <a:xfrm>
            <a:off x="513080" y="2534921"/>
            <a:ext cx="2514168" cy="27368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1F5F9"/>
                </a:solidFill>
                <a:latin typeface="IBM Plex Sans" pitchFamily="34" charset="0"/>
                <a:ea typeface="IBM Plex Sans" pitchFamily="34" charset="-122"/>
                <a:cs typeface="IBM Plex Sans" pitchFamily="34" charset="-120"/>
              </a:rPr>
              <a:t>Synthetic Prototype</a:t>
            </a:r>
            <a:endParaRPr lang="en-US" sz="1700" dirty="0"/>
          </a:p>
        </p:txBody>
      </p:sp>
      <p:sp>
        <p:nvSpPr>
          <p:cNvPr id="24" name="Shape 18"/>
          <p:cNvSpPr/>
          <p:nvPr/>
        </p:nvSpPr>
        <p:spPr>
          <a:xfrm>
            <a:off x="513080" y="2859404"/>
            <a:ext cx="2440940" cy="12700"/>
          </a:xfrm>
          <a:prstGeom prst="rect">
            <a:avLst/>
          </a:prstGeom>
          <a:solidFill>
            <a:srgbClr val="4ADE80">
              <a:alpha val="35000"/>
            </a:srgbClr>
          </a:solidFill>
          <a:ln/>
        </p:spPr>
      </p:sp>
      <p:sp>
        <p:nvSpPr>
          <p:cNvPr id="25" name="Shape 19"/>
          <p:cNvSpPr/>
          <p:nvPr/>
        </p:nvSpPr>
        <p:spPr>
          <a:xfrm>
            <a:off x="513080" y="3030854"/>
            <a:ext cx="57150" cy="57150"/>
          </a:xfrm>
          <a:prstGeom prst="roundRect">
            <a:avLst>
              <a:gd name="adj" fmla="val 22222"/>
            </a:avLst>
          </a:prstGeom>
          <a:solidFill>
            <a:srgbClr val="4ADE80"/>
          </a:solidFill>
          <a:ln/>
        </p:spPr>
      </p:sp>
      <p:sp>
        <p:nvSpPr>
          <p:cNvPr id="26" name="Text 20"/>
          <p:cNvSpPr/>
          <p:nvPr/>
        </p:nvSpPr>
        <p:spPr>
          <a:xfrm>
            <a:off x="646430" y="2948304"/>
            <a:ext cx="237681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60-patient</a:t>
            </a:r>
            <a:r>
              <a:rPr lang="en-US" sz="1200" dirty="0">
                <a:solidFill>
                  <a:srgbClr val="C3CEDA"/>
                </a:solidFill>
                <a:latin typeface="IBM Plex Sans" pitchFamily="34" charset="0"/>
                <a:ea typeface="IBM Plex Sans" pitchFamily="34" charset="-122"/>
                <a:cs typeface="IBM Plex Sans" pitchFamily="34" charset="-120"/>
              </a:rPr>
              <a:t> synthetic cohort validation</a:t>
            </a:r>
            <a:endParaRPr lang="en-US" sz="1200" dirty="0"/>
          </a:p>
        </p:txBody>
      </p:sp>
      <p:sp>
        <p:nvSpPr>
          <p:cNvPr id="27" name="Shape 21"/>
          <p:cNvSpPr/>
          <p:nvPr/>
        </p:nvSpPr>
        <p:spPr>
          <a:xfrm>
            <a:off x="513080" y="3521075"/>
            <a:ext cx="57150" cy="57150"/>
          </a:xfrm>
          <a:prstGeom prst="roundRect">
            <a:avLst>
              <a:gd name="adj" fmla="val 22222"/>
            </a:avLst>
          </a:prstGeom>
          <a:solidFill>
            <a:srgbClr val="4ADE80"/>
          </a:solidFill>
          <a:ln/>
        </p:spPr>
      </p:sp>
      <p:sp>
        <p:nvSpPr>
          <p:cNvPr id="28" name="Text 22"/>
          <p:cNvSpPr/>
          <p:nvPr/>
        </p:nvSpPr>
        <p:spPr>
          <a:xfrm>
            <a:off x="646430" y="3438525"/>
            <a:ext cx="23768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Conformal calibration + Platt probability scaling</a:t>
            </a:r>
            <a:endParaRPr lang="en-US" sz="1200" dirty="0"/>
          </a:p>
        </p:txBody>
      </p:sp>
      <p:sp>
        <p:nvSpPr>
          <p:cNvPr id="29" name="Shape 23"/>
          <p:cNvSpPr/>
          <p:nvPr/>
        </p:nvSpPr>
        <p:spPr>
          <a:xfrm>
            <a:off x="513080" y="4011296"/>
            <a:ext cx="57150" cy="57150"/>
          </a:xfrm>
          <a:prstGeom prst="roundRect">
            <a:avLst>
              <a:gd name="adj" fmla="val 22222"/>
            </a:avLst>
          </a:prstGeom>
          <a:solidFill>
            <a:srgbClr val="4ADE80"/>
          </a:solidFill>
          <a:ln/>
        </p:spPr>
      </p:sp>
      <p:sp>
        <p:nvSpPr>
          <p:cNvPr id="30" name="Text 24"/>
          <p:cNvSpPr/>
          <p:nvPr/>
        </p:nvSpPr>
        <p:spPr>
          <a:xfrm>
            <a:off x="646430" y="3928746"/>
            <a:ext cx="23768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Full dashboard with abstention + scenario sandbox</a:t>
            </a:r>
            <a:endParaRPr lang="en-US" sz="1200" dirty="0"/>
          </a:p>
        </p:txBody>
      </p:sp>
      <p:sp>
        <p:nvSpPr>
          <p:cNvPr id="31" name="Shape 25"/>
          <p:cNvSpPr/>
          <p:nvPr/>
        </p:nvSpPr>
        <p:spPr>
          <a:xfrm>
            <a:off x="513080" y="4501517"/>
            <a:ext cx="57150" cy="57150"/>
          </a:xfrm>
          <a:prstGeom prst="roundRect">
            <a:avLst>
              <a:gd name="adj" fmla="val 22222"/>
            </a:avLst>
          </a:prstGeom>
          <a:solidFill>
            <a:srgbClr val="4ADE80"/>
          </a:solidFill>
          <a:ln/>
        </p:spPr>
      </p:sp>
      <p:sp>
        <p:nvSpPr>
          <p:cNvPr id="32" name="Text 26"/>
          <p:cNvSpPr/>
          <p:nvPr/>
        </p:nvSpPr>
        <p:spPr>
          <a:xfrm>
            <a:off x="646430" y="4418967"/>
            <a:ext cx="237681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6/6</a:t>
            </a:r>
            <a:r>
              <a:rPr lang="en-US" sz="1200" dirty="0">
                <a:solidFill>
                  <a:srgbClr val="C3CEDA"/>
                </a:solidFill>
                <a:latin typeface="IBM Plex Sans" pitchFamily="34" charset="0"/>
                <a:ea typeface="IBM Plex Sans" pitchFamily="34" charset="-122"/>
                <a:cs typeface="IBM Plex Sans" pitchFamily="34" charset="-120"/>
              </a:rPr>
              <a:t> automated tests passing</a:t>
            </a:r>
            <a:endParaRPr lang="en-US" sz="1200" dirty="0"/>
          </a:p>
        </p:txBody>
      </p:sp>
      <p:sp>
        <p:nvSpPr>
          <p:cNvPr id="33" name="Shape 27"/>
          <p:cNvSpPr/>
          <p:nvPr/>
        </p:nvSpPr>
        <p:spPr>
          <a:xfrm>
            <a:off x="3267075" y="1854839"/>
            <a:ext cx="2749550" cy="3180080"/>
          </a:xfrm>
          <a:prstGeom prst="roundRect">
            <a:avLst>
              <a:gd name="adj" fmla="val 4503"/>
            </a:avLst>
          </a:prstGeom>
          <a:gradFill rotWithShape="1">
            <a:gsLst>
              <a:gs pos="0">
                <a:srgbClr val="2DD4BF">
                  <a:alpha val="16000"/>
                </a:srgbClr>
              </a:gs>
              <a:gs pos="52000">
                <a:srgbClr val="111923"/>
              </a:gs>
            </a:gsLst>
            <a:lin ang="4800000" scaled="0"/>
          </a:gradFill>
          <a:ln w="6350">
            <a:solidFill>
              <a:srgbClr val="2DD4BF">
                <a:alpha val="70000"/>
              </a:srgbClr>
            </a:solidFill>
            <a:prstDash val="solid"/>
          </a:ln>
          <a:effectLst>
            <a:outerShdw blurRad="215900" dir="60000" algn="bl" rotWithShape="0">
              <a:srgbClr val="2DD4BF">
                <a:alpha val="22000"/>
              </a:srgbClr>
            </a:outerShdw>
          </a:effectLst>
        </p:spPr>
      </p:sp>
      <p:sp>
        <p:nvSpPr>
          <p:cNvPr id="34" name="Text 28"/>
          <p:cNvSpPr/>
          <p:nvPr/>
        </p:nvSpPr>
        <p:spPr>
          <a:xfrm>
            <a:off x="3424555" y="2012317"/>
            <a:ext cx="1967230" cy="217170"/>
          </a:xfrm>
          <a:custGeom>
            <a:avLst/>
            <a:gdLst/>
            <a:ahLst/>
            <a:cxnLst/>
            <a:rect l="l" t="t" r="r" b="b"/>
            <a:pathLst>
              <a:path w="1967230" h="217170">
                <a:moveTo>
                  <a:pt x="108585" y="0"/>
                </a:moveTo>
                <a:lnTo>
                  <a:pt x="1858645" y="0"/>
                </a:lnTo>
                <a:arcTo wR="108585" hR="108585" stAng="16200000" swAng="5400000"/>
                <a:lnTo>
                  <a:pt x="1967230" y="108585"/>
                </a:lnTo>
                <a:arcTo wR="108585" hR="108585" stAng="0" swAng="5400000"/>
                <a:lnTo>
                  <a:pt x="108585" y="217170"/>
                </a:lnTo>
                <a:arcTo wR="108585" hR="108585" stAng="5400000" swAng="5400000"/>
                <a:lnTo>
                  <a:pt x="0" y="108585"/>
                </a:lnTo>
                <a:arcTo wR="108585" hR="108585" stAng="10800000" swAng="5400000"/>
                <a:close/>
              </a:path>
            </a:pathLst>
          </a:custGeom>
          <a:solidFill>
            <a:srgbClr val="2DD4BF">
              <a:alpha val="14000"/>
            </a:srgbClr>
          </a:solidFill>
          <a:ln w="6350">
            <a:solidFill>
              <a:srgbClr val="2DD4BF">
                <a:alpha val="50000"/>
              </a:srgbClr>
            </a:solidFill>
            <a:prstDash val="solid"/>
          </a:ln>
        </p:spPr>
        <p:txBody>
          <a:bodyPr wrap="none" lIns="0" tIns="0" rIns="0" bIns="0" rtlCol="0" anchor="ctr">
            <a:normAutofit/>
          </a:bodyPr>
          <a:lstStyle/>
          <a:p>
            <a:pPr marL="0" indent="0" algn="ctr">
              <a:lnSpc>
                <a:spcPts val="1680"/>
              </a:lnSpc>
              <a:buNone/>
            </a:pPr>
            <a:r>
              <a:rPr lang="en-US" sz="1200" b="1" kern="0" spc="50" dirty="0">
                <a:solidFill>
                  <a:srgbClr val="2DD4BF"/>
                </a:solidFill>
                <a:latin typeface="JetBrains Mono" pitchFamily="49" charset="0"/>
                <a:ea typeface="JetBrains Mono" pitchFamily="49" charset="-122"/>
                <a:cs typeface="JetBrains Mono" pitchFamily="49" charset="-120"/>
              </a:rPr>
              <a:t>NEXT · IN PROGRESS</a:t>
            </a:r>
            <a:endParaRPr lang="en-US" sz="1200" dirty="0"/>
          </a:p>
        </p:txBody>
      </p:sp>
      <p:sp>
        <p:nvSpPr>
          <p:cNvPr id="35" name="Text 29"/>
          <p:cNvSpPr/>
          <p:nvPr/>
        </p:nvSpPr>
        <p:spPr>
          <a:xfrm>
            <a:off x="3421380" y="2308864"/>
            <a:ext cx="251416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JetBrains Mono" pitchFamily="49" charset="0"/>
                <a:ea typeface="JetBrains Mono" pitchFamily="49" charset="-122"/>
                <a:cs typeface="JetBrains Mono" pitchFamily="49" charset="-120"/>
              </a:rPr>
              <a:t>PHASE 2</a:t>
            </a:r>
            <a:endParaRPr lang="en-US" sz="1200" dirty="0"/>
          </a:p>
        </p:txBody>
      </p:sp>
      <p:sp>
        <p:nvSpPr>
          <p:cNvPr id="36" name="Text 30"/>
          <p:cNvSpPr/>
          <p:nvPr/>
        </p:nvSpPr>
        <p:spPr>
          <a:xfrm>
            <a:off x="3421380" y="2534921"/>
            <a:ext cx="2514168" cy="521970"/>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1F5F9"/>
                </a:solidFill>
                <a:latin typeface="IBM Plex Sans" pitchFamily="34" charset="0"/>
                <a:ea typeface="IBM Plex Sans" pitchFamily="34" charset="-122"/>
                <a:cs typeface="IBM Plex Sans" pitchFamily="34" charset="-120"/>
              </a:rPr>
              <a:t>Real-World Dataset Validation</a:t>
            </a:r>
            <a:endParaRPr lang="en-US" sz="1700" dirty="0"/>
          </a:p>
        </p:txBody>
      </p:sp>
      <p:sp>
        <p:nvSpPr>
          <p:cNvPr id="37" name="Shape 31"/>
          <p:cNvSpPr/>
          <p:nvPr/>
        </p:nvSpPr>
        <p:spPr>
          <a:xfrm>
            <a:off x="3421380" y="3107692"/>
            <a:ext cx="2440940" cy="12700"/>
          </a:xfrm>
          <a:prstGeom prst="rect">
            <a:avLst/>
          </a:prstGeom>
          <a:solidFill>
            <a:srgbClr val="2DD4BF">
              <a:alpha val="35000"/>
            </a:srgbClr>
          </a:solidFill>
          <a:ln/>
        </p:spPr>
      </p:sp>
      <p:sp>
        <p:nvSpPr>
          <p:cNvPr id="38" name="Shape 32"/>
          <p:cNvSpPr/>
          <p:nvPr/>
        </p:nvSpPr>
        <p:spPr>
          <a:xfrm>
            <a:off x="3421380" y="3279142"/>
            <a:ext cx="57150" cy="57150"/>
          </a:xfrm>
          <a:prstGeom prst="roundRect">
            <a:avLst>
              <a:gd name="adj" fmla="val 22222"/>
            </a:avLst>
          </a:prstGeom>
          <a:solidFill>
            <a:srgbClr val="2DD4BF"/>
          </a:solidFill>
          <a:ln/>
        </p:spPr>
      </p:sp>
      <p:sp>
        <p:nvSpPr>
          <p:cNvPr id="39" name="Text 33"/>
          <p:cNvSpPr/>
          <p:nvPr/>
        </p:nvSpPr>
        <p:spPr>
          <a:xfrm>
            <a:off x="3554730" y="3196592"/>
            <a:ext cx="237681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OhioT1DM</a:t>
            </a:r>
            <a:r>
              <a:rPr lang="en-US" sz="1200" dirty="0">
                <a:solidFill>
                  <a:srgbClr val="C3CEDA"/>
                </a:solidFill>
                <a:latin typeface="IBM Plex Sans" pitchFamily="34" charset="0"/>
                <a:ea typeface="IBM Plex Sans" pitchFamily="34" charset="-122"/>
                <a:cs typeface="IBM Plex Sans" pitchFamily="34" charset="-120"/>
              </a:rPr>
              <a:t> dataset (12 real Type-1 diabetes patients)</a:t>
            </a:r>
            <a:endParaRPr lang="en-US" sz="1200" dirty="0"/>
          </a:p>
        </p:txBody>
      </p:sp>
      <p:sp>
        <p:nvSpPr>
          <p:cNvPr id="40" name="Shape 34"/>
          <p:cNvSpPr/>
          <p:nvPr/>
        </p:nvSpPr>
        <p:spPr>
          <a:xfrm>
            <a:off x="3421380" y="3769364"/>
            <a:ext cx="57150" cy="57150"/>
          </a:xfrm>
          <a:prstGeom prst="roundRect">
            <a:avLst>
              <a:gd name="adj" fmla="val 22222"/>
            </a:avLst>
          </a:prstGeom>
          <a:solidFill>
            <a:srgbClr val="2DD4BF"/>
          </a:solidFill>
          <a:ln/>
        </p:spPr>
      </p:sp>
      <p:sp>
        <p:nvSpPr>
          <p:cNvPr id="41" name="Text 35"/>
          <p:cNvSpPr/>
          <p:nvPr/>
        </p:nvSpPr>
        <p:spPr>
          <a:xfrm>
            <a:off x="3554730" y="3686814"/>
            <a:ext cx="237681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D1NAMO</a:t>
            </a:r>
            <a:r>
              <a:rPr lang="en-US" sz="1200" dirty="0">
                <a:solidFill>
                  <a:srgbClr val="C3CEDA"/>
                </a:solidFill>
                <a:latin typeface="IBM Plex Sans" pitchFamily="34" charset="0"/>
                <a:ea typeface="IBM Plex Sans" pitchFamily="34" charset="-122"/>
                <a:cs typeface="IBM Plex Sans" pitchFamily="34" charset="-120"/>
              </a:rPr>
              <a:t> wearable glucose dataset</a:t>
            </a:r>
            <a:endParaRPr lang="en-US" sz="1200" dirty="0"/>
          </a:p>
        </p:txBody>
      </p:sp>
      <p:sp>
        <p:nvSpPr>
          <p:cNvPr id="42" name="Shape 36"/>
          <p:cNvSpPr/>
          <p:nvPr/>
        </p:nvSpPr>
        <p:spPr>
          <a:xfrm>
            <a:off x="3421380" y="4259579"/>
            <a:ext cx="57150" cy="57150"/>
          </a:xfrm>
          <a:prstGeom prst="roundRect">
            <a:avLst>
              <a:gd name="adj" fmla="val 22222"/>
            </a:avLst>
          </a:prstGeom>
          <a:solidFill>
            <a:srgbClr val="2DD4BF"/>
          </a:solidFill>
          <a:ln/>
        </p:spPr>
      </p:sp>
      <p:sp>
        <p:nvSpPr>
          <p:cNvPr id="43" name="Text 37"/>
          <p:cNvSpPr/>
          <p:nvPr/>
        </p:nvSpPr>
        <p:spPr>
          <a:xfrm>
            <a:off x="3554730" y="4177029"/>
            <a:ext cx="23768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Cross-cohort generalization testing</a:t>
            </a:r>
            <a:endParaRPr lang="en-US" sz="1200" dirty="0"/>
          </a:p>
        </p:txBody>
      </p:sp>
      <p:sp>
        <p:nvSpPr>
          <p:cNvPr id="44" name="Shape 38"/>
          <p:cNvSpPr/>
          <p:nvPr/>
        </p:nvSpPr>
        <p:spPr>
          <a:xfrm>
            <a:off x="6175375" y="1854839"/>
            <a:ext cx="2749550" cy="3180080"/>
          </a:xfrm>
          <a:prstGeom prst="roundRect">
            <a:avLst>
              <a:gd name="adj" fmla="val 4503"/>
            </a:avLst>
          </a:prstGeom>
          <a:gradFill rotWithShape="1">
            <a:gsLst>
              <a:gs pos="0">
                <a:srgbClr val="5B9DFF">
                  <a:alpha val="14000"/>
                </a:srgbClr>
              </a:gs>
              <a:gs pos="52000">
                <a:srgbClr val="111923"/>
              </a:gs>
            </a:gsLst>
            <a:lin ang="4800000" scaled="0"/>
          </a:gradFill>
          <a:ln w="6350">
            <a:solidFill>
              <a:srgbClr val="5B9DFF">
                <a:alpha val="70000"/>
              </a:srgbClr>
            </a:solidFill>
            <a:prstDash val="dash"/>
          </a:ln>
          <a:effectLst>
            <a:outerShdw blurRad="190500" dir="60000" algn="bl" rotWithShape="0">
              <a:srgbClr val="5B9DFF">
                <a:alpha val="18000"/>
              </a:srgbClr>
            </a:outerShdw>
          </a:effectLst>
        </p:spPr>
      </p:sp>
      <p:sp>
        <p:nvSpPr>
          <p:cNvPr id="45" name="Text 39"/>
          <p:cNvSpPr/>
          <p:nvPr/>
        </p:nvSpPr>
        <p:spPr>
          <a:xfrm>
            <a:off x="6332855" y="2012317"/>
            <a:ext cx="793750" cy="217170"/>
          </a:xfrm>
          <a:custGeom>
            <a:avLst/>
            <a:gdLst/>
            <a:ahLst/>
            <a:cxnLst/>
            <a:rect l="l" t="t" r="r" b="b"/>
            <a:pathLst>
              <a:path w="793750" h="217170">
                <a:moveTo>
                  <a:pt x="108585" y="0"/>
                </a:moveTo>
                <a:lnTo>
                  <a:pt x="685165" y="0"/>
                </a:lnTo>
                <a:arcTo wR="108585" hR="108585" stAng="16200000" swAng="5400000"/>
                <a:lnTo>
                  <a:pt x="793750" y="108585"/>
                </a:lnTo>
                <a:arcTo wR="108585" hR="108585" stAng="0" swAng="5400000"/>
                <a:lnTo>
                  <a:pt x="108585" y="217170"/>
                </a:lnTo>
                <a:arcTo wR="108585" hR="108585" stAng="5400000" swAng="5400000"/>
                <a:lnTo>
                  <a:pt x="0" y="108585"/>
                </a:lnTo>
                <a:arcTo wR="108585" hR="108585" stAng="10800000" swAng="5400000"/>
                <a:close/>
              </a:path>
            </a:pathLst>
          </a:custGeom>
          <a:solidFill>
            <a:srgbClr val="5B9DFF">
              <a:alpha val="14000"/>
            </a:srgbClr>
          </a:solidFill>
          <a:ln w="6350">
            <a:solidFill>
              <a:srgbClr val="5B9DFF">
                <a:alpha val="50000"/>
              </a:srgbClr>
            </a:solidFill>
            <a:prstDash val="solid"/>
          </a:ln>
        </p:spPr>
        <p:txBody>
          <a:bodyPr wrap="none" lIns="0" tIns="0" rIns="0" bIns="0" rtlCol="0" anchor="ctr">
            <a:normAutofit/>
          </a:bodyPr>
          <a:lstStyle/>
          <a:p>
            <a:pPr marL="0" indent="0" algn="ctr">
              <a:lnSpc>
                <a:spcPts val="1680"/>
              </a:lnSpc>
              <a:buNone/>
            </a:pPr>
            <a:r>
              <a:rPr lang="en-US" sz="1200" b="1" kern="0" spc="50" dirty="0">
                <a:solidFill>
                  <a:srgbClr val="8FB4FF"/>
                </a:solidFill>
                <a:latin typeface="JetBrains Mono" pitchFamily="49" charset="0"/>
                <a:ea typeface="JetBrains Mono" pitchFamily="49" charset="-122"/>
                <a:cs typeface="JetBrains Mono" pitchFamily="49" charset="-120"/>
              </a:rPr>
              <a:t>FUTURE</a:t>
            </a:r>
            <a:endParaRPr lang="en-US" sz="1200" dirty="0"/>
          </a:p>
        </p:txBody>
      </p:sp>
      <p:sp>
        <p:nvSpPr>
          <p:cNvPr id="46" name="Text 40"/>
          <p:cNvSpPr/>
          <p:nvPr/>
        </p:nvSpPr>
        <p:spPr>
          <a:xfrm>
            <a:off x="6329680" y="2308864"/>
            <a:ext cx="251416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4FF"/>
                </a:solidFill>
                <a:latin typeface="JetBrains Mono" pitchFamily="49" charset="0"/>
                <a:ea typeface="JetBrains Mono" pitchFamily="49" charset="-122"/>
                <a:cs typeface="JetBrains Mono" pitchFamily="49" charset="-120"/>
              </a:rPr>
              <a:t>PHASE 3</a:t>
            </a:r>
            <a:endParaRPr lang="en-US" sz="1200" dirty="0"/>
          </a:p>
        </p:txBody>
      </p:sp>
      <p:sp>
        <p:nvSpPr>
          <p:cNvPr id="47" name="Text 41"/>
          <p:cNvSpPr/>
          <p:nvPr/>
        </p:nvSpPr>
        <p:spPr>
          <a:xfrm>
            <a:off x="6329680" y="2534921"/>
            <a:ext cx="2514168" cy="273685"/>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1F5F9"/>
                </a:solidFill>
                <a:latin typeface="IBM Plex Sans" pitchFamily="34" charset="0"/>
                <a:ea typeface="IBM Plex Sans" pitchFamily="34" charset="-122"/>
                <a:cs typeface="IBM Plex Sans" pitchFamily="34" charset="-120"/>
              </a:rPr>
              <a:t>Live Sensor Integration</a:t>
            </a:r>
            <a:endParaRPr lang="en-US" sz="1700" dirty="0"/>
          </a:p>
        </p:txBody>
      </p:sp>
      <p:sp>
        <p:nvSpPr>
          <p:cNvPr id="48" name="Shape 42"/>
          <p:cNvSpPr/>
          <p:nvPr/>
        </p:nvSpPr>
        <p:spPr>
          <a:xfrm>
            <a:off x="6329680" y="2859404"/>
            <a:ext cx="2440940" cy="12700"/>
          </a:xfrm>
          <a:prstGeom prst="rect">
            <a:avLst/>
          </a:prstGeom>
          <a:solidFill>
            <a:srgbClr val="5B9DFF">
              <a:alpha val="35000"/>
            </a:srgbClr>
          </a:solidFill>
          <a:ln/>
        </p:spPr>
      </p:sp>
      <p:sp>
        <p:nvSpPr>
          <p:cNvPr id="49" name="Shape 43"/>
          <p:cNvSpPr/>
          <p:nvPr/>
        </p:nvSpPr>
        <p:spPr>
          <a:xfrm>
            <a:off x="6329680" y="3030854"/>
            <a:ext cx="57150" cy="57150"/>
          </a:xfrm>
          <a:prstGeom prst="roundRect">
            <a:avLst>
              <a:gd name="adj" fmla="val 22222"/>
            </a:avLst>
          </a:prstGeom>
          <a:solidFill>
            <a:srgbClr val="5B9DFF"/>
          </a:solidFill>
          <a:ln/>
        </p:spPr>
      </p:sp>
      <p:sp>
        <p:nvSpPr>
          <p:cNvPr id="50" name="Text 44"/>
          <p:cNvSpPr/>
          <p:nvPr/>
        </p:nvSpPr>
        <p:spPr>
          <a:xfrm>
            <a:off x="6463030" y="2948304"/>
            <a:ext cx="237681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Dexcom G7 / Libre 3</a:t>
            </a:r>
            <a:r>
              <a:rPr lang="en-US" sz="1200" dirty="0">
                <a:solidFill>
                  <a:srgbClr val="C3CEDA"/>
                </a:solidFill>
                <a:latin typeface="IBM Plex Sans" pitchFamily="34" charset="0"/>
                <a:ea typeface="IBM Plex Sans" pitchFamily="34" charset="-122"/>
                <a:cs typeface="IBM Plex Sans" pitchFamily="34" charset="-120"/>
              </a:rPr>
              <a:t> real-time API integration</a:t>
            </a:r>
            <a:endParaRPr lang="en-US" sz="1200" dirty="0"/>
          </a:p>
        </p:txBody>
      </p:sp>
      <p:sp>
        <p:nvSpPr>
          <p:cNvPr id="51" name="Shape 45"/>
          <p:cNvSpPr/>
          <p:nvPr/>
        </p:nvSpPr>
        <p:spPr>
          <a:xfrm>
            <a:off x="6329680" y="3521075"/>
            <a:ext cx="57150" cy="57150"/>
          </a:xfrm>
          <a:prstGeom prst="roundRect">
            <a:avLst>
              <a:gd name="adj" fmla="val 22222"/>
            </a:avLst>
          </a:prstGeom>
          <a:solidFill>
            <a:srgbClr val="5B9DFF"/>
          </a:solidFill>
          <a:ln/>
        </p:spPr>
      </p:sp>
      <p:sp>
        <p:nvSpPr>
          <p:cNvPr id="52" name="Text 46"/>
          <p:cNvSpPr/>
          <p:nvPr/>
        </p:nvSpPr>
        <p:spPr>
          <a:xfrm>
            <a:off x="6463030" y="3438525"/>
            <a:ext cx="23768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Live streaming CGM → real-time inference pipeline</a:t>
            </a:r>
            <a:endParaRPr lang="en-US" sz="1200" dirty="0"/>
          </a:p>
        </p:txBody>
      </p:sp>
      <p:sp>
        <p:nvSpPr>
          <p:cNvPr id="53" name="Shape 47"/>
          <p:cNvSpPr/>
          <p:nvPr/>
        </p:nvSpPr>
        <p:spPr>
          <a:xfrm>
            <a:off x="6329680" y="4011296"/>
            <a:ext cx="57150" cy="57150"/>
          </a:xfrm>
          <a:prstGeom prst="roundRect">
            <a:avLst>
              <a:gd name="adj" fmla="val 22222"/>
            </a:avLst>
          </a:prstGeom>
          <a:solidFill>
            <a:srgbClr val="5B9DFF"/>
          </a:solidFill>
          <a:ln/>
        </p:spPr>
      </p:sp>
      <p:sp>
        <p:nvSpPr>
          <p:cNvPr id="54" name="Text 48"/>
          <p:cNvSpPr/>
          <p:nvPr/>
        </p:nvSpPr>
        <p:spPr>
          <a:xfrm>
            <a:off x="6463030" y="3928746"/>
            <a:ext cx="237681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Edge deployment</a:t>
            </a:r>
            <a:r>
              <a:rPr lang="en-US" sz="1200" dirty="0">
                <a:solidFill>
                  <a:srgbClr val="C3CEDA"/>
                </a:solidFill>
                <a:latin typeface="IBM Plex Sans" pitchFamily="34" charset="0"/>
                <a:ea typeface="IBM Plex Sans" pitchFamily="34" charset="-122"/>
                <a:cs typeface="IBM Plex Sans" pitchFamily="34" charset="-120"/>
              </a:rPr>
              <a:t> on Raspberry Pi / hospital workstation</a:t>
            </a:r>
            <a:endParaRPr lang="en-US" sz="1200" dirty="0"/>
          </a:p>
        </p:txBody>
      </p:sp>
      <p:sp>
        <p:nvSpPr>
          <p:cNvPr id="55" name="Shape 49"/>
          <p:cNvSpPr/>
          <p:nvPr/>
        </p:nvSpPr>
        <p:spPr>
          <a:xfrm>
            <a:off x="9083675" y="1854839"/>
            <a:ext cx="2749550" cy="3180080"/>
          </a:xfrm>
          <a:prstGeom prst="roundRect">
            <a:avLst>
              <a:gd name="adj" fmla="val 4503"/>
            </a:avLst>
          </a:prstGeom>
          <a:gradFill rotWithShape="1">
            <a:gsLst>
              <a:gs pos="0">
                <a:srgbClr val="A78BFA">
                  <a:alpha val="16000"/>
                </a:srgbClr>
              </a:gs>
              <a:gs pos="52000">
                <a:srgbClr val="111923"/>
              </a:gs>
            </a:gsLst>
            <a:lin ang="4800000" scaled="0"/>
          </a:gradFill>
          <a:ln w="6350">
            <a:solidFill>
              <a:srgbClr val="A78BFA">
                <a:alpha val="70000"/>
              </a:srgbClr>
            </a:solidFill>
            <a:prstDash val="dash"/>
          </a:ln>
          <a:effectLst>
            <a:outerShdw blurRad="190500" dir="60000" algn="bl" rotWithShape="0">
              <a:srgbClr val="A78BFA">
                <a:alpha val="18000"/>
              </a:srgbClr>
            </a:outerShdw>
          </a:effectLst>
        </p:spPr>
      </p:sp>
      <p:sp>
        <p:nvSpPr>
          <p:cNvPr id="56" name="Text 50"/>
          <p:cNvSpPr/>
          <p:nvPr/>
        </p:nvSpPr>
        <p:spPr>
          <a:xfrm>
            <a:off x="9241155" y="2012317"/>
            <a:ext cx="793750" cy="217170"/>
          </a:xfrm>
          <a:custGeom>
            <a:avLst/>
            <a:gdLst/>
            <a:ahLst/>
            <a:cxnLst/>
            <a:rect l="l" t="t" r="r" b="b"/>
            <a:pathLst>
              <a:path w="793750" h="217170">
                <a:moveTo>
                  <a:pt x="108585" y="0"/>
                </a:moveTo>
                <a:lnTo>
                  <a:pt x="685165" y="0"/>
                </a:lnTo>
                <a:arcTo wR="108585" hR="108585" stAng="16200000" swAng="5400000"/>
                <a:lnTo>
                  <a:pt x="793750" y="108585"/>
                </a:lnTo>
                <a:arcTo wR="108585" hR="108585" stAng="0" swAng="5400000"/>
                <a:lnTo>
                  <a:pt x="108585" y="217170"/>
                </a:lnTo>
                <a:arcTo wR="108585" hR="108585" stAng="5400000" swAng="5400000"/>
                <a:lnTo>
                  <a:pt x="0" y="108585"/>
                </a:lnTo>
                <a:arcTo wR="108585" hR="108585" stAng="10800000" swAng="5400000"/>
                <a:close/>
              </a:path>
            </a:pathLst>
          </a:custGeom>
          <a:solidFill>
            <a:srgbClr val="A78BFA">
              <a:alpha val="14000"/>
            </a:srgbClr>
          </a:solidFill>
          <a:ln w="6350">
            <a:solidFill>
              <a:srgbClr val="A78BFA">
                <a:alpha val="50000"/>
              </a:srgbClr>
            </a:solidFill>
            <a:prstDash val="solid"/>
          </a:ln>
        </p:spPr>
        <p:txBody>
          <a:bodyPr wrap="none" lIns="0" tIns="0" rIns="0" bIns="0" rtlCol="0" anchor="ctr">
            <a:normAutofit/>
          </a:bodyPr>
          <a:lstStyle/>
          <a:p>
            <a:pPr marL="0" indent="0" algn="ctr">
              <a:lnSpc>
                <a:spcPts val="1680"/>
              </a:lnSpc>
              <a:buNone/>
            </a:pPr>
            <a:r>
              <a:rPr lang="en-US" sz="1200" b="1" kern="0" spc="50" dirty="0">
                <a:solidFill>
                  <a:srgbClr val="C4B5FD"/>
                </a:solidFill>
                <a:latin typeface="JetBrains Mono" pitchFamily="49" charset="0"/>
                <a:ea typeface="JetBrains Mono" pitchFamily="49" charset="-122"/>
                <a:cs typeface="JetBrains Mono" pitchFamily="49" charset="-120"/>
              </a:rPr>
              <a:t>VISION</a:t>
            </a:r>
            <a:endParaRPr lang="en-US" sz="1200" dirty="0"/>
          </a:p>
        </p:txBody>
      </p:sp>
      <p:sp>
        <p:nvSpPr>
          <p:cNvPr id="57" name="Text 51"/>
          <p:cNvSpPr/>
          <p:nvPr/>
        </p:nvSpPr>
        <p:spPr>
          <a:xfrm>
            <a:off x="9237980" y="2308864"/>
            <a:ext cx="251416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4B5FD"/>
                </a:solidFill>
                <a:latin typeface="JetBrains Mono" pitchFamily="49" charset="0"/>
                <a:ea typeface="JetBrains Mono" pitchFamily="49" charset="-122"/>
                <a:cs typeface="JetBrains Mono" pitchFamily="49" charset="-120"/>
              </a:rPr>
              <a:t>PHASE 4</a:t>
            </a:r>
            <a:endParaRPr lang="en-US" sz="1200" dirty="0"/>
          </a:p>
        </p:txBody>
      </p:sp>
      <p:sp>
        <p:nvSpPr>
          <p:cNvPr id="58" name="Text 52"/>
          <p:cNvSpPr/>
          <p:nvPr/>
        </p:nvSpPr>
        <p:spPr>
          <a:xfrm>
            <a:off x="9237980" y="2534921"/>
            <a:ext cx="2514168" cy="521970"/>
          </a:xfrm>
          <a:prstGeom prst="rect">
            <a:avLst/>
          </a:prstGeom>
          <a:noFill/>
          <a:ln/>
        </p:spPr>
        <p:txBody>
          <a:bodyPr wrap="square" lIns="0" tIns="0" rIns="0" bIns="0" rtlCol="0" anchor="t">
            <a:normAutofit/>
          </a:bodyPr>
          <a:lstStyle/>
          <a:p>
            <a:pPr marL="0" indent="0" algn="l">
              <a:lnSpc>
                <a:spcPts val="1955"/>
              </a:lnSpc>
              <a:buNone/>
            </a:pPr>
            <a:r>
              <a:rPr lang="en-US" sz="1700" b="1" dirty="0">
                <a:solidFill>
                  <a:srgbClr val="F1F5F9"/>
                </a:solidFill>
                <a:latin typeface="IBM Plex Sans" pitchFamily="34" charset="0"/>
                <a:ea typeface="IBM Plex Sans" pitchFamily="34" charset="-122"/>
                <a:cs typeface="IBM Plex Sans" pitchFamily="34" charset="-120"/>
              </a:rPr>
              <a:t>Clinical Research Partnership</a:t>
            </a:r>
            <a:endParaRPr lang="en-US" sz="1700" dirty="0"/>
          </a:p>
        </p:txBody>
      </p:sp>
      <p:sp>
        <p:nvSpPr>
          <p:cNvPr id="59" name="Shape 53"/>
          <p:cNvSpPr/>
          <p:nvPr/>
        </p:nvSpPr>
        <p:spPr>
          <a:xfrm>
            <a:off x="9237980" y="3107692"/>
            <a:ext cx="2440940" cy="12700"/>
          </a:xfrm>
          <a:prstGeom prst="rect">
            <a:avLst/>
          </a:prstGeom>
          <a:solidFill>
            <a:srgbClr val="A78BFA">
              <a:alpha val="35000"/>
            </a:srgbClr>
          </a:solidFill>
          <a:ln/>
        </p:spPr>
      </p:sp>
      <p:sp>
        <p:nvSpPr>
          <p:cNvPr id="60" name="Shape 54"/>
          <p:cNvSpPr/>
          <p:nvPr/>
        </p:nvSpPr>
        <p:spPr>
          <a:xfrm>
            <a:off x="9237980" y="3279142"/>
            <a:ext cx="57150" cy="57150"/>
          </a:xfrm>
          <a:prstGeom prst="roundRect">
            <a:avLst>
              <a:gd name="adj" fmla="val 22222"/>
            </a:avLst>
          </a:prstGeom>
          <a:solidFill>
            <a:srgbClr val="A78BFA"/>
          </a:solidFill>
          <a:ln/>
        </p:spPr>
      </p:sp>
      <p:sp>
        <p:nvSpPr>
          <p:cNvPr id="61" name="Text 55"/>
          <p:cNvSpPr/>
          <p:nvPr/>
        </p:nvSpPr>
        <p:spPr>
          <a:xfrm>
            <a:off x="9371330" y="3196592"/>
            <a:ext cx="24587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1F5F9"/>
                </a:solidFill>
                <a:latin typeface="IBM Plex Sans" pitchFamily="34" charset="0"/>
                <a:ea typeface="IBM Plex Sans" pitchFamily="34" charset="-122"/>
                <a:cs typeface="IBM Plex Sans" pitchFamily="34" charset="-120"/>
              </a:rPr>
              <a:t>IRB-approved</a:t>
            </a:r>
            <a:r>
              <a:rPr lang="en-US" sz="1200" dirty="0">
                <a:solidFill>
                  <a:srgbClr val="C3CEDA"/>
                </a:solidFill>
                <a:latin typeface="IBM Plex Sans" pitchFamily="34" charset="0"/>
                <a:ea typeface="IBM Plex Sans" pitchFamily="34" charset="-122"/>
                <a:cs typeface="IBM Plex Sans" pitchFamily="34" charset="-120"/>
              </a:rPr>
              <a:t> clinical pilot study</a:t>
            </a:r>
            <a:endParaRPr lang="en-US" sz="1200" dirty="0"/>
          </a:p>
        </p:txBody>
      </p:sp>
      <p:sp>
        <p:nvSpPr>
          <p:cNvPr id="62" name="Shape 56"/>
          <p:cNvSpPr/>
          <p:nvPr/>
        </p:nvSpPr>
        <p:spPr>
          <a:xfrm>
            <a:off x="9237980" y="3556000"/>
            <a:ext cx="57150" cy="57150"/>
          </a:xfrm>
          <a:prstGeom prst="roundRect">
            <a:avLst>
              <a:gd name="adj" fmla="val 22222"/>
            </a:avLst>
          </a:prstGeom>
          <a:solidFill>
            <a:srgbClr val="A78BFA"/>
          </a:solidFill>
          <a:ln/>
        </p:spPr>
      </p:sp>
      <p:sp>
        <p:nvSpPr>
          <p:cNvPr id="63" name="Text 57"/>
          <p:cNvSpPr/>
          <p:nvPr/>
        </p:nvSpPr>
        <p:spPr>
          <a:xfrm>
            <a:off x="9371330" y="3473450"/>
            <a:ext cx="23768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Partner with endocrinology department</a:t>
            </a:r>
            <a:endParaRPr lang="en-US" sz="1200" dirty="0"/>
          </a:p>
        </p:txBody>
      </p:sp>
      <p:sp>
        <p:nvSpPr>
          <p:cNvPr id="64" name="Shape 58"/>
          <p:cNvSpPr/>
          <p:nvPr/>
        </p:nvSpPr>
        <p:spPr>
          <a:xfrm>
            <a:off x="9237980" y="4046221"/>
            <a:ext cx="57150" cy="57150"/>
          </a:xfrm>
          <a:prstGeom prst="roundRect">
            <a:avLst>
              <a:gd name="adj" fmla="val 22222"/>
            </a:avLst>
          </a:prstGeom>
          <a:solidFill>
            <a:srgbClr val="A78BFA"/>
          </a:solidFill>
          <a:ln/>
        </p:spPr>
      </p:sp>
      <p:sp>
        <p:nvSpPr>
          <p:cNvPr id="65" name="Text 59"/>
          <p:cNvSpPr/>
          <p:nvPr/>
        </p:nvSpPr>
        <p:spPr>
          <a:xfrm>
            <a:off x="9371330" y="3963671"/>
            <a:ext cx="23768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Formal calibration on diverse patient populations</a:t>
            </a:r>
            <a:endParaRPr lang="en-US" sz="1200" dirty="0"/>
          </a:p>
        </p:txBody>
      </p:sp>
      <p:sp>
        <p:nvSpPr>
          <p:cNvPr id="66" name="Shape 60"/>
          <p:cNvSpPr/>
          <p:nvPr/>
        </p:nvSpPr>
        <p:spPr>
          <a:xfrm>
            <a:off x="9237980" y="4536442"/>
            <a:ext cx="57150" cy="57150"/>
          </a:xfrm>
          <a:prstGeom prst="roundRect">
            <a:avLst>
              <a:gd name="adj" fmla="val 22222"/>
            </a:avLst>
          </a:prstGeom>
          <a:solidFill>
            <a:srgbClr val="A78BFA"/>
          </a:solidFill>
          <a:ln/>
        </p:spPr>
      </p:sp>
      <p:sp>
        <p:nvSpPr>
          <p:cNvPr id="67" name="Text 61"/>
          <p:cNvSpPr/>
          <p:nvPr/>
        </p:nvSpPr>
        <p:spPr>
          <a:xfrm>
            <a:off x="9371330" y="4453892"/>
            <a:ext cx="237681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3CEDA"/>
                </a:solidFill>
                <a:latin typeface="IBM Plex Sans" pitchFamily="34" charset="0"/>
                <a:ea typeface="IBM Plex Sans" pitchFamily="34" charset="-122"/>
                <a:cs typeface="IBM Plex Sans" pitchFamily="34" charset="-120"/>
              </a:rPr>
              <a:t>Regulatory pathway exploration (</a:t>
            </a:r>
            <a:r>
              <a:rPr lang="en-US" sz="1200" b="1" dirty="0">
                <a:solidFill>
                  <a:srgbClr val="F1F5F9"/>
                </a:solidFill>
                <a:latin typeface="IBM Plex Sans" pitchFamily="34" charset="0"/>
                <a:ea typeface="IBM Plex Sans" pitchFamily="34" charset="-122"/>
                <a:cs typeface="IBM Plex Sans" pitchFamily="34" charset="-120"/>
              </a:rPr>
              <a:t>Software as Medical Device</a:t>
            </a:r>
            <a:r>
              <a:rPr lang="en-US" sz="1200" dirty="0">
                <a:solidFill>
                  <a:srgbClr val="C3CEDA"/>
                </a:solidFill>
                <a:latin typeface="IBM Plex Sans" pitchFamily="34" charset="0"/>
                <a:ea typeface="IBM Plex Sans" pitchFamily="34" charset="-122"/>
                <a:cs typeface="IBM Plex Sans" pitchFamily="34" charset="-120"/>
              </a:rPr>
              <a:t>)</a:t>
            </a:r>
            <a:endParaRPr lang="en-US" sz="1200" dirty="0"/>
          </a:p>
        </p:txBody>
      </p:sp>
      <p:sp>
        <p:nvSpPr>
          <p:cNvPr id="68" name="Text 62"/>
          <p:cNvSpPr/>
          <p:nvPr/>
        </p:nvSpPr>
        <p:spPr>
          <a:xfrm>
            <a:off x="358775" y="5180967"/>
            <a:ext cx="11474450" cy="430530"/>
          </a:xfrm>
          <a:prstGeom prst="roundRect">
            <a:avLst>
              <a:gd name="adj" fmla="val 22861"/>
            </a:avLst>
          </a:prstGeom>
          <a:solidFill>
            <a:srgbClr val="111923"/>
          </a:solidFill>
          <a:ln w="6350">
            <a:solidFill>
              <a:srgbClr val="2A3647"/>
            </a:solidFill>
            <a:prstDash val="solid"/>
          </a:ln>
        </p:spPr>
        <p:txBody>
          <a:bodyPr wrap="square" lIns="150877" tIns="49277" rIns="150877" bIns="49277" rtlCol="0" anchor="ctr">
            <a:normAutofit/>
          </a:bodyPr>
          <a:lstStyle/>
          <a:p>
            <a:pPr marL="0" indent="0" algn="ctr">
              <a:lnSpc>
                <a:spcPts val="1960"/>
              </a:lnSpc>
              <a:buNone/>
            </a:pPr>
            <a:r>
              <a:rPr lang="en-US" sz="1400" b="1" dirty="0">
                <a:solidFill>
                  <a:srgbClr val="F1F5F9"/>
                </a:solidFill>
                <a:latin typeface="IBM Plex Sans" pitchFamily="34" charset="0"/>
                <a:ea typeface="IBM Plex Sans" pitchFamily="34" charset="-122"/>
                <a:cs typeface="IBM Plex Sans" pitchFamily="34" charset="-120"/>
              </a:rPr>
              <a:t>Today:</a:t>
            </a:r>
            <a:r>
              <a:rPr lang="en-US" sz="1400" dirty="0">
                <a:solidFill>
                  <a:srgbClr val="C3CEDA"/>
                </a:solidFill>
                <a:latin typeface="IBM Plex Sans" pitchFamily="34" charset="0"/>
                <a:ea typeface="IBM Plex Sans" pitchFamily="34" charset="-122"/>
                <a:cs typeface="IBM Plex Sans" pitchFamily="34" charset="-120"/>
              </a:rPr>
              <a:t> a research prototype on synthetic data. </a:t>
            </a:r>
            <a:r>
              <a:rPr lang="en-US" sz="1400" b="1" dirty="0">
                <a:solidFill>
                  <a:srgbClr val="F1F5F9"/>
                </a:solidFill>
                <a:latin typeface="IBM Plex Sans" pitchFamily="34" charset="0"/>
                <a:ea typeface="IBM Plex Sans" pitchFamily="34" charset="-122"/>
                <a:cs typeface="IBM Plex Sans" pitchFamily="34" charset="-120"/>
              </a:rPr>
              <a:t>Goal:</a:t>
            </a:r>
            <a:r>
              <a:rPr lang="en-US" sz="1400" dirty="0">
                <a:solidFill>
                  <a:srgbClr val="C3CEDA"/>
                </a:solidFill>
                <a:latin typeface="IBM Plex Sans" pitchFamily="34" charset="0"/>
                <a:ea typeface="IBM Plex Sans" pitchFamily="34" charset="-122"/>
                <a:cs typeface="IBM Plex Sans" pitchFamily="34" charset="-120"/>
              </a:rPr>
              <a:t> validation on real patients under clinical oversight.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Faint heartbeat line behind the title"/>
          <p:cNvPicPr>
            <a:picLocks noChangeAspect="1"/>
          </p:cNvPicPr>
          <p:nvPr/>
        </p:nvPicPr>
        <p:blipFill>
          <a:blip r:embed="rId3">
            <a:alphaModFix amt="22000"/>
          </a:blip>
          <a:srcRect t="-78" b="-78"/>
          <a:stretch/>
        </p:blipFill>
        <p:spPr>
          <a:xfrm>
            <a:off x="0" y="444500"/>
            <a:ext cx="12192000" cy="1270000"/>
          </a:xfrm>
          <a:prstGeom prst="rect">
            <a:avLst/>
          </a:prstGeom>
        </p:spPr>
      </p:pic>
      <p:pic>
        <p:nvPicPr>
          <p:cNvPr id="3" name="Image 1" descr="Faint heartbeat line near the bottom"/>
          <p:cNvPicPr>
            <a:picLocks noChangeAspect="1"/>
          </p:cNvPicPr>
          <p:nvPr/>
        </p:nvPicPr>
        <p:blipFill>
          <a:blip r:embed="rId4">
            <a:alphaModFix amt="14000"/>
          </a:blip>
          <a:srcRect/>
          <a:stretch/>
        </p:blipFill>
        <p:spPr>
          <a:xfrm>
            <a:off x="0" y="5753100"/>
            <a:ext cx="12192000" cy="762000"/>
          </a:xfrm>
          <a:prstGeom prst="rect">
            <a:avLst/>
          </a:prstGeom>
        </p:spPr>
      </p:pic>
      <p:sp>
        <p:nvSpPr>
          <p:cNvPr id="4" name="Shape 0"/>
          <p:cNvSpPr/>
          <p:nvPr/>
        </p:nvSpPr>
        <p:spPr>
          <a:xfrm>
            <a:off x="5511721" y="586742"/>
            <a:ext cx="355600" cy="50800"/>
          </a:xfrm>
          <a:prstGeom prst="roundRect">
            <a:avLst>
              <a:gd name="adj" fmla="val 50000"/>
            </a:avLst>
          </a:prstGeom>
          <a:solidFill>
            <a:srgbClr val="2DD4BF"/>
          </a:solidFill>
          <a:ln/>
        </p:spPr>
      </p:sp>
      <p:sp>
        <p:nvSpPr>
          <p:cNvPr id="5" name="Shape 1"/>
          <p:cNvSpPr/>
          <p:nvPr/>
        </p:nvSpPr>
        <p:spPr>
          <a:xfrm>
            <a:off x="5918121" y="586742"/>
            <a:ext cx="355600" cy="50800"/>
          </a:xfrm>
          <a:prstGeom prst="roundRect">
            <a:avLst>
              <a:gd name="adj" fmla="val 50000"/>
            </a:avLst>
          </a:prstGeom>
          <a:solidFill>
            <a:srgbClr val="22D3EE"/>
          </a:solidFill>
          <a:ln/>
        </p:spPr>
      </p:sp>
      <p:sp>
        <p:nvSpPr>
          <p:cNvPr id="6" name="Shape 2"/>
          <p:cNvSpPr/>
          <p:nvPr/>
        </p:nvSpPr>
        <p:spPr>
          <a:xfrm>
            <a:off x="6324521" y="586742"/>
            <a:ext cx="355600" cy="50800"/>
          </a:xfrm>
          <a:prstGeom prst="roundRect">
            <a:avLst>
              <a:gd name="adj" fmla="val 50000"/>
            </a:avLst>
          </a:prstGeom>
          <a:solidFill>
            <a:srgbClr val="5B9DFF"/>
          </a:solidFill>
          <a:ln/>
        </p:spPr>
      </p:sp>
      <p:sp>
        <p:nvSpPr>
          <p:cNvPr id="7" name="Text 3"/>
          <p:cNvSpPr>
            <a:spLocks noGrp="1"/>
          </p:cNvSpPr>
          <p:nvPr>
            <p:ph type="title"/>
          </p:nvPr>
        </p:nvSpPr>
        <p:spPr>
          <a:xfrm>
            <a:off x="3836587" y="726442"/>
            <a:ext cx="4518668" cy="975360"/>
          </a:xfrm>
          <a:prstGeom prst="rect">
            <a:avLst/>
          </a:prstGeom>
          <a:noFill/>
          <a:ln/>
        </p:spPr>
        <p:txBody>
          <a:bodyPr wrap="square" lIns="0" tIns="0" rIns="0" bIns="0" rtlCol="0" anchor="t">
            <a:normAutofit/>
          </a:bodyPr>
          <a:lstStyle/>
          <a:p>
            <a:pPr marL="0" indent="0" algn="ctr">
              <a:lnSpc>
                <a:spcPts val="7480"/>
              </a:lnSpc>
              <a:buNone/>
            </a:pPr>
            <a:r>
              <a:rPr lang="en-US" sz="6800" b="1" i="0" kern="0" spc="-100" dirty="0">
                <a:gradFill rotWithShape="1">
                  <a:gsLst>
                    <a:gs pos="0">
                      <a:srgbClr val="2DD4BF"/>
                    </a:gs>
                    <a:gs pos="50000">
                      <a:srgbClr val="22D3EE"/>
                    </a:gs>
                    <a:gs pos="100000">
                      <a:srgbClr val="5B9DFF"/>
                    </a:gs>
                  </a:gsLst>
                  <a:lin ang="0" scaled="0"/>
                </a:gradFill>
                <a:latin typeface="IBM Plex Sans" pitchFamily="34" charset="0"/>
                <a:ea typeface="IBM Plex Sans" pitchFamily="34" charset="-122"/>
                <a:cs typeface="IBM Plex Sans" pitchFamily="34" charset="-120"/>
              </a:rPr>
              <a:t>Thank You!</a:t>
            </a:r>
            <a:endParaRPr lang="en-US" sz="6800" dirty="0"/>
          </a:p>
        </p:txBody>
      </p:sp>
      <p:sp>
        <p:nvSpPr>
          <p:cNvPr id="8" name="Text 4"/>
          <p:cNvSpPr/>
          <p:nvPr/>
        </p:nvSpPr>
        <p:spPr>
          <a:xfrm>
            <a:off x="1769182" y="1765300"/>
            <a:ext cx="8653558" cy="34544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1F5F9"/>
                </a:solidFill>
                <a:latin typeface="IBM Plex Sans" pitchFamily="34" charset="0"/>
                <a:ea typeface="IBM Plex Sans" pitchFamily="34" charset="-122"/>
                <a:cs typeface="IBM Plex Sans" pitchFamily="34" charset="-120"/>
              </a:rPr>
              <a:t>AarogyaTwin-X</a:t>
            </a:r>
            <a:r>
              <a:rPr lang="en-US" sz="1800" dirty="0">
                <a:solidFill>
                  <a:srgbClr val="AEBBCA"/>
                </a:solidFill>
                <a:latin typeface="IBM Plex Sans" pitchFamily="34" charset="0"/>
                <a:ea typeface="IBM Plex Sans" pitchFamily="34" charset="-122"/>
                <a:cs typeface="IBM Plex Sans" pitchFamily="34" charset="-120"/>
              </a:rPr>
              <a:t> — Forecasts with evidence, not unsupported certainty.</a:t>
            </a:r>
            <a:endParaRPr lang="en-US" sz="1800" dirty="0"/>
          </a:p>
        </p:txBody>
      </p:sp>
      <p:sp>
        <p:nvSpPr>
          <p:cNvPr id="9" name="Shape 5"/>
          <p:cNvSpPr/>
          <p:nvPr/>
        </p:nvSpPr>
        <p:spPr>
          <a:xfrm>
            <a:off x="358775" y="2304417"/>
            <a:ext cx="6591618" cy="2208530"/>
          </a:xfrm>
          <a:prstGeom prst="roundRect">
            <a:avLst>
              <a:gd name="adj" fmla="val 5607"/>
            </a:avLst>
          </a:prstGeom>
          <a:gradFill rotWithShape="1">
            <a:gsLst>
              <a:gs pos="0">
                <a:srgbClr val="2DD4BF">
                  <a:alpha val="12000"/>
                </a:srgbClr>
              </a:gs>
              <a:gs pos="55000">
                <a:srgbClr val="111923"/>
              </a:gs>
            </a:gsLst>
            <a:lin ang="4200000" scaled="0"/>
          </a:gradFill>
          <a:ln w="6350">
            <a:solidFill>
              <a:srgbClr val="2DD4BF">
                <a:alpha val="60000"/>
              </a:srgbClr>
            </a:solidFill>
            <a:prstDash val="solid"/>
          </a:ln>
          <a:effectLst>
            <a:outerShdw blurRad="228600" dir="60000" algn="bl" rotWithShape="0">
              <a:srgbClr val="2DD4BF">
                <a:alpha val="20000"/>
              </a:srgbClr>
            </a:outerShdw>
          </a:effectLst>
        </p:spPr>
      </p:sp>
      <p:pic>
        <p:nvPicPr>
          <p:cNvPr id="10" name="Image 2" descr="Code"/>
          <p:cNvPicPr>
            <a:picLocks noChangeAspect="1"/>
          </p:cNvPicPr>
          <p:nvPr/>
        </p:nvPicPr>
        <p:blipFill>
          <a:blip r:embed="rId5"/>
          <a:srcRect/>
          <a:stretch/>
        </p:blipFill>
        <p:spPr>
          <a:xfrm>
            <a:off x="563880" y="2550164"/>
            <a:ext cx="304800" cy="304800"/>
          </a:xfrm>
          <a:prstGeom prst="rect">
            <a:avLst/>
          </a:prstGeom>
        </p:spPr>
      </p:pic>
      <p:sp>
        <p:nvSpPr>
          <p:cNvPr id="11" name="Text 6"/>
          <p:cNvSpPr/>
          <p:nvPr/>
        </p:nvSpPr>
        <p:spPr>
          <a:xfrm>
            <a:off x="995680" y="2471421"/>
            <a:ext cx="592209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JetBrains Mono" pitchFamily="49" charset="0"/>
                <a:ea typeface="JetBrains Mono" pitchFamily="49" charset="-122"/>
                <a:cs typeface="JetBrains Mono" pitchFamily="49" charset="-120"/>
              </a:rPr>
              <a:t>GITHUB REPOSITORY</a:t>
            </a:r>
            <a:endParaRPr lang="en-US" sz="1200" dirty="0"/>
          </a:p>
        </p:txBody>
      </p:sp>
      <p:sp>
        <p:nvSpPr>
          <p:cNvPr id="12" name="Text 7"/>
          <p:cNvSpPr/>
          <p:nvPr/>
        </p:nvSpPr>
        <p:spPr>
          <a:xfrm>
            <a:off x="995680" y="2684779"/>
            <a:ext cx="5922096" cy="274320"/>
          </a:xfrm>
          <a:prstGeom prst="rect">
            <a:avLst/>
          </a:prstGeom>
          <a:noFill/>
          <a:ln/>
        </p:spPr>
        <p:txBody>
          <a:bodyPr wrap="square" lIns="0" tIns="0" rIns="0" bIns="0" rtlCol="0" anchor="t">
            <a:normAutofit/>
          </a:bodyPr>
          <a:lstStyle/>
          <a:p>
            <a:pPr>
              <a:lnSpc>
                <a:spcPts val="1960"/>
              </a:lnSpc>
            </a:pPr>
            <a:r>
              <a:rPr lang="en-US" sz="1400" dirty="0">
                <a:solidFill>
                  <a:srgbClr val="F1F5F9"/>
                </a:solidFill>
                <a:latin typeface="JetBrains Mono" pitchFamily="49" charset="0"/>
                <a:ea typeface="JetBrains Mono" pitchFamily="49" charset="-122"/>
                <a:cs typeface="JetBrains Mono" pitchFamily="49" charset="-120"/>
              </a:rPr>
              <a:t>https://github.com/Amit-kumar-Yadav14/AarogyaTwin-X</a:t>
            </a:r>
            <a:endParaRPr lang="en-US" sz="1400" dirty="0"/>
          </a:p>
        </p:txBody>
      </p:sp>
      <p:sp>
        <p:nvSpPr>
          <p:cNvPr id="13" name="Shape 8"/>
          <p:cNvSpPr/>
          <p:nvPr/>
        </p:nvSpPr>
        <p:spPr>
          <a:xfrm>
            <a:off x="563880" y="3048000"/>
            <a:ext cx="6181408" cy="6350"/>
          </a:xfrm>
          <a:prstGeom prst="rect">
            <a:avLst/>
          </a:prstGeom>
          <a:solidFill>
            <a:srgbClr val="2A3647"/>
          </a:solidFill>
          <a:ln/>
        </p:spPr>
      </p:sp>
      <p:pic>
        <p:nvPicPr>
          <p:cNvPr id="14" name="Image 3" descr="Play"/>
          <p:cNvPicPr>
            <a:picLocks noChangeAspect="1"/>
          </p:cNvPicPr>
          <p:nvPr/>
        </p:nvPicPr>
        <p:blipFill>
          <a:blip r:embed="rId6"/>
          <a:srcRect/>
          <a:stretch/>
        </p:blipFill>
        <p:spPr>
          <a:xfrm>
            <a:off x="563880" y="3247392"/>
            <a:ext cx="304800" cy="304800"/>
          </a:xfrm>
          <a:prstGeom prst="rect">
            <a:avLst/>
          </a:prstGeom>
        </p:spPr>
      </p:pic>
      <p:sp>
        <p:nvSpPr>
          <p:cNvPr id="15" name="Text 9"/>
          <p:cNvSpPr/>
          <p:nvPr/>
        </p:nvSpPr>
        <p:spPr>
          <a:xfrm>
            <a:off x="995680" y="3168650"/>
            <a:ext cx="592209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2D3EE"/>
                </a:solidFill>
                <a:latin typeface="JetBrains Mono" pitchFamily="49" charset="0"/>
                <a:ea typeface="JetBrains Mono" pitchFamily="49" charset="-122"/>
                <a:cs typeface="JetBrains Mono" pitchFamily="49" charset="-120"/>
              </a:rPr>
              <a:t>DEMO VIDEO</a:t>
            </a:r>
            <a:endParaRPr lang="en-US" sz="1200" dirty="0"/>
          </a:p>
        </p:txBody>
      </p:sp>
      <p:sp>
        <p:nvSpPr>
          <p:cNvPr id="16" name="Text 10"/>
          <p:cNvSpPr/>
          <p:nvPr/>
        </p:nvSpPr>
        <p:spPr>
          <a:xfrm>
            <a:off x="995680" y="3382014"/>
            <a:ext cx="5922096" cy="274320"/>
          </a:xfrm>
          <a:prstGeom prst="rect">
            <a:avLst/>
          </a:prstGeom>
          <a:noFill/>
          <a:ln/>
        </p:spPr>
        <p:txBody>
          <a:bodyPr wrap="square" lIns="0" tIns="0" rIns="0" bIns="0" rtlCol="0" anchor="t">
            <a:normAutofit/>
          </a:bodyPr>
          <a:lstStyle/>
          <a:p>
            <a:pPr>
              <a:lnSpc>
                <a:spcPts val="1960"/>
              </a:lnSpc>
            </a:pPr>
            <a:r>
              <a:rPr lang="en-US" sz="1400" dirty="0">
                <a:solidFill>
                  <a:srgbClr val="F1F5F9"/>
                </a:solidFill>
                <a:latin typeface="JetBrains Mono" pitchFamily="49" charset="0"/>
                <a:ea typeface="JetBrains Mono" pitchFamily="49" charset="-122"/>
                <a:cs typeface="JetBrains Mono" pitchFamily="49" charset="-120"/>
              </a:rPr>
              <a:t>https://youtu.be/3ck4XbOvc_Y</a:t>
            </a:r>
            <a:endParaRPr lang="en-US" sz="1400" dirty="0"/>
          </a:p>
        </p:txBody>
      </p:sp>
      <p:sp>
        <p:nvSpPr>
          <p:cNvPr id="17" name="Shape 11"/>
          <p:cNvSpPr/>
          <p:nvPr/>
        </p:nvSpPr>
        <p:spPr>
          <a:xfrm>
            <a:off x="563880" y="3745229"/>
            <a:ext cx="6181408" cy="6350"/>
          </a:xfrm>
          <a:prstGeom prst="rect">
            <a:avLst/>
          </a:prstGeom>
          <a:solidFill>
            <a:srgbClr val="2A3647"/>
          </a:solidFill>
          <a:ln/>
        </p:spPr>
      </p:sp>
      <p:pic>
        <p:nvPicPr>
          <p:cNvPr id="18" name="Image 4" descr="Verified"/>
          <p:cNvPicPr>
            <a:picLocks noChangeAspect="1"/>
          </p:cNvPicPr>
          <p:nvPr/>
        </p:nvPicPr>
        <p:blipFill>
          <a:blip r:embed="rId7"/>
          <a:srcRect/>
          <a:stretch/>
        </p:blipFill>
        <p:spPr>
          <a:xfrm>
            <a:off x="563880" y="3953514"/>
            <a:ext cx="304800" cy="304800"/>
          </a:xfrm>
          <a:prstGeom prst="rect">
            <a:avLst/>
          </a:prstGeom>
        </p:spPr>
      </p:pic>
      <p:sp>
        <p:nvSpPr>
          <p:cNvPr id="19" name="Text 12"/>
          <p:cNvSpPr/>
          <p:nvPr/>
        </p:nvSpPr>
        <p:spPr>
          <a:xfrm>
            <a:off x="995680" y="3865879"/>
            <a:ext cx="592209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B4FF"/>
                </a:solidFill>
                <a:latin typeface="JetBrains Mono" pitchFamily="49" charset="0"/>
                <a:ea typeface="JetBrains Mono" pitchFamily="49" charset="-122"/>
                <a:cs typeface="JetBrains Mono" pitchFamily="49" charset="-120"/>
              </a:rPr>
              <a:t>LICENSE</a:t>
            </a:r>
            <a:endParaRPr lang="en-US" sz="1200" dirty="0"/>
          </a:p>
        </p:txBody>
      </p:sp>
      <p:sp>
        <p:nvSpPr>
          <p:cNvPr id="20" name="Text 13"/>
          <p:cNvSpPr/>
          <p:nvPr/>
        </p:nvSpPr>
        <p:spPr>
          <a:xfrm>
            <a:off x="995680" y="4079242"/>
            <a:ext cx="592209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1F5F9"/>
                </a:solidFill>
                <a:latin typeface="IBM Plex Sans" pitchFamily="34" charset="0"/>
                <a:ea typeface="IBM Plex Sans" pitchFamily="34" charset="-122"/>
                <a:cs typeface="IBM Plex Sans" pitchFamily="34" charset="-120"/>
              </a:rPr>
              <a:t>MIT Open Source</a:t>
            </a:r>
            <a:endParaRPr lang="en-US" sz="1500" dirty="0"/>
          </a:p>
        </p:txBody>
      </p:sp>
      <p:sp>
        <p:nvSpPr>
          <p:cNvPr id="21" name="Shape 14"/>
          <p:cNvSpPr/>
          <p:nvPr/>
        </p:nvSpPr>
        <p:spPr>
          <a:xfrm>
            <a:off x="7159943" y="2304417"/>
            <a:ext cx="4673283" cy="2208530"/>
          </a:xfrm>
          <a:prstGeom prst="roundRect">
            <a:avLst>
              <a:gd name="adj" fmla="val 5607"/>
            </a:avLst>
          </a:prstGeom>
          <a:gradFill rotWithShape="1">
            <a:gsLst>
              <a:gs pos="0">
                <a:srgbClr val="22D3EE">
                  <a:alpha val="12000"/>
                </a:srgbClr>
              </a:gs>
              <a:gs pos="55000">
                <a:srgbClr val="111923"/>
              </a:gs>
            </a:gsLst>
            <a:lin ang="4200000" scaled="0"/>
          </a:gradFill>
          <a:ln w="6350">
            <a:solidFill>
              <a:srgbClr val="22D3EE">
                <a:alpha val="60000"/>
              </a:srgbClr>
            </a:solidFill>
            <a:prstDash val="solid"/>
          </a:ln>
          <a:effectLst>
            <a:outerShdw blurRad="228600" dir="60000" algn="bl" rotWithShape="0">
              <a:srgbClr val="22D3EE">
                <a:alpha val="20000"/>
              </a:srgbClr>
            </a:outerShdw>
          </a:effectLst>
        </p:spPr>
      </p:sp>
      <p:pic>
        <p:nvPicPr>
          <p:cNvPr id="22" name="Image 5" descr="Users"/>
          <p:cNvPicPr>
            <a:picLocks noChangeAspect="1"/>
          </p:cNvPicPr>
          <p:nvPr/>
        </p:nvPicPr>
        <p:blipFill>
          <a:blip r:embed="rId8"/>
          <a:srcRect/>
          <a:stretch/>
        </p:blipFill>
        <p:spPr>
          <a:xfrm>
            <a:off x="7365047" y="2722246"/>
            <a:ext cx="279400" cy="279400"/>
          </a:xfrm>
          <a:prstGeom prst="rect">
            <a:avLst/>
          </a:prstGeom>
        </p:spPr>
      </p:pic>
      <p:sp>
        <p:nvSpPr>
          <p:cNvPr id="23" name="Text 15"/>
          <p:cNvSpPr/>
          <p:nvPr/>
        </p:nvSpPr>
        <p:spPr>
          <a:xfrm>
            <a:off x="7733347" y="2755267"/>
            <a:ext cx="4998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2D3EE"/>
                </a:solidFill>
                <a:latin typeface="JetBrains Mono" pitchFamily="49" charset="0"/>
                <a:ea typeface="JetBrains Mono" pitchFamily="49" charset="-122"/>
                <a:cs typeface="JetBrains Mono" pitchFamily="49" charset="-120"/>
              </a:rPr>
              <a:t>TEAM</a:t>
            </a:r>
            <a:endParaRPr lang="en-US" sz="1200" dirty="0"/>
          </a:p>
        </p:txBody>
      </p:sp>
      <p:sp>
        <p:nvSpPr>
          <p:cNvPr id="24" name="Text 16"/>
          <p:cNvSpPr/>
          <p:nvPr/>
        </p:nvSpPr>
        <p:spPr>
          <a:xfrm>
            <a:off x="7365047" y="3065146"/>
            <a:ext cx="4390965"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1F5F9"/>
                </a:solidFill>
                <a:latin typeface="IBM Plex Sans" pitchFamily="34" charset="0"/>
                <a:ea typeface="IBM Plex Sans" pitchFamily="34" charset="-122"/>
                <a:cs typeface="IBM Plex Sans" pitchFamily="34" charset="-120"/>
              </a:rPr>
              <a:t>team40</a:t>
            </a:r>
            <a:endParaRPr lang="en-US" sz="2800" dirty="0"/>
          </a:p>
        </p:txBody>
      </p:sp>
      <p:sp>
        <p:nvSpPr>
          <p:cNvPr id="25" name="Text 17"/>
          <p:cNvSpPr/>
          <p:nvPr/>
        </p:nvSpPr>
        <p:spPr>
          <a:xfrm>
            <a:off x="7365047" y="3519804"/>
            <a:ext cx="4390965" cy="306070"/>
          </a:xfrm>
          <a:prstGeom prst="rect">
            <a:avLst/>
          </a:prstGeom>
          <a:noFill/>
          <a:ln/>
        </p:spPr>
        <p:txBody>
          <a:bodyPr wrap="square" lIns="0" tIns="0" rIns="0" bIns="0" rtlCol="0" anchor="t">
            <a:normAutofit/>
          </a:bodyPr>
          <a:lstStyle/>
          <a:p>
            <a:pPr marL="0" indent="0" algn="l">
              <a:lnSpc>
                <a:spcPts val="2210"/>
              </a:lnSpc>
              <a:buNone/>
            </a:pPr>
            <a:r>
              <a:rPr lang="en-US" sz="1700" b="1" kern="0" spc="50" dirty="0">
                <a:solidFill>
                  <a:srgbClr val="2DD4BF"/>
                </a:solidFill>
                <a:latin typeface="IBM Plex Sans" pitchFamily="34" charset="0"/>
                <a:ea typeface="IBM Plex Sans" pitchFamily="34" charset="-122"/>
                <a:cs typeface="IBM Plex Sans" pitchFamily="34" charset="-120"/>
              </a:rPr>
              <a:t>AMIT, HANSRAJ</a:t>
            </a:r>
            <a:endParaRPr lang="en-US" sz="1700" dirty="0"/>
          </a:p>
        </p:txBody>
      </p:sp>
      <p:sp>
        <p:nvSpPr>
          <p:cNvPr id="26" name="Text 18"/>
          <p:cNvSpPr/>
          <p:nvPr/>
        </p:nvSpPr>
        <p:spPr>
          <a:xfrm>
            <a:off x="7365047" y="3863975"/>
            <a:ext cx="4390965" cy="256540"/>
          </a:xfrm>
          <a:prstGeom prst="rect">
            <a:avLst/>
          </a:prstGeom>
          <a:noFill/>
          <a:ln/>
        </p:spPr>
        <p:txBody>
          <a:bodyPr wrap="square" lIns="0" tIns="0" rIns="0" bIns="0" rtlCol="0" anchor="t">
            <a:normAutofit/>
          </a:bodyPr>
          <a:lstStyle/>
          <a:p>
            <a:pPr marL="0" indent="0" algn="l">
              <a:lnSpc>
                <a:spcPts val="1820"/>
              </a:lnSpc>
              <a:buNone/>
            </a:pPr>
            <a:r>
              <a:rPr lang="en-US" sz="1300" kern="0" spc="25" dirty="0">
                <a:solidFill>
                  <a:srgbClr val="C3CEDA"/>
                </a:solidFill>
                <a:latin typeface="IBM Plex Sans" pitchFamily="34" charset="0"/>
                <a:ea typeface="IBM Plex Sans" pitchFamily="34" charset="-122"/>
                <a:cs typeface="IBM Plex Sans" pitchFamily="34" charset="-120"/>
              </a:rPr>
              <a:t>ARYA COLLEGE OF ENGINEERING AND IT</a:t>
            </a:r>
            <a:endParaRPr lang="en-US" sz="1300" dirty="0"/>
          </a:p>
        </p:txBody>
      </p:sp>
      <p:sp>
        <p:nvSpPr>
          <p:cNvPr id="27" name="Shape 19"/>
          <p:cNvSpPr/>
          <p:nvPr/>
        </p:nvSpPr>
        <p:spPr>
          <a:xfrm>
            <a:off x="5715000" y="4732021"/>
            <a:ext cx="762000" cy="19050"/>
          </a:xfrm>
          <a:prstGeom prst="roundRect">
            <a:avLst>
              <a:gd name="adj" fmla="val 50000"/>
            </a:avLst>
          </a:prstGeom>
          <a:solidFill>
            <a:srgbClr val="2DD4BF"/>
          </a:solidFill>
          <a:ln/>
        </p:spPr>
      </p:sp>
      <p:sp>
        <p:nvSpPr>
          <p:cNvPr id="28" name="Text 20"/>
          <p:cNvSpPr/>
          <p:nvPr/>
        </p:nvSpPr>
        <p:spPr>
          <a:xfrm>
            <a:off x="1190625" y="4839971"/>
            <a:ext cx="9810750" cy="665480"/>
          </a:xfrm>
          <a:prstGeom prst="rect">
            <a:avLst/>
          </a:prstGeom>
          <a:noFill/>
          <a:ln/>
        </p:spPr>
        <p:txBody>
          <a:bodyPr wrap="square" lIns="0" tIns="0" rIns="0" bIns="0" rtlCol="0" anchor="t">
            <a:normAutofit/>
          </a:bodyPr>
          <a:lstStyle/>
          <a:p>
            <a:pPr marL="0" indent="0" algn="ctr">
              <a:lnSpc>
                <a:spcPts val="2520"/>
              </a:lnSpc>
              <a:buNone/>
            </a:pPr>
            <a:r>
              <a:rPr lang="en-US" sz="1800" i="1" dirty="0">
                <a:solidFill>
                  <a:srgbClr val="E2E8F0"/>
                </a:solidFill>
                <a:latin typeface="IBM Plex Sans" pitchFamily="34" charset="0"/>
                <a:ea typeface="IBM Plex Sans" pitchFamily="34" charset="-122"/>
                <a:cs typeface="IBM Plex Sans" pitchFamily="34" charset="-120"/>
              </a:rPr>
              <a:t>“In healthcare AI, the courage to say ‘I don’t know’ is the most important feature you can build.”</a:t>
            </a:r>
            <a:endParaRPr lang="en-US" sz="1800" dirty="0"/>
          </a:p>
        </p:txBody>
      </p:sp>
      <p:sp>
        <p:nvSpPr>
          <p:cNvPr id="29" name="Shape 21"/>
          <p:cNvSpPr/>
          <p:nvPr/>
        </p:nvSpPr>
        <p:spPr>
          <a:xfrm>
            <a:off x="5715000" y="5568950"/>
            <a:ext cx="762000" cy="19050"/>
          </a:xfrm>
          <a:prstGeom prst="roundRect">
            <a:avLst>
              <a:gd name="adj" fmla="val 50000"/>
            </a:avLst>
          </a:prstGeom>
          <a:solidFill>
            <a:srgbClr val="2DD4BF"/>
          </a:solidFill>
          <a:ln/>
        </p:spPr>
      </p:sp>
      <p:sp>
        <p:nvSpPr>
          <p:cNvPr id="30" name="Shape 22"/>
          <p:cNvSpPr/>
          <p:nvPr/>
        </p:nvSpPr>
        <p:spPr>
          <a:xfrm>
            <a:off x="4323080" y="5807075"/>
            <a:ext cx="3545840" cy="511810"/>
          </a:xfrm>
          <a:prstGeom prst="roundRect">
            <a:avLst>
              <a:gd name="adj" fmla="val 50000"/>
            </a:avLst>
          </a:prstGeom>
          <a:solidFill>
            <a:srgbClr val="111923"/>
          </a:solidFill>
          <a:ln w="6350">
            <a:solidFill>
              <a:srgbClr val="2DD4BF">
                <a:alpha val="70000"/>
              </a:srgbClr>
            </a:solidFill>
            <a:prstDash val="solid"/>
          </a:ln>
          <a:effectLst>
            <a:outerShdw blurRad="228600" dir="60000" algn="bl" rotWithShape="0">
              <a:srgbClr val="2DD4BF">
                <a:alpha val="30000"/>
              </a:srgbClr>
            </a:outerShdw>
          </a:effectLst>
        </p:spPr>
      </p:sp>
      <p:pic>
        <p:nvPicPr>
          <p:cNvPr id="31" name="Image 6" descr="Q and A speech bubble"/>
          <p:cNvPicPr>
            <a:picLocks noChangeAspect="1"/>
          </p:cNvPicPr>
          <p:nvPr/>
        </p:nvPicPr>
        <p:blipFill>
          <a:blip r:embed="rId9"/>
          <a:srcRect/>
          <a:stretch/>
        </p:blipFill>
        <p:spPr>
          <a:xfrm>
            <a:off x="4490085" y="5885179"/>
            <a:ext cx="355600" cy="355600"/>
          </a:xfrm>
          <a:prstGeom prst="rect">
            <a:avLst/>
          </a:prstGeom>
        </p:spPr>
      </p:pic>
      <p:sp>
        <p:nvSpPr>
          <p:cNvPr id="32" name="Text 23"/>
          <p:cNvSpPr/>
          <p:nvPr/>
        </p:nvSpPr>
        <p:spPr>
          <a:xfrm>
            <a:off x="4959985" y="5910579"/>
            <a:ext cx="2905760" cy="330200"/>
          </a:xfrm>
          <a:prstGeom prst="rect">
            <a:avLst/>
          </a:prstGeom>
          <a:noFill/>
          <a:ln/>
        </p:spPr>
        <p:txBody>
          <a:bodyPr wrap="square" lIns="0" tIns="0" rIns="0" bIns="0" rtlCol="0" anchor="t">
            <a:normAutofit/>
          </a:bodyPr>
          <a:lstStyle/>
          <a:p>
            <a:pPr marL="0" indent="0" algn="l">
              <a:lnSpc>
                <a:spcPts val="2400"/>
              </a:lnSpc>
              <a:buNone/>
            </a:pPr>
            <a:r>
              <a:rPr lang="en-US" sz="2000" b="1" kern="0" spc="50" dirty="0">
                <a:solidFill>
                  <a:srgbClr val="F1F5F9"/>
                </a:solidFill>
                <a:latin typeface="IBM Plex Sans" pitchFamily="34" charset="0"/>
                <a:ea typeface="IBM Plex Sans" pitchFamily="34" charset="-122"/>
                <a:cs typeface="IBM Plex Sans" pitchFamily="34" charset="-120"/>
              </a:rPr>
              <a:t>Questions &amp; Answers</a:t>
            </a:r>
            <a:endParaRPr lang="en-US" sz="2000" dirty="0"/>
          </a:p>
        </p:txBody>
      </p:sp>
    </p:spTree>
  </p:cSld>
  <p:clrMapOvr>
    <a:masterClrMapping/>
  </p:clrMapOvr>
</p:sld>
</file>

<file path=ppt/theme/theme1.xml><?xml version="1.0" encoding="utf-8"?>
<a:theme xmlns:a="http://schemas.openxmlformats.org/drawingml/2006/main" name="The Healthcare Problem">
  <a:themeElements>
    <a:clrScheme name="The Healthcare Problem">
      <a:dk1>
        <a:srgbClr val="0A0F16"/>
      </a:dk1>
      <a:lt1>
        <a:srgbClr val="F1F5F9"/>
      </a:lt1>
      <a:dk2>
        <a:srgbClr val="21262D"/>
      </a:dk2>
      <a:lt2>
        <a:srgbClr val="B7BCC0"/>
      </a:lt2>
      <a:accent1>
        <a:srgbClr val="4ADE80"/>
      </a:accent1>
      <a:accent2>
        <a:srgbClr val="2DD4BF"/>
      </a:accent2>
      <a:accent3>
        <a:srgbClr val="5B9DFF"/>
      </a:accent3>
      <a:accent4>
        <a:srgbClr val="FF5C5C"/>
      </a:accent4>
      <a:accent5>
        <a:srgbClr val="A78BFA"/>
      </a:accent5>
      <a:accent6>
        <a:srgbClr val="FFA23A"/>
      </a:accent6>
      <a:hlink>
        <a:srgbClr val="0563C1"/>
      </a:hlink>
      <a:folHlink>
        <a:srgbClr val="954F72"/>
      </a:folHlink>
    </a:clrScheme>
    <a:fontScheme name="The Healthcare Proble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e Healthcare Problem">
  <a:themeElements>
    <a:clrScheme name="The Healthcare Problem">
      <a:dk1>
        <a:srgbClr val="0A0F16"/>
      </a:dk1>
      <a:lt1>
        <a:srgbClr val="F1F5F9"/>
      </a:lt1>
      <a:dk2>
        <a:srgbClr val="21262D"/>
      </a:dk2>
      <a:lt2>
        <a:srgbClr val="B7BCC0"/>
      </a:lt2>
      <a:accent1>
        <a:srgbClr val="2DD4BF"/>
      </a:accent1>
      <a:accent2>
        <a:srgbClr val="4ADE80"/>
      </a:accent2>
      <a:accent3>
        <a:srgbClr val="5B9DFF"/>
      </a:accent3>
      <a:accent4>
        <a:srgbClr val="FF5C5C"/>
      </a:accent4>
      <a:accent5>
        <a:srgbClr val="22D3EE"/>
      </a:accent5>
      <a:accent6>
        <a:srgbClr val="A78BFA"/>
      </a:accent6>
      <a:hlink>
        <a:srgbClr val="0563C1"/>
      </a:hlink>
      <a:folHlink>
        <a:srgbClr val="954F72"/>
      </a:folHlink>
    </a:clrScheme>
    <a:fontScheme name="The Healthcare Proble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3593</Words>
  <Application>Microsoft Office PowerPoint</Application>
  <PresentationFormat>Widescreen</PresentationFormat>
  <Paragraphs>391</Paragraphs>
  <Slides>12</Slides>
  <Notes>11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12</vt:i4>
      </vt:variant>
    </vt:vector>
  </HeadingPairs>
  <TitlesOfParts>
    <vt:vector size="20" baseType="lpstr">
      <vt:lpstr>Calibri</vt:lpstr>
      <vt:lpstr>Inter</vt:lpstr>
      <vt:lpstr>Arial</vt:lpstr>
      <vt:lpstr>JetBrains Mono</vt:lpstr>
      <vt:lpstr>IBM Plex Sans</vt:lpstr>
      <vt:lpstr>The Healthcare Problem</vt:lpstr>
      <vt:lpstr>Office Theme</vt:lpstr>
      <vt:lpstr>The Healthcare Problem</vt:lpstr>
      <vt:lpstr>PowerPoint Presentation</vt:lpstr>
      <vt:lpstr>The Healthcare Problem</vt:lpstr>
      <vt:lpstr>AarogyaTwin-X: Our Solution</vt:lpstr>
      <vt:lpstr>System Architecture</vt:lpstr>
      <vt:lpstr>Zero Data Leakage: Patient-Disjoint Evaluation Design</vt:lpstr>
      <vt:lpstr>Live Dashboard: Patient Twin Overview</vt:lpstr>
      <vt:lpstr>Forward Forecast: Conformal Prediction in Action</vt:lpstr>
      <vt:lpstr>The Game Changer: Intentional Abstention</vt:lpstr>
      <vt:lpstr>Clinician What-If Scenario Sandbox</vt:lpstr>
      <vt:lpstr>Quantitative Evaluation on Held-Out Test Patients</vt:lpstr>
      <vt:lpstr>Future Roadmap: From Prototype to Clinical Validation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AMIT AJ</cp:lastModifiedBy>
  <cp:revision>6</cp:revision>
  <dcterms:created xsi:type="dcterms:W3CDTF">2013-01-27T09:14:16Z</dcterms:created>
  <dcterms:modified xsi:type="dcterms:W3CDTF">2026-10-19T07:09:49Z</dcterms:modified>
  <cp:category/>
</cp:coreProperties>
</file>