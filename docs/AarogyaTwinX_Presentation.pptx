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 type="screen16x9"/>
  <p:notesSz cx="6858000" cy="9144000"/>
  <p:defaultTextStyle/>
</p:presentation>
</file>

<file path=ppt/presProps.xml><?xml version="1.0" encoding="utf-8"?>
<p:presentationPr xmlns:a="http://schemas.openxmlformats.org/drawingml/2006/main" xmlns:p="http://schemas.openxmlformats.org/presentationml/2006/main"/>
</file>

<file path=ppt/tableStyles.xml><?xml version="1.0" encoding="utf-8"?>
<a:tblStyleLst xmlns:a="http://schemas.openxmlformats.org/drawingml/2006/main" defaultTableStyle="{5C22544A-7EE6-4342-B048-85BDC9FD1C3A}"/>
</file>

<file path=ppt/viewProps.xml><?xml version="1.0" encoding="utf-8"?>
<p:viewPr xmlns:a="http://schemas.openxmlformats.org/drawingml/2006/main" xmlns:p="http://schemas.openxmlformats.org/presentationml/2006/main">
  <p:normalViewPr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sldLayoutIdLst>
    <p:sldLayoutId id="1" r:id="rId1"/>
  </p:sldLayoutIdLst>
  <p:txStyles>
    <p:titleStyle/>
    <p:bodyStyle/>
    <p:otherStyle/>
  </p:txStyles>
  <p:clrMap accent1="159B9A" accent2="7667E8" accent3="14253D" accent4="68758A" accent5="F4F7FA" accent6="FFFFFF" bg1="FFFFFF" bg2="F4F7FA" tx1="14253D" tx2="68758A"/>
</p:sldMaster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accent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59B9A"/>
          </a:solidFill>
          <a:ln>
            <a:noFill/>
          </a:ln>
        </p:spPr>
      </p:sp>
      <p:sp>
        <p:nvSpPr>
          <p:cNvPr id="4" name="title"/>
          <p:cNvSpPr/>
          <p:nvPr/>
        </p:nvSpPr>
        <p:spPr>
          <a:xfrm>
            <a:off x="594360" y="438912"/>
            <a:ext cx="10972800" cy="64008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lvl="0">
              <a:buNone/>
            </a:pPr>
            <a:r>
              <a:rPr lang="en-US" sz="2800" b="1">
                <a:solidFill>
                  <a:srgbClr val="14253D"/>
                </a:solidFill>
                <a:latin typeface="Aptos"/>
              </a:rPr>
              <a:t>AarogyaTwin-X</a:t>
            </a:r>
            <a:endParaRPr lang="en-US" sz="2800"/>
          </a:p>
        </p:txBody>
      </p:sp>
      <p:sp>
        <p:nvSpPr>
          <p:cNvPr id="5" name="body"/>
          <p:cNvSpPr/>
          <p:nvPr/>
        </p:nvSpPr>
        <p:spPr>
          <a:xfrm>
            <a:off x="749808" y="1261872"/>
            <a:ext cx="10698480" cy="480060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lvl="0">
              <a:buChar char="•"/>
            </a:pPr>
            <a:r>
              <a:rPr lang="en-US" sz="1700">
                <a:solidFill>
                  <a:srgbClr val="26364D"/>
                </a:solidFill>
                <a:latin typeface="Aptos"/>
              </a:rPr>
              <a:t>Forecasts with evidence, not unsupported certainty</a:t>
            </a:r>
            <a:endParaRPr lang="en-US" sz="1700"/>
          </a:p>
          <a:p>
            <a:pPr lvl="0">
              <a:buChar char="•"/>
            </a:pPr>
            <a:r>
              <a:rPr lang="en-US" sz="1700">
                <a:solidFill>
                  <a:srgbClr val="26364D"/>
                </a:solidFill>
                <a:latin typeface="Aptos"/>
              </a:rPr>
              <a:t>Local synthetic patient replay and glucose forecasting</a:t>
            </a:r>
            <a:endParaRPr lang="en-US" sz="1700"/>
          </a:p>
          <a:p>
            <a:pPr lvl="0">
              <a:buChar char="•"/>
            </a:pPr>
            <a:r>
              <a:rPr lang="en-US" sz="1700">
                <a:solidFill>
                  <a:srgbClr val="26364D"/>
                </a:solidFill>
                <a:latin typeface="Aptos"/>
              </a:rPr>
              <a:t>Not a diagnostic device. Not medical advice.</a:t>
            </a:r>
            <a:endParaRPr lang="en-US" sz="1700"/>
          </a:p>
        </p:txBody>
      </p:sp>
      <p:sp>
        <p:nvSpPr>
          <p:cNvPr id="6" name="footer"/>
          <p:cNvSpPr/>
          <p:nvPr/>
        </p:nvSpPr>
        <p:spPr>
          <a:xfrm>
            <a:off x="594360" y="6510528"/>
            <a:ext cx="10972800" cy="18288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lvl="0">
              <a:buNone/>
            </a:pPr>
            <a:r>
              <a:rPr lang="en-US" sz="900">
                <a:solidFill>
                  <a:srgbClr val="68758A"/>
                </a:solidFill>
                <a:latin typeface="Aptos"/>
              </a:rPr>
              <a:t>AarogyaTwin-X  |  synthetic research prototype  |  1</a:t>
            </a:r>
            <a:endParaRPr lang="en-US" sz="9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accent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59B9A"/>
          </a:solidFill>
          <a:ln>
            <a:noFill/>
          </a:ln>
        </p:spPr>
      </p:sp>
      <p:sp>
        <p:nvSpPr>
          <p:cNvPr id="4" name="title"/>
          <p:cNvSpPr/>
          <p:nvPr/>
        </p:nvSpPr>
        <p:spPr>
          <a:xfrm>
            <a:off x="594360" y="438912"/>
            <a:ext cx="10972800" cy="64008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lvl="0">
              <a:buNone/>
            </a:pPr>
            <a:r>
              <a:rPr lang="en-US" sz="2800" b="1">
                <a:solidFill>
                  <a:srgbClr val="14253D"/>
                </a:solidFill>
                <a:latin typeface="Aptos"/>
              </a:rPr>
              <a:t>The question</a:t>
            </a:r>
            <a:endParaRPr lang="en-US" sz="2800"/>
          </a:p>
        </p:txBody>
      </p:sp>
      <p:sp>
        <p:nvSpPr>
          <p:cNvPr id="5" name="body"/>
          <p:cNvSpPr/>
          <p:nvPr/>
        </p:nvSpPr>
        <p:spPr>
          <a:xfrm>
            <a:off x="749808" y="1261872"/>
            <a:ext cx="10698480" cy="480060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lvl="0">
              <a:buChar char="•"/>
            </a:pPr>
            <a:r>
              <a:rPr lang="en-US" sz="1700">
                <a:solidFill>
                  <a:srgbClr val="26364D"/>
                </a:solidFill>
                <a:latin typeface="Aptos"/>
              </a:rPr>
              <a:t>Can a forecast be useful without hiding its limitations?</a:t>
            </a:r>
            <a:endParaRPr lang="en-US" sz="1700"/>
          </a:p>
          <a:p>
            <a:pPr lvl="0">
              <a:buChar char="•"/>
            </a:pPr>
            <a:r>
              <a:rPr lang="en-US" sz="1700">
                <a:solidFill>
                  <a:srgbClr val="26364D"/>
                </a:solidFill>
                <a:latin typeface="Aptos"/>
              </a:rPr>
              <a:t>Users need data freshness, uncertainty, and provenance</a:t>
            </a:r>
            <a:endParaRPr lang="en-US" sz="1700"/>
          </a:p>
          <a:p>
            <a:pPr lvl="0">
              <a:buChar char="•"/>
            </a:pPr>
            <a:r>
              <a:rPr lang="en-US" sz="1700">
                <a:solidFill>
                  <a:srgbClr val="26364D"/>
                </a:solidFill>
                <a:latin typeface="Aptos"/>
              </a:rPr>
              <a:t>Missing data should trigger abstention, not invented certainty</a:t>
            </a:r>
            <a:endParaRPr lang="en-US" sz="1700"/>
          </a:p>
        </p:txBody>
      </p:sp>
      <p:sp>
        <p:nvSpPr>
          <p:cNvPr id="6" name="footer"/>
          <p:cNvSpPr/>
          <p:nvPr/>
        </p:nvSpPr>
        <p:spPr>
          <a:xfrm>
            <a:off x="594360" y="6510528"/>
            <a:ext cx="10972800" cy="18288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lvl="0">
              <a:buNone/>
            </a:pPr>
            <a:r>
              <a:rPr lang="en-US" sz="900">
                <a:solidFill>
                  <a:srgbClr val="68758A"/>
                </a:solidFill>
                <a:latin typeface="Aptos"/>
              </a:rPr>
              <a:t>AarogyaTwin-X  |  synthetic research prototype  |  2</a:t>
            </a:r>
            <a:endParaRPr lang="en-US" sz="9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accent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59B9A"/>
          </a:solidFill>
          <a:ln>
            <a:noFill/>
          </a:ln>
        </p:spPr>
      </p:sp>
      <p:sp>
        <p:nvSpPr>
          <p:cNvPr id="4" name="title"/>
          <p:cNvSpPr/>
          <p:nvPr/>
        </p:nvSpPr>
        <p:spPr>
          <a:xfrm>
            <a:off x="594360" y="438912"/>
            <a:ext cx="10972800" cy="64008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lvl="0">
              <a:buNone/>
            </a:pPr>
            <a:r>
              <a:rPr lang="en-US" sz="2800" b="1">
                <a:solidFill>
                  <a:srgbClr val="14253D"/>
                </a:solidFill>
                <a:latin typeface="Aptos"/>
              </a:rPr>
              <a:t>The experience</a:t>
            </a:r>
            <a:endParaRPr lang="en-US" sz="2800"/>
          </a:p>
        </p:txBody>
      </p:sp>
      <p:sp>
        <p:nvSpPr>
          <p:cNvPr id="5" name="body"/>
          <p:cNvSpPr/>
          <p:nvPr/>
        </p:nvSpPr>
        <p:spPr>
          <a:xfrm>
            <a:off x="749808" y="1261872"/>
            <a:ext cx="10698480" cy="480060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lvl="0">
              <a:buChar char="•"/>
            </a:pPr>
            <a:r>
              <a:rPr lang="en-US" sz="1700">
                <a:solidFill>
                  <a:srgbClr val="26364D"/>
                </a:solidFill>
                <a:latin typeface="Aptos"/>
              </a:rPr>
              <a:t>Select a held-out synthetic patient</a:t>
            </a:r>
            <a:endParaRPr lang="en-US" sz="1700"/>
          </a:p>
          <a:p>
            <a:pPr lvl="0">
              <a:buChar char="•"/>
            </a:pPr>
            <a:r>
              <a:rPr lang="en-US" sz="1700">
                <a:solidFill>
                  <a:srgbClr val="26364D"/>
                </a:solidFill>
                <a:latin typeface="Aptos"/>
              </a:rPr>
              <a:t>Replay the timeline in five-minute steps</a:t>
            </a:r>
            <a:endParaRPr lang="en-US" sz="1700"/>
          </a:p>
          <a:p>
            <a:pPr lvl="0">
              <a:buChar char="•"/>
            </a:pPr>
            <a:r>
              <a:rPr lang="en-US" sz="1700">
                <a:solidFill>
                  <a:srgbClr val="26364D"/>
                </a:solidFill>
                <a:latin typeface="Aptos"/>
              </a:rPr>
              <a:t>Inspect context, forecast heads, intervals, event risk, and evidence</a:t>
            </a:r>
            <a:endParaRPr lang="en-US" sz="1700"/>
          </a:p>
        </p:txBody>
      </p:sp>
      <p:sp>
        <p:nvSpPr>
          <p:cNvPr id="6" name="footer"/>
          <p:cNvSpPr/>
          <p:nvPr/>
        </p:nvSpPr>
        <p:spPr>
          <a:xfrm>
            <a:off x="594360" y="6510528"/>
            <a:ext cx="10972800" cy="18288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lvl="0">
              <a:buNone/>
            </a:pPr>
            <a:r>
              <a:rPr lang="en-US" sz="900">
                <a:solidFill>
                  <a:srgbClr val="68758A"/>
                </a:solidFill>
                <a:latin typeface="Aptos"/>
              </a:rPr>
              <a:t>AarogyaTwin-X  |  synthetic research prototype  |  3</a:t>
            </a:r>
            <a:endParaRPr lang="en-US" sz="9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accent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59B9A"/>
          </a:solidFill>
          <a:ln>
            <a:noFill/>
          </a:ln>
        </p:spPr>
      </p:sp>
      <p:sp>
        <p:nvSpPr>
          <p:cNvPr id="4" name="title"/>
          <p:cNvSpPr/>
          <p:nvPr/>
        </p:nvSpPr>
        <p:spPr>
          <a:xfrm>
            <a:off x="594360" y="438912"/>
            <a:ext cx="10972800" cy="64008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lvl="0">
              <a:buNone/>
            </a:pPr>
            <a:r>
              <a:rPr lang="en-US" sz="2800" b="1">
                <a:solidFill>
                  <a:srgbClr val="14253D"/>
                </a:solidFill>
                <a:latin typeface="Aptos"/>
              </a:rPr>
              <a:t>Synthetic data only</a:t>
            </a:r>
            <a:endParaRPr lang="en-US" sz="2800"/>
          </a:p>
        </p:txBody>
      </p:sp>
      <p:sp>
        <p:nvSpPr>
          <p:cNvPr id="5" name="body"/>
          <p:cNvSpPr/>
          <p:nvPr/>
        </p:nvSpPr>
        <p:spPr>
          <a:xfrm>
            <a:off x="749808" y="1261872"/>
            <a:ext cx="10698480" cy="480060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lvl="0">
              <a:buChar char="•"/>
            </a:pPr>
            <a:r>
              <a:rPr lang="en-US" sz="1700">
                <a:solidFill>
                  <a:srgbClr val="26364D"/>
                </a:solidFill>
                <a:latin typeface="Aptos"/>
              </a:rPr>
              <a:t>60 artificial patients x 5 days x 5-minute observations</a:t>
            </a:r>
            <a:endParaRPr lang="en-US" sz="1700"/>
          </a:p>
          <a:p>
            <a:pPr lvl="0">
              <a:buChar char="•"/>
            </a:pPr>
            <a:r>
              <a:rPr lang="en-US" sz="1700">
                <a:solidFill>
                  <a:srgbClr val="26364D"/>
                </a:solidFill>
                <a:latin typeface="Aptos"/>
              </a:rPr>
              <a:t>Static records plus CGM, heart rate, HRV, sleep, activity, and meals</a:t>
            </a:r>
            <a:endParaRPr lang="en-US" sz="1700"/>
          </a:p>
          <a:p>
            <a:pPr lvl="0">
              <a:buChar char="•"/>
            </a:pPr>
            <a:r>
              <a:rPr lang="en-US" sz="1700">
                <a:solidFill>
                  <a:srgbClr val="26364D"/>
                </a:solidFill>
                <a:latin typeface="Aptos"/>
              </a:rPr>
              <a:t>Seeded variability, rhythms, noise, and missingness</a:t>
            </a:r>
            <a:endParaRPr lang="en-US" sz="1700"/>
          </a:p>
          <a:p>
            <a:pPr lvl="0">
              <a:buChar char="•"/>
            </a:pPr>
            <a:r>
              <a:rPr lang="en-US" sz="1700">
                <a:solidFill>
                  <a:srgbClr val="26364D"/>
                </a:solidFill>
                <a:latin typeface="Aptos"/>
              </a:rPr>
              <a:t>No real patient data</a:t>
            </a:r>
            <a:endParaRPr lang="en-US" sz="1700"/>
          </a:p>
        </p:txBody>
      </p:sp>
      <p:sp>
        <p:nvSpPr>
          <p:cNvPr id="6" name="footer"/>
          <p:cNvSpPr/>
          <p:nvPr/>
        </p:nvSpPr>
        <p:spPr>
          <a:xfrm>
            <a:off x="594360" y="6510528"/>
            <a:ext cx="10972800" cy="18288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lvl="0">
              <a:buNone/>
            </a:pPr>
            <a:r>
              <a:rPr lang="en-US" sz="900">
                <a:solidFill>
                  <a:srgbClr val="68758A"/>
                </a:solidFill>
                <a:latin typeface="Aptos"/>
              </a:rPr>
              <a:t>AarogyaTwin-X  |  synthetic research prototype  |  4</a:t>
            </a:r>
            <a:endParaRPr lang="en-US" sz="9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accent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59B9A"/>
          </a:solidFill>
          <a:ln>
            <a:noFill/>
          </a:ln>
        </p:spPr>
      </p:sp>
      <p:sp>
        <p:nvSpPr>
          <p:cNvPr id="4" name="title"/>
          <p:cNvSpPr/>
          <p:nvPr/>
        </p:nvSpPr>
        <p:spPr>
          <a:xfrm>
            <a:off x="594360" y="438912"/>
            <a:ext cx="10972800" cy="64008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lvl="0">
              <a:buNone/>
            </a:pPr>
            <a:r>
              <a:rPr lang="en-US" sz="2800" b="1">
                <a:solidFill>
                  <a:srgbClr val="14253D"/>
                </a:solidFill>
                <a:latin typeface="Aptos"/>
              </a:rPr>
              <a:t>Leakage-aware evaluation</a:t>
            </a:r>
            <a:endParaRPr lang="en-US" sz="2800"/>
          </a:p>
        </p:txBody>
      </p:sp>
      <p:sp>
        <p:nvSpPr>
          <p:cNvPr id="5" name="body"/>
          <p:cNvSpPr/>
          <p:nvPr/>
        </p:nvSpPr>
        <p:spPr>
          <a:xfrm>
            <a:off x="749808" y="1261872"/>
            <a:ext cx="10698480" cy="480060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lvl="0">
              <a:buChar char="•"/>
            </a:pPr>
            <a:r>
              <a:rPr lang="en-US" sz="1700">
                <a:solidFill>
                  <a:srgbClr val="26364D"/>
                </a:solidFill>
                <a:latin typeface="Aptos"/>
              </a:rPr>
              <a:t>36 training patients</a:t>
            </a:r>
            <a:endParaRPr lang="en-US" sz="1700"/>
          </a:p>
          <a:p>
            <a:pPr lvl="0">
              <a:buChar char="•"/>
            </a:pPr>
            <a:r>
              <a:rPr lang="en-US" sz="1700">
                <a:solidFill>
                  <a:srgbClr val="26364D"/>
                </a:solidFill>
                <a:latin typeface="Aptos"/>
              </a:rPr>
              <a:t>6 calibration-tuning patients</a:t>
            </a:r>
            <a:endParaRPr lang="en-US" sz="1700"/>
          </a:p>
          <a:p>
            <a:pPr lvl="0">
              <a:buChar char="•"/>
            </a:pPr>
            <a:r>
              <a:rPr lang="en-US" sz="1700">
                <a:solidFill>
                  <a:srgbClr val="26364D"/>
                </a:solidFill>
                <a:latin typeface="Aptos"/>
              </a:rPr>
              <a:t>6 calibration-interval patients</a:t>
            </a:r>
            <a:endParaRPr lang="en-US" sz="1700"/>
          </a:p>
          <a:p>
            <a:pPr lvl="0">
              <a:buChar char="•"/>
            </a:pPr>
            <a:r>
              <a:rPr lang="en-US" sz="1700">
                <a:solidFill>
                  <a:srgbClr val="26364D"/>
                </a:solidFill>
                <a:latin typeface="Aptos"/>
              </a:rPr>
              <a:t>12 held-out test patients</a:t>
            </a:r>
            <a:endParaRPr lang="en-US" sz="1700"/>
          </a:p>
          <a:p>
            <a:pPr lvl="0">
              <a:buChar char="•"/>
            </a:pPr>
            <a:r>
              <a:rPr lang="en-US" sz="1700">
                <a:solidFill>
                  <a:srgbClr val="26364D"/>
                </a:solidFill>
                <a:latin typeface="Aptos"/>
              </a:rPr>
              <a:t>Past-only features at every replay anchor</a:t>
            </a:r>
            <a:endParaRPr lang="en-US" sz="1700"/>
          </a:p>
        </p:txBody>
      </p:sp>
      <p:sp>
        <p:nvSpPr>
          <p:cNvPr id="6" name="footer"/>
          <p:cNvSpPr/>
          <p:nvPr/>
        </p:nvSpPr>
        <p:spPr>
          <a:xfrm>
            <a:off x="594360" y="6510528"/>
            <a:ext cx="10972800" cy="18288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lvl="0">
              <a:buNone/>
            </a:pPr>
            <a:r>
              <a:rPr lang="en-US" sz="900">
                <a:solidFill>
                  <a:srgbClr val="68758A"/>
                </a:solidFill>
                <a:latin typeface="Aptos"/>
              </a:rPr>
              <a:t>AarogyaTwin-X  |  synthetic research prototype  |  5</a:t>
            </a:r>
            <a:endParaRPr lang="en-US" sz="9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accent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59B9A"/>
          </a:solidFill>
          <a:ln>
            <a:noFill/>
          </a:ln>
        </p:spPr>
      </p:sp>
      <p:sp>
        <p:nvSpPr>
          <p:cNvPr id="4" name="title"/>
          <p:cNvSpPr/>
          <p:nvPr/>
        </p:nvSpPr>
        <p:spPr>
          <a:xfrm>
            <a:off x="594360" y="438912"/>
            <a:ext cx="10972800" cy="64008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lvl="0">
              <a:buNone/>
            </a:pPr>
            <a:r>
              <a:rPr lang="en-US" sz="2800" b="1">
                <a:solidFill>
                  <a:srgbClr val="14253D"/>
                </a:solidFill>
                <a:latin typeface="Aptos"/>
              </a:rPr>
              <a:t>Model architecture</a:t>
            </a:r>
            <a:endParaRPr lang="en-US" sz="2800"/>
          </a:p>
        </p:txBody>
      </p:sp>
      <p:sp>
        <p:nvSpPr>
          <p:cNvPr id="5" name="body"/>
          <p:cNvSpPr/>
          <p:nvPr/>
        </p:nvSpPr>
        <p:spPr>
          <a:xfrm>
            <a:off x="749808" y="1261872"/>
            <a:ext cx="10698480" cy="480060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lvl="0">
              <a:buChar char="•"/>
            </a:pPr>
            <a:r>
              <a:rPr lang="en-US" sz="1700">
                <a:solidFill>
                  <a:srgbClr val="26364D"/>
                </a:solidFill>
                <a:latin typeface="Aptos"/>
              </a:rPr>
              <a:t>Small CPU temporal lag gradient-boosting heads</a:t>
            </a:r>
            <a:endParaRPr lang="en-US" sz="1700"/>
          </a:p>
          <a:p>
            <a:pPr lvl="0">
              <a:buChar char="•"/>
            </a:pPr>
            <a:r>
              <a:rPr lang="en-US" sz="1700">
                <a:solidFill>
                  <a:srgbClr val="26364D"/>
                </a:solidFill>
                <a:latin typeface="Aptos"/>
              </a:rPr>
              <a:t>Calibrated fusion logistic event classifier</a:t>
            </a:r>
            <a:endParaRPr lang="en-US" sz="1700"/>
          </a:p>
          <a:p>
            <a:pPr lvl="0">
              <a:buChar char="•"/>
            </a:pPr>
            <a:r>
              <a:rPr lang="en-US" sz="1700">
                <a:solidFill>
                  <a:srgbClr val="26364D"/>
                </a:solidFill>
                <a:latin typeface="Aptos"/>
              </a:rPr>
              <a:t>Train-only preprocessing and missingness indicators</a:t>
            </a:r>
            <a:endParaRPr lang="en-US" sz="1700"/>
          </a:p>
          <a:p>
            <a:pPr lvl="0">
              <a:buChar char="•"/>
            </a:pPr>
            <a:r>
              <a:rPr lang="en-US" sz="1700">
                <a:solidFill>
                  <a:srgbClr val="26364D"/>
                </a:solidFill>
                <a:latin typeface="Aptos"/>
              </a:rPr>
              <a:t>Conformal intervals and explicit ablations</a:t>
            </a:r>
            <a:endParaRPr lang="en-US" sz="1700"/>
          </a:p>
        </p:txBody>
      </p:sp>
      <p:sp>
        <p:nvSpPr>
          <p:cNvPr id="6" name="footer"/>
          <p:cNvSpPr/>
          <p:nvPr/>
        </p:nvSpPr>
        <p:spPr>
          <a:xfrm>
            <a:off x="594360" y="6510528"/>
            <a:ext cx="10972800" cy="18288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lvl="0">
              <a:buNone/>
            </a:pPr>
            <a:r>
              <a:rPr lang="en-US" sz="900">
                <a:solidFill>
                  <a:srgbClr val="68758A"/>
                </a:solidFill>
                <a:latin typeface="Aptos"/>
              </a:rPr>
              <a:t>AarogyaTwin-X  |  synthetic research prototype  |  6</a:t>
            </a:r>
            <a:endParaRPr lang="en-US" sz="9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accent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59B9A"/>
          </a:solidFill>
          <a:ln>
            <a:noFill/>
          </a:ln>
        </p:spPr>
      </p:sp>
      <p:sp>
        <p:nvSpPr>
          <p:cNvPr id="4" name="title"/>
          <p:cNvSpPr/>
          <p:nvPr/>
        </p:nvSpPr>
        <p:spPr>
          <a:xfrm>
            <a:off x="594360" y="438912"/>
            <a:ext cx="10972800" cy="64008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lvl="0">
              <a:buNone/>
            </a:pPr>
            <a:r>
              <a:rPr lang="en-US" sz="2800" b="1">
                <a:solidFill>
                  <a:srgbClr val="14253D"/>
                </a:solidFill>
                <a:latin typeface="Aptos"/>
              </a:rPr>
              <a:t>Personalization</a:t>
            </a:r>
            <a:endParaRPr lang="en-US" sz="2800"/>
          </a:p>
        </p:txBody>
      </p:sp>
      <p:sp>
        <p:nvSpPr>
          <p:cNvPr id="5" name="body"/>
          <p:cNvSpPr/>
          <p:nvPr/>
        </p:nvSpPr>
        <p:spPr>
          <a:xfrm>
            <a:off x="749808" y="1261872"/>
            <a:ext cx="10698480" cy="480060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lvl="0">
              <a:buChar char="•"/>
            </a:pPr>
            <a:r>
              <a:rPr lang="en-US" sz="1700">
                <a:solidFill>
                  <a:srgbClr val="26364D"/>
                </a:solidFill>
                <a:latin typeface="Aptos"/>
              </a:rPr>
              <a:t>Make a forecast at time T</a:t>
            </a:r>
            <a:endParaRPr lang="en-US" sz="1700"/>
          </a:p>
          <a:p>
            <a:pPr lvl="0">
              <a:buChar char="•"/>
            </a:pPr>
            <a:r>
              <a:rPr lang="en-US" sz="1700">
                <a:solidFill>
                  <a:srgbClr val="26364D"/>
                </a:solidFill>
                <a:latin typeface="Aptos"/>
              </a:rPr>
              <a:t>Wait for the target timestamp</a:t>
            </a:r>
            <a:endParaRPr lang="en-US" sz="1700"/>
          </a:p>
          <a:p>
            <a:pPr lvl="0">
              <a:buChar char="•"/>
            </a:pPr>
            <a:r>
              <a:rPr lang="en-US" sz="1700">
                <a:solidFill>
                  <a:srgbClr val="26364D"/>
                </a:solidFill>
                <a:latin typeface="Aptos"/>
              </a:rPr>
              <a:t>Use a bounded history of matured errors for later forecasts</a:t>
            </a:r>
            <a:endParaRPr lang="en-US" sz="1700"/>
          </a:p>
          <a:p>
            <a:pPr lvl="0">
              <a:buChar char="•"/>
            </a:pPr>
            <a:r>
              <a:rPr lang="en-US" sz="1700">
                <a:solidFill>
                  <a:srgbClr val="26364D"/>
                </a:solidFill>
                <a:latin typeface="Aptos"/>
              </a:rPr>
              <a:t>Never use the current forecast's future target</a:t>
            </a:r>
            <a:endParaRPr lang="en-US" sz="1700"/>
          </a:p>
          <a:p>
            <a:pPr lvl="0">
              <a:buChar char="•"/>
            </a:pPr>
            <a:r>
              <a:rPr lang="en-US" sz="1700">
                <a:solidFill>
                  <a:srgbClr val="26364D"/>
                </a:solidFill>
                <a:latin typeface="Aptos"/>
              </a:rPr>
              <a:t>Adaptive residual, not clinical physiology</a:t>
            </a:r>
            <a:endParaRPr lang="en-US" sz="1700"/>
          </a:p>
        </p:txBody>
      </p:sp>
      <p:sp>
        <p:nvSpPr>
          <p:cNvPr id="6" name="footer"/>
          <p:cNvSpPr/>
          <p:nvPr/>
        </p:nvSpPr>
        <p:spPr>
          <a:xfrm>
            <a:off x="594360" y="6510528"/>
            <a:ext cx="10972800" cy="18288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lvl="0">
              <a:buNone/>
            </a:pPr>
            <a:r>
              <a:rPr lang="en-US" sz="900">
                <a:solidFill>
                  <a:srgbClr val="68758A"/>
                </a:solidFill>
                <a:latin typeface="Aptos"/>
              </a:rPr>
              <a:t>AarogyaTwin-X  |  synthetic research prototype  |  7</a:t>
            </a:r>
            <a:endParaRPr lang="en-US" sz="9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accent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59B9A"/>
          </a:solidFill>
          <a:ln>
            <a:noFill/>
          </a:ln>
        </p:spPr>
      </p:sp>
      <p:sp>
        <p:nvSpPr>
          <p:cNvPr id="4" name="title"/>
          <p:cNvSpPr/>
          <p:nvPr/>
        </p:nvSpPr>
        <p:spPr>
          <a:xfrm>
            <a:off x="594360" y="438912"/>
            <a:ext cx="10972800" cy="64008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lvl="0">
              <a:buNone/>
            </a:pPr>
            <a:r>
              <a:rPr lang="en-US" sz="2800" b="1">
                <a:solidFill>
                  <a:srgbClr val="14253D"/>
                </a:solidFill>
                <a:latin typeface="Aptos"/>
              </a:rPr>
              <a:t>Held-out forecast results</a:t>
            </a:r>
            <a:endParaRPr lang="en-US" sz="2800"/>
          </a:p>
        </p:txBody>
      </p:sp>
      <p:sp>
        <p:nvSpPr>
          <p:cNvPr id="5" name="body"/>
          <p:cNvSpPr/>
          <p:nvPr/>
        </p:nvSpPr>
        <p:spPr>
          <a:xfrm>
            <a:off x="749808" y="1261872"/>
            <a:ext cx="10698480" cy="480060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lvl="0">
              <a:buChar char="•"/>
            </a:pPr>
            <a:r>
              <a:rPr lang="en-US" sz="1700">
                <a:solidFill>
                  <a:srgbClr val="26364D"/>
                </a:solidFill>
                <a:latin typeface="Aptos"/>
              </a:rPr>
              <a:t>30 min: MAE 7.21 | RMSE 9.76 | coverage 89.95%</a:t>
            </a:r>
            <a:endParaRPr lang="en-US" sz="1700"/>
          </a:p>
          <a:p>
            <a:pPr lvl="0">
              <a:buChar char="•"/>
            </a:pPr>
            <a:r>
              <a:rPr lang="en-US" sz="1700">
                <a:solidFill>
                  <a:srgbClr val="26364D"/>
                </a:solidFill>
                <a:latin typeface="Aptos"/>
              </a:rPr>
              <a:t>60 min: MAE 7.85 | RMSE 10.42 | coverage 89.36%</a:t>
            </a:r>
            <a:endParaRPr lang="en-US" sz="1700"/>
          </a:p>
          <a:p>
            <a:pPr lvl="0">
              <a:buChar char="•"/>
            </a:pPr>
            <a:r>
              <a:rPr lang="en-US" sz="1700">
                <a:solidFill>
                  <a:srgbClr val="26364D"/>
                </a:solidFill>
                <a:latin typeface="Aptos"/>
              </a:rPr>
              <a:t>120 min: MAE 8.38 | RMSE 11.00 | coverage 90.00%</a:t>
            </a:r>
            <a:endParaRPr lang="en-US" sz="1700"/>
          </a:p>
          <a:p>
            <a:pPr lvl="0">
              <a:buChar char="•"/>
            </a:pPr>
            <a:r>
              <a:rPr lang="en-US" sz="1700">
                <a:solidFill>
                  <a:srgbClr val="26364D"/>
                </a:solidFill>
                <a:latin typeface="Aptos"/>
              </a:rPr>
              <a:t>Intervals are calibrated named heads, not extra points</a:t>
            </a:r>
            <a:endParaRPr lang="en-US" sz="1700"/>
          </a:p>
        </p:txBody>
      </p:sp>
      <p:sp>
        <p:nvSpPr>
          <p:cNvPr id="6" name="footer"/>
          <p:cNvSpPr/>
          <p:nvPr/>
        </p:nvSpPr>
        <p:spPr>
          <a:xfrm>
            <a:off x="594360" y="6510528"/>
            <a:ext cx="10972800" cy="18288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lvl="0">
              <a:buNone/>
            </a:pPr>
            <a:r>
              <a:rPr lang="en-US" sz="900">
                <a:solidFill>
                  <a:srgbClr val="68758A"/>
                </a:solidFill>
                <a:latin typeface="Aptos"/>
              </a:rPr>
              <a:t>AarogyaTwin-X  |  synthetic research prototype  |  8</a:t>
            </a:r>
            <a:endParaRPr lang="en-US" sz="9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accent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59B9A"/>
          </a:solidFill>
          <a:ln>
            <a:noFill/>
          </a:ln>
        </p:spPr>
      </p:sp>
      <p:sp>
        <p:nvSpPr>
          <p:cNvPr id="4" name="title"/>
          <p:cNvSpPr/>
          <p:nvPr/>
        </p:nvSpPr>
        <p:spPr>
          <a:xfrm>
            <a:off x="594360" y="438912"/>
            <a:ext cx="10972800" cy="64008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lvl="0">
              <a:buNone/>
            </a:pPr>
            <a:r>
              <a:rPr lang="en-US" sz="2800" b="1">
                <a:solidFill>
                  <a:srgbClr val="14253D"/>
                </a:solidFill>
                <a:latin typeface="Aptos"/>
              </a:rPr>
              <a:t>Probability calibration</a:t>
            </a:r>
            <a:endParaRPr lang="en-US" sz="2800"/>
          </a:p>
        </p:txBody>
      </p:sp>
      <p:sp>
        <p:nvSpPr>
          <p:cNvPr id="5" name="body"/>
          <p:cNvSpPr/>
          <p:nvPr/>
        </p:nvSpPr>
        <p:spPr>
          <a:xfrm>
            <a:off x="749808" y="1261872"/>
            <a:ext cx="10698480" cy="480060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lvl="0">
              <a:buChar char="•"/>
            </a:pPr>
            <a:r>
              <a:rPr lang="en-US" sz="1700">
                <a:solidFill>
                  <a:srgbClr val="26364D"/>
                </a:solidFill>
                <a:latin typeface="Aptos"/>
              </a:rPr>
              <a:t>Fusion Brier: 0.05035 -&gt; 0.02437</a:t>
            </a:r>
            <a:endParaRPr lang="en-US" sz="1700"/>
          </a:p>
          <a:p>
            <a:pPr lvl="0">
              <a:buChar char="•"/>
            </a:pPr>
            <a:r>
              <a:rPr lang="en-US" sz="1700">
                <a:solidFill>
                  <a:srgbClr val="26364D"/>
                </a:solidFill>
                <a:latin typeface="Aptos"/>
              </a:rPr>
              <a:t>Fusion log loss: 0.18466 -&gt; 0.13559</a:t>
            </a:r>
            <a:endParaRPr lang="en-US" sz="1700"/>
          </a:p>
          <a:p>
            <a:pPr lvl="0">
              <a:buChar char="•"/>
            </a:pPr>
            <a:r>
              <a:rPr lang="en-US" sz="1700">
                <a:solidFill>
                  <a:srgbClr val="26364D"/>
                </a:solidFill>
                <a:latin typeface="Aptos"/>
              </a:rPr>
              <a:t>Expected calibration error: 0.05814 -&gt; 0.02387</a:t>
            </a:r>
            <a:endParaRPr lang="en-US" sz="1700"/>
          </a:p>
          <a:p>
            <a:pPr lvl="0">
              <a:buChar char="•"/>
            </a:pPr>
            <a:r>
              <a:rPr lang="en-US" sz="1700">
                <a:solidFill>
                  <a:srgbClr val="26364D"/>
                </a:solidFill>
                <a:latin typeface="Aptos"/>
              </a:rPr>
              <a:t>AUROC 0.94330 and AUPRC 0.27652 remained ranking measures</a:t>
            </a:r>
            <a:endParaRPr lang="en-US" sz="1700"/>
          </a:p>
        </p:txBody>
      </p:sp>
      <p:sp>
        <p:nvSpPr>
          <p:cNvPr id="6" name="footer"/>
          <p:cNvSpPr/>
          <p:nvPr/>
        </p:nvSpPr>
        <p:spPr>
          <a:xfrm>
            <a:off x="594360" y="6510528"/>
            <a:ext cx="10972800" cy="18288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lvl="0">
              <a:buNone/>
            </a:pPr>
            <a:r>
              <a:rPr lang="en-US" sz="900">
                <a:solidFill>
                  <a:srgbClr val="68758A"/>
                </a:solidFill>
                <a:latin typeface="Aptos"/>
              </a:rPr>
              <a:t>AarogyaTwin-X  |  synthetic research prototype  |  9</a:t>
            </a:r>
            <a:endParaRPr lang="en-US" sz="9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accent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59B9A"/>
          </a:solidFill>
          <a:ln>
            <a:noFill/>
          </a:ln>
        </p:spPr>
      </p:sp>
      <p:sp>
        <p:nvSpPr>
          <p:cNvPr id="4" name="title"/>
          <p:cNvSpPr/>
          <p:nvPr/>
        </p:nvSpPr>
        <p:spPr>
          <a:xfrm>
            <a:off x="594360" y="438912"/>
            <a:ext cx="10972800" cy="64008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lvl="0">
              <a:buNone/>
            </a:pPr>
            <a:r>
              <a:rPr lang="en-US" sz="2800" b="1">
                <a:solidFill>
                  <a:srgbClr val="14253D"/>
                </a:solidFill>
                <a:latin typeface="Aptos"/>
              </a:rPr>
              <a:t>Missing data</a:t>
            </a:r>
            <a:endParaRPr lang="en-US" sz="2800"/>
          </a:p>
        </p:txBody>
      </p:sp>
      <p:sp>
        <p:nvSpPr>
          <p:cNvPr id="5" name="body"/>
          <p:cNvSpPr/>
          <p:nvPr/>
        </p:nvSpPr>
        <p:spPr>
          <a:xfrm>
            <a:off x="749808" y="1261872"/>
            <a:ext cx="10698480" cy="480060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lvl="0">
              <a:buChar char="•"/>
            </a:pPr>
            <a:r>
              <a:rPr lang="en-US" sz="1700">
                <a:solidFill>
                  <a:srgbClr val="26364D"/>
                </a:solidFill>
                <a:latin typeface="Aptos"/>
              </a:rPr>
              <a:t>Natural missingness: about 0.3% abstention</a:t>
            </a:r>
            <a:endParaRPr lang="en-US" sz="1700"/>
          </a:p>
          <a:p>
            <a:pPr lvl="0">
              <a:buChar char="•"/>
            </a:pPr>
            <a:r>
              <a:rPr lang="en-US" sz="1700">
                <a:solidFill>
                  <a:srgbClr val="26364D"/>
                </a:solidFill>
                <a:latin typeface="Aptos"/>
              </a:rPr>
              <a:t>Recent stream gaps degrade measured forecasts</a:t>
            </a:r>
            <a:endParaRPr lang="en-US" sz="1700"/>
          </a:p>
          <a:p>
            <a:pPr lvl="0">
              <a:buChar char="•"/>
            </a:pPr>
            <a:r>
              <a:rPr lang="en-US" sz="1700">
                <a:solidFill>
                  <a:srgbClr val="26364D"/>
                </a:solidFill>
                <a:latin typeface="Aptos"/>
              </a:rPr>
              <a:t>Recent 30-minute CGM dropout: 100% abstention</a:t>
            </a:r>
            <a:endParaRPr lang="en-US" sz="1700"/>
          </a:p>
          <a:p>
            <a:pPr lvl="0">
              <a:buChar char="•"/>
            </a:pPr>
            <a:r>
              <a:rPr lang="en-US" sz="1700">
                <a:solidFill>
                  <a:srgbClr val="26364D"/>
                </a:solidFill>
                <a:latin typeface="Aptos"/>
              </a:rPr>
              <a:t>Unavailable estimates remain null</a:t>
            </a:r>
            <a:endParaRPr lang="en-US" sz="1700"/>
          </a:p>
        </p:txBody>
      </p:sp>
      <p:sp>
        <p:nvSpPr>
          <p:cNvPr id="6" name="footer"/>
          <p:cNvSpPr/>
          <p:nvPr/>
        </p:nvSpPr>
        <p:spPr>
          <a:xfrm>
            <a:off x="594360" y="6510528"/>
            <a:ext cx="10972800" cy="18288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lvl="0">
              <a:buNone/>
            </a:pPr>
            <a:r>
              <a:rPr lang="en-US" sz="900">
                <a:solidFill>
                  <a:srgbClr val="68758A"/>
                </a:solidFill>
                <a:latin typeface="Aptos"/>
              </a:rPr>
              <a:t>AarogyaTwin-X  |  synthetic research prototype  |  10</a:t>
            </a:r>
            <a:endParaRPr lang="en-US" sz="9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accent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59B9A"/>
          </a:solidFill>
          <a:ln>
            <a:noFill/>
          </a:ln>
        </p:spPr>
      </p:sp>
      <p:sp>
        <p:nvSpPr>
          <p:cNvPr id="4" name="title"/>
          <p:cNvSpPr/>
          <p:nvPr/>
        </p:nvSpPr>
        <p:spPr>
          <a:xfrm>
            <a:off x="594360" y="438912"/>
            <a:ext cx="10972800" cy="64008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lvl="0">
              <a:buNone/>
            </a:pPr>
            <a:r>
              <a:rPr lang="en-US" sz="2800" b="1">
                <a:solidFill>
                  <a:srgbClr val="14253D"/>
                </a:solidFill>
                <a:latin typeface="Aptos"/>
              </a:rPr>
              <a:t>Distribution shift</a:t>
            </a:r>
            <a:endParaRPr lang="en-US" sz="2800"/>
          </a:p>
        </p:txBody>
      </p:sp>
      <p:sp>
        <p:nvSpPr>
          <p:cNvPr id="5" name="body"/>
          <p:cNvSpPr/>
          <p:nvPr/>
        </p:nvSpPr>
        <p:spPr>
          <a:xfrm>
            <a:off x="749808" y="1261872"/>
            <a:ext cx="10698480" cy="480060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lvl="0">
              <a:buChar char="•"/>
            </a:pPr>
            <a:r>
              <a:rPr lang="en-US" sz="1700">
                <a:solidFill>
                  <a:srgbClr val="26364D"/>
                </a:solidFill>
                <a:latin typeface="Aptos"/>
              </a:rPr>
              <a:t>Nominal 120-minute coverage: 89.46%</a:t>
            </a:r>
            <a:endParaRPr lang="en-US" sz="1700"/>
          </a:p>
          <a:p>
            <a:pPr lvl="0">
              <a:buChar char="•"/>
            </a:pPr>
            <a:r>
              <a:rPr lang="en-US" sz="1700">
                <a:solidFill>
                  <a:srgbClr val="26364D"/>
                </a:solidFill>
                <a:latin typeface="Aptos"/>
              </a:rPr>
              <a:t>Glucose level +25 mg/dL: coverage 62.09%</a:t>
            </a:r>
            <a:endParaRPr lang="en-US" sz="1700"/>
          </a:p>
          <a:p>
            <a:pPr lvl="0">
              <a:buChar char="•"/>
            </a:pPr>
            <a:r>
              <a:rPr lang="en-US" sz="1700">
                <a:solidFill>
                  <a:srgbClr val="26364D"/>
                </a:solidFill>
                <a:latin typeface="Aptos"/>
              </a:rPr>
              <a:t>Meal inputs doubled: coverage 89.35%</a:t>
            </a:r>
            <a:endParaRPr lang="en-US" sz="1700"/>
          </a:p>
          <a:p>
            <a:pPr lvl="0">
              <a:buChar char="•"/>
            </a:pPr>
            <a:r>
              <a:rPr lang="en-US" sz="1700">
                <a:solidFill>
                  <a:srgbClr val="26364D"/>
                </a:solidFill>
                <a:latin typeface="Aptos"/>
              </a:rPr>
              <a:t>HbA1c +1.0: coverage 80.26%</a:t>
            </a:r>
            <a:endParaRPr lang="en-US" sz="1700"/>
          </a:p>
          <a:p>
            <a:pPr lvl="0">
              <a:buChar char="•"/>
            </a:pPr>
            <a:r>
              <a:rPr lang="en-US" sz="1700">
                <a:solidFill>
                  <a:srgbClr val="26364D"/>
                </a:solidFill>
                <a:latin typeface="Aptos"/>
              </a:rPr>
              <a:t>Stress tests show known failure modes</a:t>
            </a:r>
            <a:endParaRPr lang="en-US" sz="1700"/>
          </a:p>
        </p:txBody>
      </p:sp>
      <p:sp>
        <p:nvSpPr>
          <p:cNvPr id="6" name="footer"/>
          <p:cNvSpPr/>
          <p:nvPr/>
        </p:nvSpPr>
        <p:spPr>
          <a:xfrm>
            <a:off x="594360" y="6510528"/>
            <a:ext cx="10972800" cy="18288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lvl="0">
              <a:buNone/>
            </a:pPr>
            <a:r>
              <a:rPr lang="en-US" sz="900">
                <a:solidFill>
                  <a:srgbClr val="68758A"/>
                </a:solidFill>
                <a:latin typeface="Aptos"/>
              </a:rPr>
              <a:t>AarogyaTwin-X  |  synthetic research prototype  |  11</a:t>
            </a:r>
            <a:endParaRPr lang="en-US" sz="9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accent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59B9A"/>
          </a:solidFill>
          <a:ln>
            <a:noFill/>
          </a:ln>
        </p:spPr>
      </p:sp>
      <p:sp>
        <p:nvSpPr>
          <p:cNvPr id="4" name="title"/>
          <p:cNvSpPr/>
          <p:nvPr/>
        </p:nvSpPr>
        <p:spPr>
          <a:xfrm>
            <a:off x="594360" y="438912"/>
            <a:ext cx="10972800" cy="64008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lvl="0">
              <a:buNone/>
            </a:pPr>
            <a:r>
              <a:rPr lang="en-US" sz="2800" b="1">
                <a:solidFill>
                  <a:srgbClr val="14253D"/>
                </a:solidFill>
                <a:latin typeface="Aptos"/>
              </a:rPr>
              <a:t>Alert behavior</a:t>
            </a:r>
            <a:endParaRPr lang="en-US" sz="2800"/>
          </a:p>
        </p:txBody>
      </p:sp>
      <p:sp>
        <p:nvSpPr>
          <p:cNvPr id="5" name="body"/>
          <p:cNvSpPr/>
          <p:nvPr/>
        </p:nvSpPr>
        <p:spPr>
          <a:xfrm>
            <a:off x="749808" y="1261872"/>
            <a:ext cx="10698480" cy="480060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lvl="0">
              <a:buChar char="•"/>
            </a:pPr>
            <a:r>
              <a:rPr lang="en-US" sz="1700">
                <a:solidFill>
                  <a:srgbClr val="26364D"/>
                </a:solidFill>
                <a:latin typeface="Aptos"/>
              </a:rPr>
              <a:t>22 synthetic episodes across 12 test patients</a:t>
            </a:r>
            <a:endParaRPr lang="en-US" sz="1700"/>
          </a:p>
          <a:p>
            <a:pPr lvl="0">
              <a:buChar char="•"/>
            </a:pPr>
            <a:r>
              <a:rPr lang="en-US" sz="1700">
                <a:solidFill>
                  <a:srgbClr val="26364D"/>
                </a:solidFill>
                <a:latin typeface="Aptos"/>
              </a:rPr>
              <a:t>At threshold 0.10: episode sensitivity 22.7%, median lead 70 min</a:t>
            </a:r>
            <a:endParaRPr lang="en-US" sz="1700"/>
          </a:p>
          <a:p>
            <a:pPr lvl="0">
              <a:buChar char="•"/>
            </a:pPr>
            <a:r>
              <a:rPr lang="en-US" sz="1700">
                <a:solidFill>
                  <a:srgbClr val="26364D"/>
                </a:solidFill>
                <a:latin typeface="Aptos"/>
              </a:rPr>
              <a:t>At threshold 0.20: episode sensitivity 18.2%, 0.133 false alerts/patient-day</a:t>
            </a:r>
            <a:endParaRPr lang="en-US" sz="1700"/>
          </a:p>
          <a:p>
            <a:pPr lvl="0">
              <a:buChar char="•"/>
            </a:pPr>
            <a:r>
              <a:rPr lang="en-US" sz="1700">
                <a:solidFill>
                  <a:srgbClr val="26364D"/>
                </a:solidFill>
                <a:latin typeface="Aptos"/>
              </a:rPr>
              <a:t>Synthetic alert metrics are not clinical performance</a:t>
            </a:r>
            <a:endParaRPr lang="en-US" sz="1700"/>
          </a:p>
        </p:txBody>
      </p:sp>
      <p:sp>
        <p:nvSpPr>
          <p:cNvPr id="6" name="footer"/>
          <p:cNvSpPr/>
          <p:nvPr/>
        </p:nvSpPr>
        <p:spPr>
          <a:xfrm>
            <a:off x="594360" y="6510528"/>
            <a:ext cx="10972800" cy="18288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lvl="0">
              <a:buNone/>
            </a:pPr>
            <a:r>
              <a:rPr lang="en-US" sz="900">
                <a:solidFill>
                  <a:srgbClr val="68758A"/>
                </a:solidFill>
                <a:latin typeface="Aptos"/>
              </a:rPr>
              <a:t>AarogyaTwin-X  |  synthetic research prototype  |  12</a:t>
            </a:r>
            <a:endParaRPr lang="en-US" sz="9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accent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59B9A"/>
          </a:solidFill>
          <a:ln>
            <a:noFill/>
          </a:ln>
        </p:spPr>
      </p:sp>
      <p:sp>
        <p:nvSpPr>
          <p:cNvPr id="4" name="title"/>
          <p:cNvSpPr/>
          <p:nvPr/>
        </p:nvSpPr>
        <p:spPr>
          <a:xfrm>
            <a:off x="594360" y="438912"/>
            <a:ext cx="10972800" cy="64008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lvl="0">
              <a:buNone/>
            </a:pPr>
            <a:r>
              <a:rPr lang="en-US" sz="2800" b="1">
                <a:solidFill>
                  <a:srgbClr val="14253D"/>
                </a:solidFill>
                <a:latin typeface="Aptos"/>
              </a:rPr>
              <a:t>Live demo</a:t>
            </a:r>
            <a:endParaRPr lang="en-US" sz="2800"/>
          </a:p>
        </p:txBody>
      </p:sp>
      <p:sp>
        <p:nvSpPr>
          <p:cNvPr id="5" name="body"/>
          <p:cNvSpPr/>
          <p:nvPr/>
        </p:nvSpPr>
        <p:spPr>
          <a:xfrm>
            <a:off x="749808" y="1261872"/>
            <a:ext cx="10698480" cy="480060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lvl="0">
              <a:buChar char="•"/>
            </a:pPr>
            <a:r>
              <a:rPr lang="en-US" sz="1700">
                <a:solidFill>
                  <a:srgbClr val="26364D"/>
                </a:solidFill>
                <a:latin typeface="Aptos"/>
              </a:rPr>
              <a:t>Show synthetic/non-clinical warning</a:t>
            </a:r>
            <a:endParaRPr lang="en-US" sz="1700"/>
          </a:p>
          <a:p>
            <a:pPr lvl="0">
              <a:buChar char="•"/>
            </a:pPr>
            <a:r>
              <a:rPr lang="en-US" sz="1700">
                <a:solidFill>
                  <a:srgbClr val="26364D"/>
                </a:solidFill>
                <a:latin typeface="Aptos"/>
              </a:rPr>
              <a:t>Select held-out record and replay +5 minutes</a:t>
            </a:r>
            <a:endParaRPr lang="en-US" sz="1700"/>
          </a:p>
          <a:p>
            <a:pPr lvl="0">
              <a:buChar char="•"/>
            </a:pPr>
            <a:r>
              <a:rPr lang="en-US" sz="1700">
                <a:solidFill>
                  <a:srgbClr val="26364D"/>
                </a:solidFill>
                <a:latin typeface="Aptos"/>
              </a:rPr>
              <a:t>Inspect heads and intervals</a:t>
            </a:r>
            <a:endParaRPr lang="en-US" sz="1700"/>
          </a:p>
          <a:p>
            <a:pPr lvl="0">
              <a:buChar char="•"/>
            </a:pPr>
            <a:r>
              <a:rPr lang="en-US" sz="1700">
                <a:solidFill>
                  <a:srgbClr val="26364D"/>
                </a:solidFill>
                <a:latin typeface="Aptos"/>
              </a:rPr>
              <a:t>Enable dropout and show abstention</a:t>
            </a:r>
            <a:endParaRPr lang="en-US" sz="1700"/>
          </a:p>
          <a:p>
            <a:pPr lvl="0">
              <a:buChar char="•"/>
            </a:pPr>
            <a:r>
              <a:rPr lang="en-US" sz="1700">
                <a:solidFill>
                  <a:srgbClr val="26364D"/>
                </a:solidFill>
                <a:latin typeface="Aptos"/>
              </a:rPr>
              <a:t>Review scenario disclaimer and measured evidence</a:t>
            </a:r>
            <a:endParaRPr lang="en-US" sz="1700"/>
          </a:p>
        </p:txBody>
      </p:sp>
      <p:sp>
        <p:nvSpPr>
          <p:cNvPr id="6" name="footer"/>
          <p:cNvSpPr/>
          <p:nvPr/>
        </p:nvSpPr>
        <p:spPr>
          <a:xfrm>
            <a:off x="594360" y="6510528"/>
            <a:ext cx="10972800" cy="18288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lvl="0">
              <a:buNone/>
            </a:pPr>
            <a:r>
              <a:rPr lang="en-US" sz="900">
                <a:solidFill>
                  <a:srgbClr val="68758A"/>
                </a:solidFill>
                <a:latin typeface="Aptos"/>
              </a:rPr>
              <a:t>AarogyaTwin-X  |  synthetic research prototype  |  13</a:t>
            </a:r>
            <a:endParaRPr lang="en-US" sz="9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accent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59B9A"/>
          </a:solidFill>
          <a:ln>
            <a:noFill/>
          </a:ln>
        </p:spPr>
      </p:sp>
      <p:sp>
        <p:nvSpPr>
          <p:cNvPr id="4" name="title"/>
          <p:cNvSpPr/>
          <p:nvPr/>
        </p:nvSpPr>
        <p:spPr>
          <a:xfrm>
            <a:off x="594360" y="438912"/>
            <a:ext cx="10972800" cy="64008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lvl="0">
              <a:buNone/>
            </a:pPr>
            <a:r>
              <a:rPr lang="en-US" sz="2800" b="1">
                <a:solidFill>
                  <a:srgbClr val="14253D"/>
                </a:solidFill>
                <a:latin typeface="Aptos"/>
              </a:rPr>
              <a:t>Safety and transparency</a:t>
            </a:r>
            <a:endParaRPr lang="en-US" sz="2800"/>
          </a:p>
        </p:txBody>
      </p:sp>
      <p:sp>
        <p:nvSpPr>
          <p:cNvPr id="5" name="body"/>
          <p:cNvSpPr/>
          <p:nvPr/>
        </p:nvSpPr>
        <p:spPr>
          <a:xfrm>
            <a:off x="749808" y="1261872"/>
            <a:ext cx="10698480" cy="480060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lvl="0">
              <a:buChar char="•"/>
            </a:pPr>
            <a:r>
              <a:rPr lang="en-US" sz="1700">
                <a:solidFill>
                  <a:srgbClr val="26364D"/>
                </a:solidFill>
                <a:latin typeface="Aptos"/>
              </a:rPr>
              <a:t>No diagnosis, dosing, medication change, or treatment advice</a:t>
            </a:r>
            <a:endParaRPr lang="en-US" sz="1700"/>
          </a:p>
          <a:p>
            <a:pPr lvl="0">
              <a:buChar char="•"/>
            </a:pPr>
            <a:r>
              <a:rPr lang="en-US" sz="1700">
                <a:solidFill>
                  <a:srgbClr val="26364D"/>
                </a:solidFill>
                <a:latin typeface="Aptos"/>
              </a:rPr>
              <a:t>Drivers are observed context, not causal attribution</a:t>
            </a:r>
            <a:endParaRPr lang="en-US" sz="1700"/>
          </a:p>
          <a:p>
            <a:pPr lvl="0">
              <a:buChar char="•"/>
            </a:pPr>
            <a:r>
              <a:rPr lang="en-US" sz="1700">
                <a:solidFill>
                  <a:srgbClr val="26364D"/>
                </a:solidFill>
                <a:latin typeface="Aptos"/>
              </a:rPr>
              <a:t>Scenario controls are assumptions, not treatment effects</a:t>
            </a:r>
            <a:endParaRPr lang="en-US" sz="1700"/>
          </a:p>
          <a:p>
            <a:pPr lvl="0">
              <a:buChar char="•"/>
            </a:pPr>
            <a:r>
              <a:rPr lang="en-US" sz="1700">
                <a:solidFill>
                  <a:srgbClr val="26364D"/>
                </a:solidFill>
                <a:latin typeface="Aptos"/>
              </a:rPr>
              <a:t>Not-ready, loading, error, and unavailable states are explicit</a:t>
            </a:r>
            <a:endParaRPr lang="en-US" sz="1700"/>
          </a:p>
        </p:txBody>
      </p:sp>
      <p:sp>
        <p:nvSpPr>
          <p:cNvPr id="6" name="footer"/>
          <p:cNvSpPr/>
          <p:nvPr/>
        </p:nvSpPr>
        <p:spPr>
          <a:xfrm>
            <a:off x="594360" y="6510528"/>
            <a:ext cx="10972800" cy="18288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lvl="0">
              <a:buNone/>
            </a:pPr>
            <a:r>
              <a:rPr lang="en-US" sz="900">
                <a:solidFill>
                  <a:srgbClr val="68758A"/>
                </a:solidFill>
                <a:latin typeface="Aptos"/>
              </a:rPr>
              <a:t>AarogyaTwin-X  |  synthetic research prototype  |  14</a:t>
            </a:r>
            <a:endParaRPr lang="en-US" sz="9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accent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59B9A"/>
          </a:solidFill>
          <a:ln>
            <a:noFill/>
          </a:ln>
        </p:spPr>
      </p:sp>
      <p:sp>
        <p:nvSpPr>
          <p:cNvPr id="4" name="title"/>
          <p:cNvSpPr/>
          <p:nvPr/>
        </p:nvSpPr>
        <p:spPr>
          <a:xfrm>
            <a:off x="594360" y="438912"/>
            <a:ext cx="10972800" cy="64008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lvl="0">
              <a:buNone/>
            </a:pPr>
            <a:r>
              <a:rPr lang="en-US" sz="2800" b="1">
                <a:solidFill>
                  <a:srgbClr val="14253D"/>
                </a:solidFill>
                <a:latin typeface="Aptos"/>
              </a:rPr>
              <a:t>Reproducibility</a:t>
            </a:r>
            <a:endParaRPr lang="en-US" sz="2800"/>
          </a:p>
        </p:txBody>
      </p:sp>
      <p:sp>
        <p:nvSpPr>
          <p:cNvPr id="5" name="body"/>
          <p:cNvSpPr/>
          <p:nvPr/>
        </p:nvSpPr>
        <p:spPr>
          <a:xfrm>
            <a:off x="749808" y="1261872"/>
            <a:ext cx="10698480" cy="480060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lvl="0">
              <a:buChar char="•"/>
            </a:pPr>
            <a:r>
              <a:rPr lang="en-US" sz="1700">
                <a:solidFill>
                  <a:srgbClr val="26364D"/>
                </a:solidFill>
                <a:latin typeface="Aptos"/>
              </a:rPr>
              <a:t>Seed 2026 and local synthetic generation</a:t>
            </a:r>
            <a:endParaRPr lang="en-US" sz="1700"/>
          </a:p>
          <a:p>
            <a:pPr lvl="0">
              <a:buChar char="•"/>
            </a:pPr>
            <a:r>
              <a:rPr lang="en-US" sz="1700">
                <a:solidFill>
                  <a:srgbClr val="26364D"/>
                </a:solidFill>
                <a:latin typeface="Aptos"/>
              </a:rPr>
              <a:t>Joblib bundle plus strict JSON metrics/provenance</a:t>
            </a:r>
            <a:endParaRPr lang="en-US" sz="1700"/>
          </a:p>
          <a:p>
            <a:pPr lvl="0">
              <a:buChar char="•"/>
            </a:pPr>
            <a:r>
              <a:rPr lang="en-US" sz="1700">
                <a:solidFill>
                  <a:srgbClr val="26364D"/>
                </a:solidFill>
                <a:latin typeface="Aptos"/>
              </a:rPr>
              <a:t>Engine loads artifacts and never trains automatically</a:t>
            </a:r>
            <a:endParaRPr lang="en-US" sz="1700"/>
          </a:p>
          <a:p>
            <a:pPr lvl="0">
              <a:buChar char="•"/>
            </a:pPr>
            <a:r>
              <a:rPr lang="en-US" sz="1700">
                <a:solidFill>
                  <a:srgbClr val="26364D"/>
                </a:solidFill>
                <a:latin typeface="Aptos"/>
              </a:rPr>
              <a:t>API and dashboard run on localhost</a:t>
            </a:r>
            <a:endParaRPr lang="en-US" sz="1700"/>
          </a:p>
        </p:txBody>
      </p:sp>
      <p:sp>
        <p:nvSpPr>
          <p:cNvPr id="6" name="footer"/>
          <p:cNvSpPr/>
          <p:nvPr/>
        </p:nvSpPr>
        <p:spPr>
          <a:xfrm>
            <a:off x="594360" y="6510528"/>
            <a:ext cx="10972800" cy="18288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lvl="0">
              <a:buNone/>
            </a:pPr>
            <a:r>
              <a:rPr lang="en-US" sz="900">
                <a:solidFill>
                  <a:srgbClr val="68758A"/>
                </a:solidFill>
                <a:latin typeface="Aptos"/>
              </a:rPr>
              <a:t>AarogyaTwin-X  |  synthetic research prototype  |  15</a:t>
            </a:r>
            <a:endParaRPr lang="en-US" sz="9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accent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59B9A"/>
          </a:solidFill>
          <a:ln>
            <a:noFill/>
          </a:ln>
        </p:spPr>
      </p:sp>
      <p:sp>
        <p:nvSpPr>
          <p:cNvPr id="4" name="title"/>
          <p:cNvSpPr/>
          <p:nvPr/>
        </p:nvSpPr>
        <p:spPr>
          <a:xfrm>
            <a:off x="594360" y="438912"/>
            <a:ext cx="10972800" cy="64008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lvl="0">
              <a:buNone/>
            </a:pPr>
            <a:r>
              <a:rPr lang="en-US" sz="2800" b="1">
                <a:solidFill>
                  <a:srgbClr val="14253D"/>
                </a:solidFill>
                <a:latin typeface="Aptos"/>
              </a:rPr>
              <a:t>Limitations</a:t>
            </a:r>
            <a:endParaRPr lang="en-US" sz="2800"/>
          </a:p>
        </p:txBody>
      </p:sp>
      <p:sp>
        <p:nvSpPr>
          <p:cNvPr id="5" name="body"/>
          <p:cNvSpPr/>
          <p:nvPr/>
        </p:nvSpPr>
        <p:spPr>
          <a:xfrm>
            <a:off x="749808" y="1261872"/>
            <a:ext cx="10698480" cy="480060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lvl="0">
              <a:buChar char="•"/>
            </a:pPr>
            <a:r>
              <a:rPr lang="en-US" sz="1700">
                <a:solidFill>
                  <a:srgbClr val="26364D"/>
                </a:solidFill>
                <a:latin typeface="Aptos"/>
              </a:rPr>
              <a:t>One simulator and one seeded cohort</a:t>
            </a:r>
            <a:endParaRPr lang="en-US" sz="1700"/>
          </a:p>
          <a:p>
            <a:pPr lvl="0">
              <a:buChar char="•"/>
            </a:pPr>
            <a:r>
              <a:rPr lang="en-US" sz="1700">
                <a:solidFill>
                  <a:srgbClr val="26364D"/>
                </a:solidFill>
                <a:latin typeface="Aptos"/>
              </a:rPr>
              <a:t>Correlated replay windows</a:t>
            </a:r>
            <a:endParaRPr lang="en-US" sz="1700"/>
          </a:p>
          <a:p>
            <a:pPr lvl="0">
              <a:buChar char="•"/>
            </a:pPr>
            <a:r>
              <a:rPr lang="en-US" sz="1700">
                <a:solidFill>
                  <a:srgbClr val="26364D"/>
                </a:solidFill>
                <a:latin typeface="Aptos"/>
              </a:rPr>
              <a:t>Small event count for alert conclusions</a:t>
            </a:r>
            <a:endParaRPr lang="en-US" sz="1700"/>
          </a:p>
          <a:p>
            <a:pPr lvl="0">
              <a:buChar char="•"/>
            </a:pPr>
            <a:r>
              <a:rPr lang="en-US" sz="1700">
                <a:solidFill>
                  <a:srgbClr val="26364D"/>
                </a:solidFill>
                <a:latin typeface="Aptos"/>
              </a:rPr>
              <a:t>Coverage can fail under distribution shift</a:t>
            </a:r>
            <a:endParaRPr lang="en-US" sz="1700"/>
          </a:p>
          <a:p>
            <a:pPr lvl="0">
              <a:buChar char="•"/>
            </a:pPr>
            <a:r>
              <a:rPr lang="en-US" sz="1700">
                <a:solidFill>
                  <a:srgbClr val="26364D"/>
                </a:solidFill>
                <a:latin typeface="Aptos"/>
              </a:rPr>
              <a:t>No clinical validation</a:t>
            </a:r>
            <a:endParaRPr lang="en-US" sz="1700"/>
          </a:p>
        </p:txBody>
      </p:sp>
      <p:sp>
        <p:nvSpPr>
          <p:cNvPr id="6" name="footer"/>
          <p:cNvSpPr/>
          <p:nvPr/>
        </p:nvSpPr>
        <p:spPr>
          <a:xfrm>
            <a:off x="594360" y="6510528"/>
            <a:ext cx="10972800" cy="18288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lvl="0">
              <a:buNone/>
            </a:pPr>
            <a:r>
              <a:rPr lang="en-US" sz="900">
                <a:solidFill>
                  <a:srgbClr val="68758A"/>
                </a:solidFill>
                <a:latin typeface="Aptos"/>
              </a:rPr>
              <a:t>AarogyaTwin-X  |  synthetic research prototype  |  16</a:t>
            </a:r>
            <a:endParaRPr lang="en-US" sz="9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accent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59B9A"/>
          </a:solidFill>
          <a:ln>
            <a:noFill/>
          </a:ln>
        </p:spPr>
      </p:sp>
      <p:sp>
        <p:nvSpPr>
          <p:cNvPr id="4" name="title"/>
          <p:cNvSpPr/>
          <p:nvPr/>
        </p:nvSpPr>
        <p:spPr>
          <a:xfrm>
            <a:off x="594360" y="438912"/>
            <a:ext cx="10972800" cy="64008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lvl="0">
              <a:buNone/>
            </a:pPr>
            <a:r>
              <a:rPr lang="en-US" sz="2800" b="1">
                <a:solidFill>
                  <a:srgbClr val="14253D"/>
                </a:solidFill>
                <a:latin typeface="Aptos"/>
              </a:rPr>
              <a:t>Closing</a:t>
            </a:r>
            <a:endParaRPr lang="en-US" sz="2800"/>
          </a:p>
        </p:txBody>
      </p:sp>
      <p:sp>
        <p:nvSpPr>
          <p:cNvPr id="5" name="body"/>
          <p:cNvSpPr/>
          <p:nvPr/>
        </p:nvSpPr>
        <p:spPr>
          <a:xfrm>
            <a:off x="749808" y="1261872"/>
            <a:ext cx="10698480" cy="480060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lvl="0">
              <a:buChar char="•"/>
            </a:pPr>
            <a:r>
              <a:rPr lang="en-US" sz="1700">
                <a:solidFill>
                  <a:srgbClr val="26364D"/>
                </a:solidFill>
                <a:latin typeface="Aptos"/>
              </a:rPr>
              <a:t>A reproducible foundation for honest forecasting research</a:t>
            </a:r>
            <a:endParaRPr lang="en-US" sz="1700"/>
          </a:p>
          <a:p>
            <a:pPr lvl="0">
              <a:buChar char="•"/>
            </a:pPr>
            <a:r>
              <a:rPr lang="en-US" sz="1700">
                <a:solidFill>
                  <a:srgbClr val="26364D"/>
                </a:solidFill>
                <a:latin typeface="Aptos"/>
              </a:rPr>
              <a:t>Past-only temporal features</a:t>
            </a:r>
            <a:endParaRPr lang="en-US" sz="1700"/>
          </a:p>
          <a:p>
            <a:pPr lvl="0">
              <a:buChar char="•"/>
            </a:pPr>
            <a:r>
              <a:rPr lang="en-US" sz="1700">
                <a:solidFill>
                  <a:srgbClr val="26364D"/>
                </a:solidFill>
                <a:latin typeface="Aptos"/>
              </a:rPr>
              <a:t>Measured uncertainty and probability calibration</a:t>
            </a:r>
            <a:endParaRPr lang="en-US" sz="1700"/>
          </a:p>
          <a:p>
            <a:pPr lvl="0">
              <a:buChar char="•"/>
            </a:pPr>
            <a:r>
              <a:rPr lang="en-US" sz="1700">
                <a:solidFill>
                  <a:srgbClr val="26364D"/>
                </a:solidFill>
                <a:latin typeface="Aptos"/>
              </a:rPr>
              <a:t>Data-quality abstention and explicit limitations</a:t>
            </a:r>
            <a:endParaRPr lang="en-US" sz="1700"/>
          </a:p>
        </p:txBody>
      </p:sp>
      <p:sp>
        <p:nvSpPr>
          <p:cNvPr id="6" name="footer"/>
          <p:cNvSpPr/>
          <p:nvPr/>
        </p:nvSpPr>
        <p:spPr>
          <a:xfrm>
            <a:off x="594360" y="6510528"/>
            <a:ext cx="10972800" cy="18288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lvl="0">
              <a:buNone/>
            </a:pPr>
            <a:r>
              <a:rPr lang="en-US" sz="900">
                <a:solidFill>
                  <a:srgbClr val="68758A"/>
                </a:solidFill>
                <a:latin typeface="Aptos"/>
              </a:rPr>
              <a:t>AarogyaTwin-X  |  synthetic research prototype  |  17</a:t>
            </a:r>
            <a:endParaRPr lang="en-US" sz="9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arogyaTwin">
  <a:themeElements>
    <a:clrScheme name="Aarogya">
      <a:dk1>
        <a:sysClr val="windowText" lastClr="000000"/>
      </a:dk1>
      <a:lt1>
        <a:sysClr val="window" lastClr="FFFFFF"/>
      </a:lt1>
      <a:dk2>
        <a:srgbClr val="14253D"/>
      </a:dk2>
      <a:lt2>
        <a:srgbClr val="F4F7FA"/>
      </a:lt2>
      <a:accent1>
        <a:srgbClr val="159B9A"/>
      </a:accent1>
      <a:accent2>
        <a:srgbClr val="7667E8"/>
      </a:accent2>
      <a:accent3>
        <a:srgbClr val="D58A36"/>
      </a:accent3>
      <a:accent4>
        <a:srgbClr val="68758A"/>
      </a:accent4>
      <a:accent5>
        <a:srgbClr val="FFFFFF"/>
      </a:accent5>
      <a:accent6>
        <a:srgbClr val="F4F7FA"/>
      </a:accent6>
      <a:hlink>
        <a:srgbClr val="159B9A"/>
      </a:hlink>
      <a:folHlink>
        <a:srgbClr val="7667E8"/>
      </a:folHlink>
    </a:clrScheme>
    <a:fontScheme name="Aarogya">
      <a:majorFont>
        <a:latin typeface="Aptos Display"/>
      </a:majorFont>
      <a:minorFont>
        <a:latin typeface="Aptos"/>
      </a:minorFont>
    </a:fontScheme>
    <a:fmtScheme name="Aarogya">
      <a:fillStyleLst/>
      <a:lnStyleLst/>
      <a:effectStyleLst/>
      <a:bgFillStyleLst/>
    </a:fmtScheme>
  </a:themeElements>
</a:theme>
</file>