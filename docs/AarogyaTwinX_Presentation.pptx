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p="http://schemas.openxmlformats.org/presentationml/2006/main"/>
</file>

<file path=ppt/tableStyles.xml><?xml version="1.0" encoding="utf-8"?>
<a:tblStyleLst xmlns:a="http://schemas.openxmlformats.org/drawingml/2006/main" defaultTableStyle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1"/>
  </p:sldLayoutIdLst>
  <p:txStyles>
    <p:titleStyle/>
    <p:bodyStyle/>
    <p:otherStyle/>
  </p:txStyles>
  <p:clrMap accent1="159B9A" accent2="7667E8" accent3="14253D" accent4="68758A" accent5="F4F7FA" accent6="FFFFFF" bg1="FFFFFF" bg2="F4F7FA" tx1="14253D" tx2="68758A"/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AarogyaTwin-X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Forecasts with evidence, not unsupported certainty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Local synthetic patient replay and glucose forecasting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Not a diagnostic device. Not medical advice.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</a:t>
            </a:r>
            <a:endParaRPr lang="en-US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The question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Can a forecast be useful without hiding its limitations?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Users need data freshness, uncertainty, and provenance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Missing data should trigger abstention, not invented certainty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The experience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Select a held-out synthetic patient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Replay the timeline in five-minute steps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Inspect context, forecast heads, intervals, event risk, and evidence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SELECT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test patient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REPLAY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+5 min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FORECAST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heads + bands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EVIDENCE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limitations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Synthetic data only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60 artificial patients x 5 days x 5-minute observations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Static records plus CGM, heart rate, HRV, sleep, activity, and meals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Seeded variability, rhythms, noise, and missingness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real patient data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Leakage-aware evaluation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36 training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6 calibration-tuning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6 calibration-interval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12 held-out test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Past-only features at every replay anchor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TRAIN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36 patients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TUNE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6 patients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INTERVAL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6 patients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TEST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12 held-out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RULE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test patient chooses a model setting; features stop at the replay anchor.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Model architecture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Small CPU temporal lag gradient-boosting heads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Calibrated fusion logistic event classifier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Train-only preprocessing and missingness indicators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Conformal intervals and explicit ablations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FEATURES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lags + context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TEMPORAL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glucose heads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EVENT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fusion risk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CALIBRATE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honest intervals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OUTPUT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30 / 60 / 120-minute heads + risk + reason + provenance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Personalization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Make a forecast at time 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Wait for the target timestamp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Use a bounded history of matured errors for later forecasts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Never use the current forecast's future target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Adaptive residual, not clinical physiology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forecast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TARGET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time arrives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ERROR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observed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T+1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bounded update</a:t>
            </a:r>
            <a:endParaRPr lang="en-US" sz="900"/>
          </a:p>
        </p:txBody>
      </p:sp>
      <p:sp>
        <p:nvSpPr>
          <p:cNvPr id="31" name="card-31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32" name="card-text-31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GUARDRAIL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Future target cannot influence its own forecast. Adaptive residual != physiology.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Held-out forecast results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30 min: MAE 7.21 | RMSE 9.76 | coverage 89.95%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60 min: MAE 7.85 | RMSE 10.42 | coverage 89.36%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120 min: MAE 8.38 | RMSE 11.00 | coverage 90.00%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Intervals are calibrated named heads, not extra points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Probability calibration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Fusion Brier: 0.05035 -&gt; 0.02437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Fusion log loss: 0.18466 -&gt; 0.13559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Expected calibration error: 0.05814 -&gt; 0.02387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AUROC 0.94330 and AUPRC 0.27652 remained ranking measures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9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Missing data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Natural missingness: about 0.3% abstention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Recent stream gaps degrade measured forecasts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Recent 30-minute CGM dropout: 100% abstention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Unavailable estimates remain null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CONNECTED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fresh CGM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GAP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warning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DROPOUT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abstain</a:t>
            </a:r>
            <a:endParaRPr lang="en-US" sz="900"/>
          </a:p>
        </p:txBody>
      </p:sp>
      <p:sp>
        <p:nvSpPr>
          <p:cNvPr id="28" name="card-28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29" name="card-text-28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POLICY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CGM older than 15 minutes -&gt; forecast empty, estimates null, reason visible.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10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Distribution shift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Nominal 120-minute coverage: 89.46%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Glucose level +25 mg/dL: coverage 62.09%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Meal inputs doubled: coverage 89.35%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HbA1c +1.0: coverage 80.26%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Stress tests show known failure modes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NOMINAL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89.46% cov.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GLUCOSE +25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62.09% cov.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MEAL x2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89.35% cov.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HbA1c +1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80.26% cov.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Alert behavior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22 synthetic episodes across 12 test patients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At threshold 0.10: episode sensitivity 22.7%, median lead 70 min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At threshold 0.20: episode sensitivity 18.2%, 0.133 false alerts/patient-day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Synthetic alert metrics are not clinical performance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0.10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more recall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0.20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balanced view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0.50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few alerts</a:t>
            </a:r>
            <a:endParaRPr lang="en-US" sz="900"/>
          </a:p>
        </p:txBody>
      </p:sp>
      <p:sp>
        <p:nvSpPr>
          <p:cNvPr id="28" name="card-28"/>
          <p:cNvSpPr/>
          <p:nvPr/>
        </p:nvSpPr>
        <p:spPr>
          <a:xfrm>
            <a:off x="4892040" y="3017520"/>
            <a:ext cx="630936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29" name="card-text-28"/>
          <p:cNvSpPr/>
          <p:nvPr/>
        </p:nvSpPr>
        <p:spPr>
          <a:xfrm>
            <a:off x="4983480" y="3108960"/>
            <a:ext cx="612648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TRADE-OFF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Threshold changes episode sensitivity and false-alert burden; no clinical threshold claim.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12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Live demo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Show synthetic/non-clinical warning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Select held-out record and replay +5 minutes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Inspect heads and intervals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Enable dropout and show abstention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Review scenario disclaimer and measured evidence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WARNING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synthetic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REPLAY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clock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D58A36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DROPOUT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abstain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EVIDENCE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metrics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13</a:t>
            </a:r>
            <a:endParaRPr lang="en-US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Safety and transparency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388620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 diagnosis, dosing, medication change, or treatment advice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Drivers are observed context, not causal attribution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Scenario controls are assumptions, not treatment effects</a:t>
            </a:r>
            <a:endParaRPr lang="en-US" sz="1500"/>
          </a:p>
          <a:p>
            <a:pPr lvl="0">
              <a:buChar char="•"/>
            </a:pPr>
            <a:r>
              <a:rPr lang="en-US" sz="1500">
                <a:solidFill>
                  <a:srgbClr val="26364D"/>
                </a:solidFill>
                <a:latin typeface="Aptos"/>
              </a:rPr>
              <a:t>Not-ready, loading, error, and unavailable states are explicit</a:t>
            </a:r>
            <a:endParaRPr lang="en-US" sz="1500"/>
          </a:p>
        </p:txBody>
      </p:sp>
      <p:sp>
        <p:nvSpPr>
          <p:cNvPr id="20" name="card-20"/>
          <p:cNvSpPr/>
          <p:nvPr/>
        </p:nvSpPr>
        <p:spPr>
          <a:xfrm>
            <a:off x="4892040" y="1417320"/>
            <a:ext cx="1417320" cy="1024128"/>
          </a:xfrm>
          <a:prstGeom prst="rect">
            <a:avLst/>
          </a:prstGeom>
          <a:solidFill>
            <a:srgbClr val="14253D"/>
          </a:solidFill>
          <a:ln>
            <a:noFill/>
          </a:ln>
        </p:spPr>
      </p:sp>
      <p:sp>
        <p:nvSpPr>
          <p:cNvPr id="21" name="card-text-20"/>
          <p:cNvSpPr/>
          <p:nvPr/>
        </p:nvSpPr>
        <p:spPr>
          <a:xfrm>
            <a:off x="4983480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NO DOSING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advice</a:t>
            </a:r>
            <a:endParaRPr lang="en-US" sz="900"/>
          </a:p>
        </p:txBody>
      </p:sp>
      <p:sp>
        <p:nvSpPr>
          <p:cNvPr id="22" name="arrow-22"/>
          <p:cNvSpPr/>
          <p:nvPr/>
        </p:nvSpPr>
        <p:spPr>
          <a:xfrm>
            <a:off x="6318504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3" name="card-23"/>
          <p:cNvSpPr/>
          <p:nvPr/>
        </p:nvSpPr>
        <p:spPr>
          <a:xfrm>
            <a:off x="6510528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24" name="card-text-23"/>
          <p:cNvSpPr/>
          <p:nvPr/>
        </p:nvSpPr>
        <p:spPr>
          <a:xfrm>
            <a:off x="6601968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PAST-ONLY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leakage</a:t>
            </a:r>
            <a:endParaRPr lang="en-US" sz="900"/>
          </a:p>
        </p:txBody>
      </p:sp>
      <p:sp>
        <p:nvSpPr>
          <p:cNvPr id="25" name="arrow-25"/>
          <p:cNvSpPr/>
          <p:nvPr/>
        </p:nvSpPr>
        <p:spPr>
          <a:xfrm>
            <a:off x="7936992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6" name="card-26"/>
          <p:cNvSpPr/>
          <p:nvPr/>
        </p:nvSpPr>
        <p:spPr>
          <a:xfrm>
            <a:off x="8129016" y="1417320"/>
            <a:ext cx="1417320" cy="1024128"/>
          </a:xfrm>
          <a:prstGeom prst="rect">
            <a:avLst/>
          </a:prstGeom>
          <a:solidFill>
            <a:srgbClr val="7667E8"/>
          </a:solidFill>
          <a:ln>
            <a:noFill/>
          </a:ln>
        </p:spPr>
      </p:sp>
      <p:sp>
        <p:nvSpPr>
          <p:cNvPr id="27" name="card-text-26"/>
          <p:cNvSpPr/>
          <p:nvPr/>
        </p:nvSpPr>
        <p:spPr>
          <a:xfrm>
            <a:off x="8220456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NULL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no guessing</a:t>
            </a:r>
            <a:endParaRPr lang="en-US" sz="900"/>
          </a:p>
        </p:txBody>
      </p:sp>
      <p:sp>
        <p:nvSpPr>
          <p:cNvPr id="28" name="arrow-28"/>
          <p:cNvSpPr/>
          <p:nvPr/>
        </p:nvSpPr>
        <p:spPr>
          <a:xfrm>
            <a:off x="9555480" y="1700784"/>
            <a:ext cx="26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200" b="1">
                <a:solidFill>
                  <a:srgbClr val="7667E8"/>
                </a:solidFill>
                <a:latin typeface="Aptos"/>
              </a:rPr>
              <a:t>→</a:t>
            </a:r>
            <a:endParaRPr lang="en-US" sz="2200"/>
          </a:p>
        </p:txBody>
      </p:sp>
      <p:sp>
        <p:nvSpPr>
          <p:cNvPr id="29" name="card-29"/>
          <p:cNvSpPr/>
          <p:nvPr/>
        </p:nvSpPr>
        <p:spPr>
          <a:xfrm>
            <a:off x="9747504" y="1417320"/>
            <a:ext cx="1417320" cy="1024128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30" name="card-text-29"/>
          <p:cNvSpPr/>
          <p:nvPr/>
        </p:nvSpPr>
        <p:spPr>
          <a:xfrm>
            <a:off x="9838944" y="1508760"/>
            <a:ext cx="1234440" cy="841248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1400" b="1">
                <a:solidFill>
                  <a:srgbClr val="FFFFFF"/>
                </a:solidFill>
                <a:latin typeface="Aptos"/>
              </a:rPr>
              <a:t>PROVENANCE</a:t>
            </a:r>
            <a:endParaRPr lang="en-US" sz="1400"/>
          </a:p>
          <a:p>
            <a:pPr lvl="0">
              <a:buNone/>
            </a:pPr>
            <a:r>
              <a:rPr lang="en-US" sz="900">
                <a:solidFill>
                  <a:srgbClr val="EAF4F5"/>
                </a:solidFill>
                <a:latin typeface="Aptos"/>
              </a:rPr>
              <a:t>traceable</a:t>
            </a:r>
            <a:endParaRPr lang="en-US" sz="9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14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Reproducibility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Seed 2026 and local synthetic generation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Joblib bundle plus strict JSON metrics/provenance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Engine loads artifacts and never trains automatically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API and dashboard run on localhost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15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Limitations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One simulator and one seeded cohort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Correlated replay windows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Small event count for alert conclusions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Coverage can fail under distribution shift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No clinical validation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16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accent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9B9A"/>
          </a:solidFill>
          <a:ln>
            <a:noFill/>
          </a:ln>
        </p:spPr>
      </p:sp>
      <p:sp>
        <p:nvSpPr>
          <p:cNvPr id="4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2800" b="1">
                <a:solidFill>
                  <a:srgbClr val="14253D"/>
                </a:solidFill>
                <a:latin typeface="Aptos"/>
              </a:rPr>
              <a:t>Closing</a:t>
            </a:r>
            <a:endParaRPr lang="en-US" sz="2800"/>
          </a:p>
        </p:txBody>
      </p:sp>
      <p:sp>
        <p:nvSpPr>
          <p:cNvPr id="5" name="body"/>
          <p:cNvSpPr/>
          <p:nvPr/>
        </p:nvSpPr>
        <p:spPr>
          <a:xfrm>
            <a:off x="658368" y="1261872"/>
            <a:ext cx="10698480" cy="48006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A reproducible foundation for honest forecasting research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Past-only temporal features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Measured uncertainty and probability calibration</a:t>
            </a:r>
            <a:endParaRPr lang="en-US" sz="1700"/>
          </a:p>
          <a:p>
            <a:pPr lvl="0">
              <a:buChar char="•"/>
            </a:pPr>
            <a:r>
              <a:rPr lang="en-US" sz="1700">
                <a:solidFill>
                  <a:srgbClr val="26364D"/>
                </a:solidFill>
                <a:latin typeface="Aptos"/>
              </a:rPr>
              <a:t>Data-quality abstention and explicit limitations</a:t>
            </a:r>
            <a:endParaRPr lang="en-US" sz="1700"/>
          </a:p>
        </p:txBody>
      </p:sp>
      <p:sp>
        <p:nvSpPr>
          <p:cNvPr id="6" name="footer"/>
          <p:cNvSpPr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lvl="0">
              <a:buNone/>
            </a:pPr>
            <a:r>
              <a:rPr lang="en-US" sz="900">
                <a:solidFill>
                  <a:srgbClr val="68758A"/>
                </a:solidFill>
                <a:latin typeface="Aptos"/>
              </a:rPr>
              <a:t>AarogyaTwin-X  |  synthetic research prototype  |  17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arogyaTwin">
  <a:themeElements>
    <a:clrScheme name="Aarogya">
      <a:dk1>
        <a:sysClr val="windowText" lastClr="000000"/>
      </a:dk1>
      <a:lt1>
        <a:sysClr val="window" lastClr="FFFFFF"/>
      </a:lt1>
      <a:dk2>
        <a:srgbClr val="14253D"/>
      </a:dk2>
      <a:lt2>
        <a:srgbClr val="F4F7FA"/>
      </a:lt2>
      <a:accent1>
        <a:srgbClr val="159B9A"/>
      </a:accent1>
      <a:accent2>
        <a:srgbClr val="7667E8"/>
      </a:accent2>
      <a:accent3>
        <a:srgbClr val="D58A36"/>
      </a:accent3>
      <a:accent4>
        <a:srgbClr val="68758A"/>
      </a:accent4>
      <a:accent5>
        <a:srgbClr val="FFFFFF"/>
      </a:accent5>
      <a:accent6>
        <a:srgbClr val="F4F7FA"/>
      </a:accent6>
      <a:hlink>
        <a:srgbClr val="159B9A"/>
      </a:hlink>
      <a:folHlink>
        <a:srgbClr val="7667E8"/>
      </a:folHlink>
    </a:clrScheme>
    <a:fontScheme name="Aarogya">
      <a:majorFont>
        <a:latin typeface="Aptos Display"/>
      </a:majorFont>
      <a:minorFont>
        <a:latin typeface="Aptos"/>
      </a:minorFont>
    </a:fontScheme>
    <a:fmtScheme name="Aarogya">
      <a:fillStyleLst/>
      <a:lnStyleLst/>
      <a:effectStyleLst/>
      <a:bgFillStyleLst/>
    </a:fmtScheme>
  </a:themeElements>
</a:theme>
</file>