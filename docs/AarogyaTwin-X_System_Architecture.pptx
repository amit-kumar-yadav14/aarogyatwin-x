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_SLID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05840"/>
            <a:ext cx="621792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AarogyaTwin-X  ·  System Architecture &amp; Data Flow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TECHNICAL ARCHITECTURE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00584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AarogyaTwin-X: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System Architecture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&amp; Data Flow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 Local-First, Conformal Telemetry Pipeline with Zero-Leakage &amp; Safety Abstention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5852160" cy="205740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27939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VERSION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42793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AarogyaTwin-X Day-3 Production Bundle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73659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RUNTIME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47365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100% local CPU — no GPU cluster required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519379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PRIVACY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51937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Zero cloud egress / HIPAA-safe air-gapped design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65099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TARGET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56509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90% conformal coverage &amp; bounded causal personalization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731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SYSTEM MISSION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1051560"/>
            <a:ext cx="4690872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78040" y="118872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High-throughput, real-time physiological telemetry forecasting with mathematical uncertainty and deterministic safety boundaries.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542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CORE ARCHITECTURAL TENETS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2862072"/>
            <a:ext cx="4690872" cy="786384"/>
          </a:xfrm>
          <a:prstGeom prst="roundRect">
            <a:avLst>
              <a:gd name="adj" fmla="val 11628"/>
            </a:avLst>
          </a:prstGeom>
          <a:solidFill>
            <a:schemeClr val="tx2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14032" y="30266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7476" y="3150108"/>
            <a:ext cx="210312" cy="21031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772400" y="29535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Zero Cloud Dependency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0" y="320954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Local-first FastAPI service guarantees patient privacy.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949440" y="3721608"/>
            <a:ext cx="4690872" cy="786384"/>
          </a:xfrm>
          <a:prstGeom prst="roundRect">
            <a:avLst>
              <a:gd name="adj" fmla="val 11628"/>
            </a:avLst>
          </a:prstGeom>
          <a:solidFill>
            <a:schemeClr val="tx2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114032" y="38862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476" y="4009644"/>
            <a:ext cx="210312" cy="21031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772400" y="38130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Causal-in-Time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7772400" y="40690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Future data is strictly unreachable across features and personalization.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949440" y="4581144"/>
            <a:ext cx="4690872" cy="786384"/>
          </a:xfrm>
          <a:prstGeom prst="roundRect">
            <a:avLst>
              <a:gd name="adj" fmla="val 11628"/>
            </a:avLst>
          </a:prstGeom>
          <a:solidFill>
            <a:schemeClr val="tx2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114032" y="4745736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476" y="4869180"/>
            <a:ext cx="210312" cy="21031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7772400" y="46725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Distribution-Free Uncertainty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7772400" y="492861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Split-conformal calibration guarantees 90% finite-sample coverage.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6949440" y="5440680"/>
            <a:ext cx="4690872" cy="786384"/>
          </a:xfrm>
          <a:prstGeom prst="roundRect">
            <a:avLst>
              <a:gd name="adj" fmla="val 11628"/>
            </a:avLst>
          </a:prstGeom>
          <a:solidFill>
            <a:schemeClr val="tx2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114032" y="5605272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7476" y="5728716"/>
            <a:ext cx="210312" cy="210312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7772400" y="55321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Deterministic Abstention</a:t>
            </a:r>
            <a:endParaRPr lang="en-US" sz="1400" dirty="0"/>
          </a:p>
        </p:txBody>
      </p:sp>
      <p:sp>
        <p:nvSpPr>
          <p:cNvPr id="37" name="Text 31"/>
          <p:cNvSpPr txBox="1"/>
          <p:nvPr/>
        </p:nvSpPr>
        <p:spPr>
          <a:xfrm>
            <a:off x="7772400" y="578815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Refuses to predict when sensor integrity is compromised.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PIPELINE OVERVIEW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End-to-End High-Level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11680" cy="347472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92808"/>
            <a:ext cx="502920" cy="502920"/>
          </a:xfrm>
          <a:prstGeom prst="ellipse">
            <a:avLst/>
          </a:prstGeom>
          <a:solidFill>
            <a:srgbClr val="60A5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020" y="2028596"/>
            <a:ext cx="231343" cy="231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2039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0A5FA"/>
                </a:solidFill>
              </a:rPr>
              <a:t>STAGE 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56032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Telemetry Ingestion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3200400"/>
            <a:ext cx="1700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60 patients × 5 days (5-min grid)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CGM, HR, HRV, sleep, steps, meals, static demographics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78608" y="3429000"/>
            <a:ext cx="219456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816352" y="1691640"/>
            <a:ext cx="2011680" cy="347472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80944" y="189280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732" y="2028596"/>
            <a:ext cx="231343" cy="23134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93592" y="2039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STAGE 2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2980944" y="256032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Disjoint Partitioning &amp; Safety Gate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980944" y="3200400"/>
            <a:ext cx="1700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36 Train / 6 Tuning / 6 Interval / 12 Test patients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Sensor freshness checker (&gt;15 min = abstain)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846320" y="3429000"/>
            <a:ext cx="219456" cy="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5084064" y="1691640"/>
            <a:ext cx="2011680" cy="347472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248656" y="1892808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444" y="2028596"/>
            <a:ext cx="231343" cy="23134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861304" y="2039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STAGE 3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5248656" y="256032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Feature &amp; Causal Engine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5248656" y="3200400"/>
            <a:ext cx="1700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Past-only rolling temporal lags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Causal-in-time matured residual tracker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114032" y="3429000"/>
            <a:ext cx="219456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7351776" y="1691640"/>
            <a:ext cx="2011680" cy="347472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16368" y="189280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2156" y="2028596"/>
            <a:ext cx="231343" cy="231343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129016" y="2039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STAGE 4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7516368" y="256032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Multi-Head Inference Core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7516368" y="3200400"/>
            <a:ext cx="1700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30 / 60 / 120 min HistGradientBoosting heads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Split-conformal rank band (90% target)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Platt-calibrated logistic event classifier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9381744" y="3429000"/>
            <a:ext cx="219456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9619488" y="1691640"/>
            <a:ext cx="2011680" cy="347472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784080" y="1892808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9868" y="2028596"/>
            <a:ext cx="231343" cy="231343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0396728" y="2039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STAGE 5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9784080" y="256032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Serving &amp; Interactive UI</a:t>
            </a:r>
            <a:endParaRPr lang="en-US" sz="1400" dirty="0"/>
          </a:p>
        </p:txBody>
      </p:sp>
      <p:sp>
        <p:nvSpPr>
          <p:cNvPr id="37" name="Text 30"/>
          <p:cNvSpPr txBox="1"/>
          <p:nvPr/>
        </p:nvSpPr>
        <p:spPr>
          <a:xfrm>
            <a:off x="9784080" y="3200400"/>
            <a:ext cx="1700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Joblib model bundle + JSON evidence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FastAPI REST service (:8000)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React 18 / Vite clinician dashboard (:5173)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548640" y="5440680"/>
            <a:ext cx="3566160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713232" y="557784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987" y="5676595"/>
            <a:ext cx="168250" cy="16825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234440" y="54406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Zero patient overlap across train / calibration / test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4311396" y="5440680"/>
            <a:ext cx="3566160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4475988" y="557784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4743" y="5676595"/>
            <a:ext cx="168250" cy="168250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4997196" y="54406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Causal-in-time: past-only features and residuals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8074152" y="5440680"/>
            <a:ext cx="3566160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8238744" y="557784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7499" y="5676595"/>
            <a:ext cx="168250" cy="168250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8759952" y="54406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Frozen bundle served read-only — no training in API requests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LAYER 1  ·  INGESTION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Telemetry Ingestion &amp; Formal Event Definition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3931920"/>
          </a:xfrm>
          <a:prstGeom prst="roundRect">
            <a:avLst>
              <a:gd name="adj" fmla="val 2326"/>
            </a:avLst>
          </a:prstGeom>
          <a:solidFill>
            <a:schemeClr val="tx2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</a:rPr>
              <a:t>Multimodal Sensor Streams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420624" cy="420624"/>
          </a:xfrm>
          <a:prstGeom prst="ellipse">
            <a:avLst/>
          </a:prstGeom>
          <a:solidFill>
            <a:srgbClr val="60A5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528" y="2445288"/>
            <a:ext cx="193487" cy="19348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3134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CGM Glucose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55117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5-minute continuous sampling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944368"/>
            <a:ext cx="420624" cy="420624"/>
          </a:xfrm>
          <a:prstGeom prst="ellipse">
            <a:avLst/>
          </a:prstGeom>
          <a:solidFill>
            <a:srgbClr val="60A5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28" y="3057936"/>
            <a:ext cx="193487" cy="19348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29260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Cardiovascular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417320" y="31638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Heart rate (bpm) + heart rate variability (HRV)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" y="3557016"/>
            <a:ext cx="420624" cy="420624"/>
          </a:xfrm>
          <a:prstGeom prst="ellipse">
            <a:avLst/>
          </a:prstGeom>
          <a:solidFill>
            <a:srgbClr val="60A5F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528" y="3670584"/>
            <a:ext cx="193487" cy="19348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5387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Circadian / Behavioral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37764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Sleep duration + accelerometer steps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169664"/>
            <a:ext cx="420624" cy="420624"/>
          </a:xfrm>
          <a:prstGeom prst="ellipse">
            <a:avLst/>
          </a:prstGeom>
          <a:solidFill>
            <a:srgbClr val="60A5F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528" y="4283232"/>
            <a:ext cx="193487" cy="19348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415137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Nutrition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1417320" y="43891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Meal carbohydrate events (grams)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822960" y="4782312"/>
            <a:ext cx="420624" cy="420624"/>
          </a:xfrm>
          <a:prstGeom prst="ellipse">
            <a:avLst/>
          </a:prstGeom>
          <a:solidFill>
            <a:srgbClr val="60A5FA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528" y="4895880"/>
            <a:ext cx="193487" cy="19348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417320" y="47640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Static Demographics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1417320" y="50017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Age, sex, BMI, HbA1c, diabetes duration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897880" y="1600200"/>
            <a:ext cx="5742432" cy="3931920"/>
          </a:xfrm>
          <a:prstGeom prst="roundRect">
            <a:avLst>
              <a:gd name="adj" fmla="val 2326"/>
            </a:avLst>
          </a:prstGeom>
          <a:solidFill>
            <a:schemeClr val="tx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6172200" y="1783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Clinical Event Ground Truth Contract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6172200" y="2267712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</a:rPr>
              <a:t>Target event: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New sustained hyperglycemia (&gt;180 mg/dL)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</a:rPr>
              <a:t>Confirmation rule: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strictly 4 consecutive 5-min readings above 180 mg/dL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</a:rPr>
              <a:t>Exclusion rule: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if the anchor is already &gt;180 mg/dL, no new event is labeled (prevents double-counting)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</a:rPr>
              <a:t>Missing data: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missing future readings are treated as UNKNOWN (excluded), never labeled as negative 0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6172200" y="4434840"/>
            <a:ext cx="5193792" cy="9144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355080" y="450799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STRICT MEDICAL EVENT CONTRACT</a:t>
            </a:r>
            <a:endParaRPr lang="en-US" sz="950" dirty="0"/>
          </a:p>
        </p:txBody>
      </p:sp>
      <p:sp>
        <p:nvSpPr>
          <p:cNvPr id="31" name="Text 24"/>
          <p:cNvSpPr txBox="1"/>
          <p:nvPr/>
        </p:nvSpPr>
        <p:spPr>
          <a:xfrm>
            <a:off x="6355080" y="472744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= 1  ⇔  ∀ t ∈ [T+1, T+4],  Glucose(t) &gt; 180 mg/dL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Glucose(T) ≤ 180</a:t>
            </a:r>
            <a:endParaRPr lang="en-US" sz="1500" dirty="0"/>
          </a:p>
        </p:txBody>
      </p:sp>
      <p:sp>
        <p:nvSpPr>
          <p:cNvPr id="32" name="Shape 25"/>
          <p:cNvSpPr/>
          <p:nvPr/>
        </p:nvSpPr>
        <p:spPr>
          <a:xfrm>
            <a:off x="548640" y="5715000"/>
            <a:ext cx="29260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777240" y="5715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288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 steps per patient-day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3611880" y="5715000"/>
            <a:ext cx="347472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3840480" y="5715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1,440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 steps per 5-day trajectory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7223760" y="5715000"/>
            <a:ext cx="4416552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7452360" y="571500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NaN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  Missing future window is excluded from scoring — zero negative-imputation bias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LAYER 2  ·  LEAKAGE PREVENTION &amp; PERSONALIZATION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Zero-Leakage Architecture &amp; Causal Personalization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PATIENT-DISJOINT COHORT PARTITION  ·  60 PATIENTS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3840480" cy="1207008"/>
          </a:xfrm>
          <a:prstGeom prst="roundRect">
            <a:avLst>
              <a:gd name="adj" fmla="val 7576"/>
            </a:avLst>
          </a:prstGeom>
          <a:solidFill>
            <a:schemeClr val="tx2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562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</a:rPr>
              <a:t>36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0428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Training patients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4203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Global model fitting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50969" y="1810512"/>
            <a:ext cx="2011680" cy="1207008"/>
          </a:xfrm>
          <a:prstGeom prst="roundRect">
            <a:avLst>
              <a:gd name="adj" fmla="val 7576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33849" y="18562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6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733849" y="23042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Tuning patients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733849" y="25420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Platt sigmoid &amp; residual shrinkage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4498" y="1810512"/>
            <a:ext cx="2011680" cy="1207008"/>
          </a:xfrm>
          <a:prstGeom prst="roundRect">
            <a:avLst>
              <a:gd name="adj" fmla="val 7576"/>
            </a:avLst>
          </a:prstGeom>
          <a:solidFill>
            <a:schemeClr val="tx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7378" y="18562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6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907378" y="23042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Interval patients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07378" y="25420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Split-conformal residual ranks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98026" y="1810512"/>
            <a:ext cx="2743200" cy="1207008"/>
          </a:xfrm>
          <a:prstGeom prst="roundRect">
            <a:avLst>
              <a:gd name="adj" fmla="val 7576"/>
            </a:avLst>
          </a:prstGeom>
          <a:solidFill>
            <a:schemeClr val="tx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80906" y="18562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12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9080906" y="23042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Held-out test patients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080906" y="25420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Zero contact during training / calibration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50969" y="3127248"/>
            <a:ext cx="4185209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50969" y="3072384"/>
            <a:ext cx="0" cy="5486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36178" y="3072384"/>
            <a:ext cx="0" cy="5486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50969" y="3172968"/>
            <a:ext cx="41852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12 calibration patients — two disjoint sets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493008"/>
            <a:ext cx="11091672" cy="347472"/>
          </a:xfrm>
          <a:prstGeom prst="roundRect">
            <a:avLst>
              <a:gd name="adj" fmla="val 26316"/>
            </a:avLst>
          </a:prstGeom>
          <a:solidFill>
            <a:schemeClr val="tx2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3493008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Zero patient overlap. Test patients never select hyperparameters or thresholds.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0233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CAUSAL-IN-TIME ERROR MATURATION TIMELINE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732020"/>
            <a:ext cx="10698480" cy="45720"/>
          </a:xfrm>
          <a:prstGeom prst="roundRect">
            <a:avLst>
              <a:gd name="adj" fmla="val 40000"/>
            </a:avLst>
          </a:prstGeom>
          <a:solidFill>
            <a:srgbClr val="27324F"/>
          </a:solidFill>
          <a:ln/>
        </p:spPr>
      </p:sp>
      <p:sp>
        <p:nvSpPr>
          <p:cNvPr id="29" name="Shape 27"/>
          <p:cNvSpPr/>
          <p:nvPr/>
        </p:nvSpPr>
        <p:spPr>
          <a:xfrm>
            <a:off x="1609344" y="4626864"/>
            <a:ext cx="256032" cy="25603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11480" y="4315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T − 120 min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11480" y="50109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Earlier forecast's ground truth is observed — its error has matured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443984" y="4626864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246120" y="4315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  (forecast made)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246120" y="50109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Adjusted using only matured past errors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278624" y="4626864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080760" y="4315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 + 120 min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080760" y="50109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Ground truth observed — this forecast's error is calculated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113264" y="4626864"/>
            <a:ext cx="256032" cy="25603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915400" y="4315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 + 125 min →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915400" y="50109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Matured error enters the bounded adaptive residual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5760720"/>
            <a:ext cx="5760720" cy="530352"/>
          </a:xfrm>
          <a:prstGeom prst="roundRect">
            <a:avLst>
              <a:gd name="adj" fmla="val 17241"/>
            </a:avLst>
          </a:prstGeom>
          <a:solidFill>
            <a:schemeClr val="tx2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1520" y="5760720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Adjustment = clip( α · Mean(Matured_Errors), −30, +30 )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92240" y="5760720"/>
            <a:ext cx="5148072" cy="530352"/>
          </a:xfrm>
          <a:prstGeom prst="roundRect">
            <a:avLst>
              <a:gd name="adj" fmla="val 17241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75120" y="5760720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Strict rule: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no future leakage — a forecast can never use its own target error.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LAYER 3  ·  ML ENGINE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Multi-Head Inference &amp; Conformal Calibration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3017520"/>
          </a:xfrm>
          <a:prstGeom prst="roundRect">
            <a:avLst>
              <a:gd name="adj" fmla="val 3030"/>
            </a:avLst>
          </a:prstGeom>
          <a:solidFill>
            <a:schemeClr val="tx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860804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Multi-Horizon Forecast Heads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7744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MODEL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HistGradientBoostingRegressor</a:t>
            </a:r>
            <a:endParaRPr lang="en-US" sz="1300" dirty="0"/>
          </a:p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INPUT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Past lag vector (t−15m, t−30m, t−60m, slope, meal carbs, sleep)</a:t>
            </a:r>
            <a:endParaRPr lang="en-US" sz="1300" dirty="0"/>
          </a:p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OUTPUT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3 independent heads @ 30, 60, 120 min</a:t>
            </a:r>
            <a:endParaRPr lang="en-US" sz="1300" dirty="0"/>
          </a:p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BENEFIT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CPU-friendly, handles missingness natively, sub-10 ms latency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4681728"/>
            <a:ext cx="356616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11396" y="1554480"/>
            <a:ext cx="3566160" cy="3017520"/>
          </a:xfrm>
          <a:prstGeom prst="roundRect">
            <a:avLst>
              <a:gd name="adj" fmla="val 3030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94276" y="1737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860804"/>
            <a:ext cx="210312" cy="2103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88636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Split-Conformal Uncertainty Core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39996" y="237744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METHOD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Inductive conformal prediction (residual non-conformity)</a:t>
            </a:r>
            <a:endParaRPr lang="en-US" sz="1300" dirty="0"/>
          </a:p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COVERAGE TARGET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1 − α = 90%</a:t>
            </a:r>
            <a:endParaRPr lang="en-US" sz="1300" dirty="0"/>
          </a:p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CALIBRATION WIDTH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Quantile(1 − α, |y − ŷ|) on the calibration-interval cohort</a:t>
            </a:r>
            <a:endParaRPr lang="en-US" sz="1300" dirty="0"/>
          </a:p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GUARANTEE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Distribution-free finite-sample marginal coverage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311396" y="4681728"/>
            <a:ext cx="356616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74152" y="1554480"/>
            <a:ext cx="3566160" cy="3017520"/>
          </a:xfrm>
          <a:prstGeom prst="roundRect">
            <a:avLst>
              <a:gd name="adj" fmla="val 3030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57032" y="17373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476" y="1860804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851392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Event Risk Classifier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302752" y="237744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MODEL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Fusion logistic regression (telemetry + static)</a:t>
            </a:r>
            <a:endParaRPr lang="en-US" sz="1300" dirty="0"/>
          </a:p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POST-PROCESSING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Platt sigmoid probability calibration</a:t>
            </a:r>
            <a:endParaRPr lang="en-US" sz="1300" dirty="0"/>
          </a:p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PURPOSE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Calibrated probability of a sustained &gt;180 mg/dL event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8074152" y="4681728"/>
            <a:ext cx="356616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77240" y="48646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3</a:t>
            </a:r>
            <a:endParaRPr lang="en-US" sz="3600" dirty="0"/>
          </a:p>
        </p:txBody>
      </p:sp>
      <p:sp>
        <p:nvSpPr>
          <p:cNvPr id="23" name="Text 18"/>
          <p:cNvSpPr txBox="1"/>
          <p:nvPr/>
        </p:nvSpPr>
        <p:spPr>
          <a:xfrm>
            <a:off x="777240" y="550468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independent horizon heads (30 / 60 / 120 min)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2423160" y="48646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&lt;10 ms</a:t>
            </a:r>
            <a:endParaRPr lang="en-US" sz="3000" dirty="0"/>
          </a:p>
        </p:txBody>
      </p:sp>
      <p:sp>
        <p:nvSpPr>
          <p:cNvPr id="25" name="Text 20"/>
          <p:cNvSpPr txBox="1"/>
          <p:nvPr/>
        </p:nvSpPr>
        <p:spPr>
          <a:xfrm>
            <a:off x="2423160" y="550468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CPU-friendly per-head inference latency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4539996" y="479145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NON-CONFORMITY SCORE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4539996" y="49926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indent="0" marL="0">
              <a:buNone/>
            </a:pPr>
            <a:r>
              <a:rPr lang="en-US" sz="1250" baseline="-4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|y</a:t>
            </a:r>
            <a:pPr indent="0" marL="0">
              <a:buNone/>
            </a:pPr>
            <a:r>
              <a:rPr lang="en-US" sz="1250" baseline="-4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ŷ</a:t>
            </a:r>
            <a:pPr indent="0" marL="0">
              <a:buNone/>
            </a:pPr>
            <a:r>
              <a:rPr lang="en-US" sz="1250" baseline="-4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|,  i ∈ D</a:t>
            </a:r>
            <a:pPr indent="0" marL="0">
              <a:buNone/>
            </a:pPr>
            <a:r>
              <a:rPr lang="en-US" sz="1250" baseline="-4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calib-interval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4539996" y="535838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CONFORMAL CUTOFF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4539996" y="555955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q̂ = Quantile(⌈(n+1)(1−α)⌉ / n, {s</a:t>
            </a:r>
            <a:pPr indent="0" marL="0">
              <a:buNone/>
            </a:pPr>
            <a:r>
              <a:rPr lang="en-US" sz="1250" baseline="-4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})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⇒  P(y</a:t>
            </a:r>
            <a:pPr indent="0" marL="0">
              <a:buNone/>
            </a:pPr>
            <a:r>
              <a:rPr lang="en-US" sz="1250" baseline="-4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n+1</a:t>
            </a:r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∈ [ŷ − q̂, ŷ + q̂]) ≥ 90%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8302752" y="479145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PLATT PROBABILITY CALIBRATION</a:t>
            </a:r>
            <a:endParaRPr lang="en-US" sz="950" dirty="0"/>
          </a:p>
        </p:txBody>
      </p:sp>
      <p:sp>
        <p:nvSpPr>
          <p:cNvPr id="31" name="Text 26"/>
          <p:cNvSpPr txBox="1"/>
          <p:nvPr/>
        </p:nvSpPr>
        <p:spPr>
          <a:xfrm>
            <a:off x="8302752" y="499262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P̂(Event = 1 | x) = 1 / (1 + exp(A · f(x) + B))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8302752" y="5522976"/>
            <a:ext cx="987552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302752" y="5559552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0.024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8302752" y="590702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Brier score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9372600" y="5522976"/>
            <a:ext cx="987552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9372600" y="5559552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0.135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9372600" y="590702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Log loss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10442448" y="5522976"/>
            <a:ext cx="987552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10442448" y="5559552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0.023</a:t>
            </a:r>
            <a:endParaRPr lang="en-US" sz="1800" dirty="0"/>
          </a:p>
        </p:txBody>
      </p:sp>
      <p:sp>
        <p:nvSpPr>
          <p:cNvPr id="40" name="Text 35"/>
          <p:cNvSpPr txBox="1"/>
          <p:nvPr/>
        </p:nvSpPr>
        <p:spPr>
          <a:xfrm>
            <a:off x="10442448" y="590702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ECE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LAYER 4  ·  SAFETY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Sensor Quality Gate &amp; Deterministic Abstention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2194560" cy="1508760"/>
          </a:xfrm>
          <a:prstGeom prst="diamond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Is CGM stream active?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61488" y="2354580"/>
            <a:ext cx="374904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2743200" y="21076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YES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0" y="3127248"/>
            <a:ext cx="0" cy="329184"/>
          </a:xfrm>
          <a:prstGeom prst="line">
            <a:avLst/>
          </a:prstGeom>
          <a:noFill/>
          <a:ln w="25400">
            <a:solidFill>
              <a:srgbClr val="F87171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1737360" y="31638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NO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219456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5844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</a:rPr>
              <a:t>100% abstention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858768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HTTP 200 with predictions.available = false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1600200"/>
            <a:ext cx="2194560" cy="1508760"/>
          </a:xfrm>
          <a:prstGeom prst="diamond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Is CGM fresh? (age ≤ 15 min)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67528" y="2354580"/>
            <a:ext cx="374904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5349240" y="21076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YES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51960" y="3127248"/>
            <a:ext cx="0" cy="329184"/>
          </a:xfrm>
          <a:prstGeom prst="line">
            <a:avLst/>
          </a:prstGeom>
          <a:noFill/>
          <a:ln w="25400">
            <a:solidFill>
              <a:srgbClr val="F87171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343400" y="31638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NO  (age &gt; 15 min)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54680" y="3474720"/>
            <a:ext cx="219456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37560" y="35844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</a:rPr>
              <a:t>Stale sensor gate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3858768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Forecast withheld · warning “CGM data too stale”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0" y="1600200"/>
            <a:ext cx="2194560" cy="1508760"/>
          </a:xfrm>
          <a:prstGeom prst="diamond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Is anchor glucose ≤ 180 mg/dL?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73568" y="2354580"/>
            <a:ext cx="374904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7955280" y="21076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YES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3127248"/>
            <a:ext cx="0" cy="32918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949440" y="31638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NO  (&gt; 180)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3474720"/>
            <a:ext cx="219456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0" y="35844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Event risk = null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0" y="3858768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Not estimable — already in episode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66760" y="1783080"/>
            <a:ext cx="3273552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95360" y="19019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FULL INFERENCE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595360" y="217627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30 / 60 / 120 min heads + calibrated event risk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4846320"/>
            <a:ext cx="7406640" cy="1417320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493776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“A medical system must know what it does not know.”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532180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cgm_age_minutes &gt; 15  ⇒  forecast = [], risk_120m = null, status = abstained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current_glucose &gt; 180  ⇒  risk_120m = null (already above threshold)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missing_fraction_60m &gt; 0.50  ⇒  degraded-signal flag surfaced to clinician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366760" y="3246120"/>
            <a:ext cx="3273552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95360" y="3383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6"/>
                </a:solidFill>
              </a:rPr>
              <a:t>0.3%</a:t>
            </a:r>
            <a:endParaRPr lang="en-US" sz="3800" dirty="0"/>
          </a:p>
        </p:txBody>
      </p:sp>
      <p:sp>
        <p:nvSpPr>
          <p:cNvPr id="36" name="Text 34"/>
          <p:cNvSpPr txBox="1"/>
          <p:nvPr/>
        </p:nvSpPr>
        <p:spPr>
          <a:xfrm>
            <a:off x="8595360" y="41148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abstention rate under natural simulator missingness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366760" y="4846320"/>
            <a:ext cx="3273552" cy="1417320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95360" y="49560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4"/>
                </a:solidFill>
              </a:rPr>
              <a:t>100.0%</a:t>
            </a:r>
            <a:endParaRPr lang="en-US" sz="3800" dirty="0"/>
          </a:p>
        </p:txBody>
      </p:sp>
      <p:sp>
        <p:nvSpPr>
          <p:cNvPr id="39" name="Text 37"/>
          <p:cNvSpPr txBox="1"/>
          <p:nvPr/>
        </p:nvSpPr>
        <p:spPr>
          <a:xfrm>
            <a:off x="8595360" y="56692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explicit abstention on 30-minute CGM dropout — zero false guesses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LAYER 5  ·  SERVING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Local Serving &amp; UI Contract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132320" cy="2880360"/>
          </a:xfrm>
          <a:prstGeom prst="roundRect">
            <a:avLst>
              <a:gd name="adj" fmla="val 3175"/>
            </a:avLst>
          </a:prstGeom>
          <a:solidFill>
            <a:schemeClr val="tx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1848460"/>
            <a:ext cx="189281" cy="1892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FastAPI Local Daemon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9842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Pydantic v2 type contract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89320" y="1801368"/>
            <a:ext cx="1463040" cy="274320"/>
          </a:xfrm>
          <a:prstGeom prst="roundRect">
            <a:avLst>
              <a:gd name="adj" fmla="val 26667"/>
            </a:avLst>
          </a:prstGeom>
          <a:solidFill>
            <a:schemeClr val="tx1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127.0.0.1:8000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2441448"/>
            <a:ext cx="566928" cy="219456"/>
          </a:xfrm>
          <a:prstGeom prst="roundRect">
            <a:avLst>
              <a:gd name="adj" fmla="val 20833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GET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231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/api/health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394960" y="2423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Readiness &amp; artifact state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22960" y="2743200"/>
            <a:ext cx="566928" cy="219456"/>
          </a:xfrm>
          <a:prstGeom prst="roundRect">
            <a:avLst>
              <a:gd name="adj" fmla="val 20833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GET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27249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/api/patients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394960" y="27249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Held-out test cohort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22960" y="3044952"/>
            <a:ext cx="566928" cy="219456"/>
          </a:xfrm>
          <a:prstGeom prst="roundRect">
            <a:avLst>
              <a:gd name="adj" fmla="val 20833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GET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1554480" y="302666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/api/twin/{id}?step={t}&amp;sensor_dropout={b}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394960" y="30266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Patient snapshot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22960" y="3346704"/>
            <a:ext cx="566928" cy="219456"/>
          </a:xfrm>
          <a:prstGeom prst="roundRect">
            <a:avLst>
              <a:gd name="adj" fmla="val 2083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POST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1554480" y="33284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/api/twin/{id}/simulate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394960" y="33284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What-if sandbox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22960" y="3648456"/>
            <a:ext cx="566928" cy="219456"/>
          </a:xfrm>
          <a:prstGeom prst="roundRect">
            <a:avLst>
              <a:gd name="adj" fmla="val 20833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GET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36301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/api/metrics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5394960" y="36301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Audit trail &amp; ECE benchmarks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22960" y="3986784"/>
            <a:ext cx="6583680" cy="347472"/>
          </a:xfrm>
          <a:prstGeom prst="roundRect">
            <a:avLst>
              <a:gd name="adj" fmla="val 21053"/>
            </a:avLst>
          </a:prstGeom>
          <a:solidFill>
            <a:schemeClr val="tx1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60120" y="3986784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Artifact provider: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loads the frozen joblib bundle — never trains during requests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114800" y="4480560"/>
            <a:ext cx="0" cy="27432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 flipV="1">
            <a:off x="4114800" y="4480560"/>
            <a:ext cx="0" cy="27432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4389120" y="4480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Localhost REST — zero network / zero external calls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4800600"/>
            <a:ext cx="713232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77240" y="49377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933" y="5041453"/>
            <a:ext cx="176662" cy="176662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1325880" y="49377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React 18 / Vite Clinician UI</a:t>
            </a:r>
            <a:endParaRPr lang="en-US" sz="1500" dirty="0"/>
          </a:p>
        </p:txBody>
      </p:sp>
      <p:sp>
        <p:nvSpPr>
          <p:cNvPr id="34" name="Text 30"/>
          <p:cNvSpPr/>
          <p:nvPr/>
        </p:nvSpPr>
        <p:spPr>
          <a:xfrm>
            <a:off x="5989320" y="4992624"/>
            <a:ext cx="1463040" cy="274320"/>
          </a:xfrm>
          <a:prstGeom prst="roundRect">
            <a:avLst>
              <a:gd name="adj" fmla="val 26667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127.0.0.1:5173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822960" y="54132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TypeScript 5.7 strict schema validation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Recharts high-performance SVG rendering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3749040" y="541324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Replay timeline engine (5-min scrub steps)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Conformal band area shading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Telemetry slope &amp; driver cards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Interactive what-if scenario sandbox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7909560" y="1554480"/>
            <a:ext cx="3730752" cy="4709160"/>
          </a:xfrm>
          <a:prstGeom prst="roundRect">
            <a:avLst>
              <a:gd name="adj" fmla="val 2451"/>
            </a:avLst>
          </a:prstGeom>
          <a:solidFill>
            <a:schemeClr val="tx2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8138160" y="16916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API INTERFACE SPECIFICATION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8138160" y="2011680"/>
            <a:ext cx="3383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/api/twin/PT-001?step=7075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{ "twin": "ready",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"data_quality": "good",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"sensor_dropout": false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"predictions": { "available":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"glucose_30m": 107.2,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"glucose_60m": 104.7,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"glucose_120m": 103.6,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"risk_120m": 0.00,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"interval_coverage_target": 0.90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"forecast":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"minutes_ahead": 30,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"glucose": 107.2,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"lower": 92.2, "upper": 122.3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"minutes_ahead": 60,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"glucose": 104.7,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"lower": 88.7, "upper": 120.8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"minutes_ahead": 120,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"glucose": 103.6,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"lower": 86.2, "upper": 121.1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VERIFICATION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Verification, Reproducibility &amp; Architecture Checklist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3794760"/>
          </a:xfrm>
          <a:prstGeom prst="roundRect">
            <a:avLst>
              <a:gd name="adj" fmla="val 2410"/>
            </a:avLst>
          </a:prstGeom>
          <a:solidFill>
            <a:schemeClr val="tx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Automated Test Suite (pytest)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97680" y="1737360"/>
            <a:ext cx="1188720" cy="292608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6/6 passing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13432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22677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test_event_label_obeys_strict_threshold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47802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Strict threshold &amp; missing-data assertions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1635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277063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test_temporal_features_are_past_only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1188720" y="298094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Temporal past-only isolation verified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1927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27355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test_probability_calibrator_handles_edge_cases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348386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Calibrator edge cases handled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2219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377647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test_pipeline_persists_reloadable_engine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1188720" y="398678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Conformal calibration reloadability confirmed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325112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188720" y="427939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test_personalization_ignores_future_observations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1188720" y="448970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Personalization ignores future observations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828032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188720" y="47823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test_api_exposes_local_contract_and_failure_state</a:t>
            </a:r>
            <a:endParaRPr lang="en-US" sz="1050" dirty="0"/>
          </a:p>
        </p:txBody>
      </p:sp>
      <p:sp>
        <p:nvSpPr>
          <p:cNvPr id="24" name="Text 16"/>
          <p:cNvSpPr txBox="1"/>
          <p:nvPr/>
        </p:nvSpPr>
        <p:spPr>
          <a:xfrm>
            <a:off x="1188720" y="499262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API failure state &amp; contract audited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5943600" y="1554480"/>
            <a:ext cx="2743200" cy="37947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6126480" y="17373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0173" y="1841053"/>
            <a:ext cx="176662" cy="17666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629400" y="17099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Hardware &amp; Operational Footprint</a:t>
            </a:r>
            <a:endParaRPr lang="en-US" sz="1300" dirty="0"/>
          </a:p>
        </p:txBody>
      </p:sp>
      <p:sp>
        <p:nvSpPr>
          <p:cNvPr id="29" name="Text 20"/>
          <p:cNvSpPr txBox="1"/>
          <p:nvPr/>
        </p:nvSpPr>
        <p:spPr>
          <a:xfrm>
            <a:off x="6126480" y="2359152"/>
            <a:ext cx="23957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COMPUTE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100% CPU-compatible (Intel i5 / Apple M1 or higher)</a:t>
            </a:r>
            <a:endParaRPr lang="en-US" sz="1300" dirty="0"/>
          </a:p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RAM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Under 500 MB active memory footprint</a:t>
            </a:r>
            <a:endParaRPr lang="en-US" sz="1300" dirty="0"/>
          </a:p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COLD STARTUP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&lt; 2.5 s to load the bundle and serve</a:t>
            </a:r>
            <a:endParaRPr lang="en-US" sz="1300" dirty="0"/>
          </a:p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DEPENDENCIES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Standard scientific Python (NumPy, Scikit-learn, FastAPI)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869680" y="1554480"/>
            <a:ext cx="2770632" cy="3794760"/>
          </a:xfrm>
          <a:prstGeom prst="roundRect">
            <a:avLst>
              <a:gd name="adj" fmla="val 3300"/>
            </a:avLst>
          </a:prstGeom>
          <a:solidFill>
            <a:schemeClr val="tx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9052560" y="173736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6253" y="1841053"/>
            <a:ext cx="176662" cy="17666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9555480" y="17099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Explicit Non-Claims (Clinical Honesty)</a:t>
            </a:r>
            <a:endParaRPr lang="en-US" sz="1300" dirty="0"/>
          </a:p>
        </p:txBody>
      </p:sp>
      <p:sp>
        <p:nvSpPr>
          <p:cNvPr id="34" name="Text 24"/>
          <p:cNvSpPr txBox="1"/>
          <p:nvPr/>
        </p:nvSpPr>
        <p:spPr>
          <a:xfrm>
            <a:off x="9052560" y="2395728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Not a diagnostic device or treatment dosing calculator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Synthetic cohort development evidence only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Drivers are observed context, not causal SHAP explanations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Scenarios are bounded sandbox heuristics, not medical advice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822960" y="55321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Fully reproducible with seed 2026. Zero network setup required.</a:t>
            </a:r>
            <a:endParaRPr lang="en-US" sz="1500" dirty="0"/>
          </a:p>
        </p:txBody>
      </p:sp>
      <p:sp>
        <p:nvSpPr>
          <p:cNvPr id="37" name="Shape 27"/>
          <p:cNvSpPr/>
          <p:nvPr/>
        </p:nvSpPr>
        <p:spPr>
          <a:xfrm>
            <a:off x="5623560" y="5641848"/>
            <a:ext cx="5852160" cy="512064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rgbClr val="27324F"/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5760720" y="5641848"/>
            <a:ext cx="5623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PYTHON_BIN=python ./scripts/train.sh --patients 60 --days 5 --seed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arogyaTwin Midnight">
  <a:themeElements>
    <a:clrScheme name="AarogyaTwin Midnight">
      <a:dk1>
        <a:srgbClr val="0B1020"/>
      </a:dk1>
      <a:lt1>
        <a:srgbClr val="F1F5F9"/>
      </a:lt1>
      <a:dk2>
        <a:srgbClr val="141C38"/>
      </a:dk2>
      <a:lt2>
        <a:srgbClr val="94A3B8"/>
      </a:lt2>
      <a:accent1>
        <a:srgbClr val="22D3EE"/>
      </a:accent1>
      <a:accent2>
        <a:srgbClr val="A78BFA"/>
      </a:accent2>
      <a:accent3>
        <a:srgbClr val="2DD4BF"/>
      </a:accent3>
      <a:accent4>
        <a:srgbClr val="4ADE80"/>
      </a:accent4>
      <a:accent5>
        <a:srgbClr val="F472B6"/>
      </a:accent5>
      <a:accent6>
        <a:srgbClr val="FBBF24"/>
      </a:accent6>
      <a:hlink>
        <a:srgbClr val="22D3EE"/>
      </a:hlink>
      <a:folHlink>
        <a:srgbClr val="A78BFA"/>
      </a:folHlink>
    </a:clrScheme>
    <a:fontScheme name="AarogyaTwin Midn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AarogyaTwin-X: System Architecture &amp; Data Flow</dc:title>
  <dc:subject>PptxGenJS Presentation</dc:subject>
  <dc:creator>PptxGenJS</dc:creator>
  <cp:lastModifiedBy>PptxGenJS</cp:lastModifiedBy>
  <cp:revision>1</cp:revision>
  <dcterms:created xsi:type="dcterms:W3CDTF">2026-10-17T16:54:58Z</dcterms:created>
  <dcterms:modified xsi:type="dcterms:W3CDTF">2026-10-17T16:54:58Z</dcterms:modified>
</cp:coreProperties>
</file>