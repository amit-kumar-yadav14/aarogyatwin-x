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p="http://schemas.openxmlformats.org/presentationml/2006/main"/>
</file>

<file path=ppt/tableStyles.xml><?xml version="1.0" encoding="utf-8"?>
<a:tblStyleLst xmlns:a="http://schemas.openxmlformats.org/drawingml/2006/main" defaultTableStyle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  <p:clrMap accent1="159B9A" accent2="7667E8" accent3="14253D" accent4="68758A" accent5="F4F7FA" accent6="FFFFFF" bg1="FFFFFF" bg2="F4F7FA" tx1="14253D" tx2="68758A"/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AarogyaTwin-X architecture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Local synthetic research prototype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Forecast heads at 30, 60, and 120 minutes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Evidence, uncertainty, provenance, and abstention are first-class outputs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End-to-end data flow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Seed 2026 -&gt; synthetic simulator -&gt; patient-disjoint split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Past-only feature builder -&gt; CPU temporal model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Calibration and bounded residual -&gt; joblib/JSON artifacts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FastAPI local API -&gt; React/Vite dashboard</a:t>
            </a:r>
            <a:endParaRPr lang="en-US" sz="1500"/>
          </a:p>
        </p:txBody>
      </p:sp>
      <p:sp>
        <p:nvSpPr>
          <p:cNvPr id="20" name="card-20"/>
          <p:cNvSpPr/>
          <p:nvPr/>
        </p:nvSpPr>
        <p:spPr>
          <a:xfrm>
            <a:off x="4892040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1" name="card-text-20"/>
          <p:cNvSpPr/>
          <p:nvPr/>
        </p:nvSpPr>
        <p:spPr>
          <a:xfrm>
            <a:off x="4983480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SIMULATE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seed 2026</a:t>
            </a:r>
            <a:endParaRPr lang="en-US" sz="900"/>
          </a:p>
        </p:txBody>
      </p:sp>
      <p:sp>
        <p:nvSpPr>
          <p:cNvPr id="22" name="arrow-22"/>
          <p:cNvSpPr/>
          <p:nvPr/>
        </p:nvSpPr>
        <p:spPr>
          <a:xfrm>
            <a:off x="6318504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3" name="card-23"/>
          <p:cNvSpPr/>
          <p:nvPr/>
        </p:nvSpPr>
        <p:spPr>
          <a:xfrm>
            <a:off x="6510528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4" name="card-text-23"/>
          <p:cNvSpPr/>
          <p:nvPr/>
        </p:nvSpPr>
        <p:spPr>
          <a:xfrm>
            <a:off x="6601968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SPLIT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patients</a:t>
            </a:r>
            <a:endParaRPr lang="en-US" sz="900"/>
          </a:p>
        </p:txBody>
      </p:sp>
      <p:sp>
        <p:nvSpPr>
          <p:cNvPr id="25" name="arrow-25"/>
          <p:cNvSpPr/>
          <p:nvPr/>
        </p:nvSpPr>
        <p:spPr>
          <a:xfrm>
            <a:off x="7936992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6" name="card-26"/>
          <p:cNvSpPr/>
          <p:nvPr/>
        </p:nvSpPr>
        <p:spPr>
          <a:xfrm>
            <a:off x="8129016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7" name="card-text-26"/>
          <p:cNvSpPr/>
          <p:nvPr/>
        </p:nvSpPr>
        <p:spPr>
          <a:xfrm>
            <a:off x="8220456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FEATURE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past-only</a:t>
            </a:r>
            <a:endParaRPr lang="en-US" sz="900"/>
          </a:p>
        </p:txBody>
      </p:sp>
      <p:sp>
        <p:nvSpPr>
          <p:cNvPr id="28" name="arrow-28"/>
          <p:cNvSpPr/>
          <p:nvPr/>
        </p:nvSpPr>
        <p:spPr>
          <a:xfrm>
            <a:off x="9555480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9" name="card-29"/>
          <p:cNvSpPr/>
          <p:nvPr/>
        </p:nvSpPr>
        <p:spPr>
          <a:xfrm>
            <a:off x="9747504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30" name="card-text-29"/>
          <p:cNvSpPr/>
          <p:nvPr/>
        </p:nvSpPr>
        <p:spPr>
          <a:xfrm>
            <a:off x="9838944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MODEL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CPU heads</a:t>
            </a:r>
            <a:endParaRPr lang="en-US" sz="900"/>
          </a:p>
        </p:txBody>
      </p:sp>
      <p:sp>
        <p:nvSpPr>
          <p:cNvPr id="31" name="card-31"/>
          <p:cNvSpPr/>
          <p:nvPr/>
        </p:nvSpPr>
        <p:spPr>
          <a:xfrm>
            <a:off x="4892040" y="30175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32" name="card-text-31"/>
          <p:cNvSpPr/>
          <p:nvPr/>
        </p:nvSpPr>
        <p:spPr>
          <a:xfrm>
            <a:off x="4983480" y="31089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CALIBRATE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probability + intervals</a:t>
            </a:r>
            <a:endParaRPr lang="en-US" sz="900"/>
          </a:p>
        </p:txBody>
      </p:sp>
      <p:sp>
        <p:nvSpPr>
          <p:cNvPr id="33" name="arrow-33"/>
          <p:cNvSpPr/>
          <p:nvPr/>
        </p:nvSpPr>
        <p:spPr>
          <a:xfrm>
            <a:off x="6318504" y="33009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34" name="card-34"/>
          <p:cNvSpPr/>
          <p:nvPr/>
        </p:nvSpPr>
        <p:spPr>
          <a:xfrm>
            <a:off x="6510528" y="30175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35" name="card-text-34"/>
          <p:cNvSpPr/>
          <p:nvPr/>
        </p:nvSpPr>
        <p:spPr>
          <a:xfrm>
            <a:off x="6601968" y="31089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ENGINE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artifact load</a:t>
            </a:r>
            <a:endParaRPr lang="en-US" sz="900"/>
          </a:p>
        </p:txBody>
      </p:sp>
      <p:sp>
        <p:nvSpPr>
          <p:cNvPr id="36" name="arrow-36"/>
          <p:cNvSpPr/>
          <p:nvPr/>
        </p:nvSpPr>
        <p:spPr>
          <a:xfrm>
            <a:off x="7936992" y="33009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37" name="card-37"/>
          <p:cNvSpPr/>
          <p:nvPr/>
        </p:nvSpPr>
        <p:spPr>
          <a:xfrm>
            <a:off x="8129016" y="30175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38" name="card-text-37"/>
          <p:cNvSpPr/>
          <p:nvPr/>
        </p:nvSpPr>
        <p:spPr>
          <a:xfrm>
            <a:off x="8220456" y="31089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API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localhost</a:t>
            </a:r>
            <a:endParaRPr lang="en-US" sz="900"/>
          </a:p>
        </p:txBody>
      </p:sp>
      <p:sp>
        <p:nvSpPr>
          <p:cNvPr id="39" name="arrow-39"/>
          <p:cNvSpPr/>
          <p:nvPr/>
        </p:nvSpPr>
        <p:spPr>
          <a:xfrm>
            <a:off x="9555480" y="33009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40" name="card-40"/>
          <p:cNvSpPr/>
          <p:nvPr/>
        </p:nvSpPr>
        <p:spPr>
          <a:xfrm>
            <a:off x="9747504" y="30175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1" name="card-text-40"/>
          <p:cNvSpPr/>
          <p:nvPr/>
        </p:nvSpPr>
        <p:spPr>
          <a:xfrm>
            <a:off x="9838944" y="31089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DASHBOARD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replay + evidence</a:t>
            </a:r>
            <a:endParaRPr lang="en-US" sz="9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Synthetic data boundary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60 patients, 5 days, 5-minute grid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CGM, heart rate, HRV, sleep, activity, meals, and static fields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Hidden simulator parameters never become model features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No real patient records or public benchmark data</a:t>
            </a:r>
            <a:endParaRPr lang="en-US" sz="1500"/>
          </a:p>
        </p:txBody>
      </p:sp>
      <p:sp>
        <p:nvSpPr>
          <p:cNvPr id="20" name="card-20"/>
          <p:cNvSpPr/>
          <p:nvPr/>
        </p:nvSpPr>
        <p:spPr>
          <a:xfrm>
            <a:off x="4892040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1" name="card-text-20"/>
          <p:cNvSpPr/>
          <p:nvPr/>
        </p:nvSpPr>
        <p:spPr>
          <a:xfrm>
            <a:off x="4983480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60 PATIENTS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5 synthetic days</a:t>
            </a:r>
            <a:endParaRPr lang="en-US" sz="900"/>
          </a:p>
        </p:txBody>
      </p:sp>
      <p:sp>
        <p:nvSpPr>
          <p:cNvPr id="22" name="arrow-22"/>
          <p:cNvSpPr/>
          <p:nvPr/>
        </p:nvSpPr>
        <p:spPr>
          <a:xfrm>
            <a:off x="6318504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3" name="card-23"/>
          <p:cNvSpPr/>
          <p:nvPr/>
        </p:nvSpPr>
        <p:spPr>
          <a:xfrm>
            <a:off x="6510528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4" name="card-text-23"/>
          <p:cNvSpPr/>
          <p:nvPr/>
        </p:nvSpPr>
        <p:spPr>
          <a:xfrm>
            <a:off x="6601968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CGM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5-minute grid</a:t>
            </a:r>
            <a:endParaRPr lang="en-US" sz="900"/>
          </a:p>
        </p:txBody>
      </p:sp>
      <p:sp>
        <p:nvSpPr>
          <p:cNvPr id="25" name="card-25"/>
          <p:cNvSpPr/>
          <p:nvPr/>
        </p:nvSpPr>
        <p:spPr>
          <a:xfrm>
            <a:off x="4892040" y="30175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6" name="card-text-25"/>
          <p:cNvSpPr/>
          <p:nvPr/>
        </p:nvSpPr>
        <p:spPr>
          <a:xfrm>
            <a:off x="4983480" y="31089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CONTEXT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HR / HRV / sleep</a:t>
            </a:r>
            <a:endParaRPr lang="en-US" sz="900"/>
          </a:p>
        </p:txBody>
      </p:sp>
      <p:sp>
        <p:nvSpPr>
          <p:cNvPr id="27" name="arrow-27"/>
          <p:cNvSpPr/>
          <p:nvPr/>
        </p:nvSpPr>
        <p:spPr>
          <a:xfrm>
            <a:off x="6318504" y="33009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8" name="card-28"/>
          <p:cNvSpPr/>
          <p:nvPr/>
        </p:nvSpPr>
        <p:spPr>
          <a:xfrm>
            <a:off x="6510528" y="30175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9" name="card-text-28"/>
          <p:cNvSpPr/>
          <p:nvPr/>
        </p:nvSpPr>
        <p:spPr>
          <a:xfrm>
            <a:off x="6601968" y="31089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MEALS + ACTIVITY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observed streams</a:t>
            </a:r>
            <a:endParaRPr lang="en-US" sz="9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Leakage-aware evaluation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36 train patients; 6 calibration-tuning; 6 calibration-interval; 12 test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No test patient tunes models, calibration, thresholds, or intervals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Every feature vector is bounded by its replay anchor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Correlated replay windows are not independent subjects</a:t>
            </a:r>
            <a:endParaRPr lang="en-US" sz="1500"/>
          </a:p>
        </p:txBody>
      </p:sp>
      <p:sp>
        <p:nvSpPr>
          <p:cNvPr id="20" name="card-20"/>
          <p:cNvSpPr/>
          <p:nvPr/>
        </p:nvSpPr>
        <p:spPr>
          <a:xfrm>
            <a:off x="4892040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1" name="card-text-20"/>
          <p:cNvSpPr/>
          <p:nvPr/>
        </p:nvSpPr>
        <p:spPr>
          <a:xfrm>
            <a:off x="4983480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TRAIN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36 patients</a:t>
            </a:r>
            <a:endParaRPr lang="en-US" sz="900"/>
          </a:p>
        </p:txBody>
      </p:sp>
      <p:sp>
        <p:nvSpPr>
          <p:cNvPr id="22" name="arrow-22"/>
          <p:cNvSpPr/>
          <p:nvPr/>
        </p:nvSpPr>
        <p:spPr>
          <a:xfrm>
            <a:off x="6318504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3" name="card-23"/>
          <p:cNvSpPr/>
          <p:nvPr/>
        </p:nvSpPr>
        <p:spPr>
          <a:xfrm>
            <a:off x="6510528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4" name="card-text-23"/>
          <p:cNvSpPr/>
          <p:nvPr/>
        </p:nvSpPr>
        <p:spPr>
          <a:xfrm>
            <a:off x="6601968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TUNE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6 patients</a:t>
            </a:r>
            <a:endParaRPr lang="en-US" sz="900"/>
          </a:p>
        </p:txBody>
      </p:sp>
      <p:sp>
        <p:nvSpPr>
          <p:cNvPr id="25" name="arrow-25"/>
          <p:cNvSpPr/>
          <p:nvPr/>
        </p:nvSpPr>
        <p:spPr>
          <a:xfrm>
            <a:off x="7936992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6" name="card-26"/>
          <p:cNvSpPr/>
          <p:nvPr/>
        </p:nvSpPr>
        <p:spPr>
          <a:xfrm>
            <a:off x="8129016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7" name="card-text-26"/>
          <p:cNvSpPr/>
          <p:nvPr/>
        </p:nvSpPr>
        <p:spPr>
          <a:xfrm>
            <a:off x="8220456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INTERVAL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6 patients</a:t>
            </a:r>
            <a:endParaRPr lang="en-US" sz="900"/>
          </a:p>
        </p:txBody>
      </p:sp>
      <p:sp>
        <p:nvSpPr>
          <p:cNvPr id="28" name="arrow-28"/>
          <p:cNvSpPr/>
          <p:nvPr/>
        </p:nvSpPr>
        <p:spPr>
          <a:xfrm>
            <a:off x="9555480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9" name="card-29"/>
          <p:cNvSpPr/>
          <p:nvPr/>
        </p:nvSpPr>
        <p:spPr>
          <a:xfrm>
            <a:off x="9747504" y="1417320"/>
            <a:ext cx="1417320" cy="1024128"/>
          </a:xfrm>
          <a:prstGeom prst="rect">
            <a:avLst/>
          </a:prstGeom>
          <a:solidFill>
            <a:srgbClr val="D58A36"/>
          </a:solidFill>
          <a:ln>
            <a:noFill/>
          </a:ln>
        </p:spPr>
      </p:sp>
      <p:sp>
        <p:nvSpPr>
          <p:cNvPr id="30" name="card-text-29"/>
          <p:cNvSpPr/>
          <p:nvPr/>
        </p:nvSpPr>
        <p:spPr>
          <a:xfrm>
            <a:off x="9838944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TEST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12 held-out</a:t>
            </a:r>
            <a:endParaRPr lang="en-US" sz="900"/>
          </a:p>
        </p:txBody>
      </p:sp>
      <p:sp>
        <p:nvSpPr>
          <p:cNvPr id="31" name="card-31"/>
          <p:cNvSpPr/>
          <p:nvPr/>
        </p:nvSpPr>
        <p:spPr>
          <a:xfrm>
            <a:off x="4892040" y="3017520"/>
            <a:ext cx="6309360" cy="1024128"/>
          </a:xfrm>
          <a:prstGeom prst="rect">
            <a:avLst/>
          </a:prstGeom>
          <a:solidFill>
            <a:srgbClr val="14253D"/>
          </a:solidFill>
          <a:ln>
            <a:noFill/>
          </a:ln>
        </p:spPr>
      </p:sp>
      <p:sp>
        <p:nvSpPr>
          <p:cNvPr id="32" name="card-text-31"/>
          <p:cNvSpPr/>
          <p:nvPr/>
        </p:nvSpPr>
        <p:spPr>
          <a:xfrm>
            <a:off x="4983480" y="3108960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RULE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No test patient chooses a model setting; features stop at the replay anchor.</a:t>
            </a:r>
            <a:endParaRPr lang="en-US" sz="9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Model layers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Temporal lag gradient-boosting heads for glucose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Fusion logistic classifier for the sustained-event endpoint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Train-only imputation, standardization, and missing indicators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Platt probability calibration and split-conformal intervals</a:t>
            </a:r>
            <a:endParaRPr lang="en-US" sz="1500"/>
          </a:p>
        </p:txBody>
      </p:sp>
      <p:sp>
        <p:nvSpPr>
          <p:cNvPr id="20" name="card-20"/>
          <p:cNvSpPr/>
          <p:nvPr/>
        </p:nvSpPr>
        <p:spPr>
          <a:xfrm>
            <a:off x="4892040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1" name="card-text-20"/>
          <p:cNvSpPr/>
          <p:nvPr/>
        </p:nvSpPr>
        <p:spPr>
          <a:xfrm>
            <a:off x="4983480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FEATURES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lags + context</a:t>
            </a:r>
            <a:endParaRPr lang="en-US" sz="900"/>
          </a:p>
        </p:txBody>
      </p:sp>
      <p:sp>
        <p:nvSpPr>
          <p:cNvPr id="22" name="arrow-22"/>
          <p:cNvSpPr/>
          <p:nvPr/>
        </p:nvSpPr>
        <p:spPr>
          <a:xfrm>
            <a:off x="6318504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3" name="card-23"/>
          <p:cNvSpPr/>
          <p:nvPr/>
        </p:nvSpPr>
        <p:spPr>
          <a:xfrm>
            <a:off x="6510528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4" name="card-text-23"/>
          <p:cNvSpPr/>
          <p:nvPr/>
        </p:nvSpPr>
        <p:spPr>
          <a:xfrm>
            <a:off x="6601968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TEMPORAL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glucose heads</a:t>
            </a:r>
            <a:endParaRPr lang="en-US" sz="900"/>
          </a:p>
        </p:txBody>
      </p:sp>
      <p:sp>
        <p:nvSpPr>
          <p:cNvPr id="25" name="arrow-25"/>
          <p:cNvSpPr/>
          <p:nvPr/>
        </p:nvSpPr>
        <p:spPr>
          <a:xfrm>
            <a:off x="7936992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6" name="card-26"/>
          <p:cNvSpPr/>
          <p:nvPr/>
        </p:nvSpPr>
        <p:spPr>
          <a:xfrm>
            <a:off x="8129016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7" name="card-text-26"/>
          <p:cNvSpPr/>
          <p:nvPr/>
        </p:nvSpPr>
        <p:spPr>
          <a:xfrm>
            <a:off x="8220456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EVENT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fusion risk</a:t>
            </a:r>
            <a:endParaRPr lang="en-US" sz="900"/>
          </a:p>
        </p:txBody>
      </p:sp>
      <p:sp>
        <p:nvSpPr>
          <p:cNvPr id="28" name="arrow-28"/>
          <p:cNvSpPr/>
          <p:nvPr/>
        </p:nvSpPr>
        <p:spPr>
          <a:xfrm>
            <a:off x="9555480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9" name="card-29"/>
          <p:cNvSpPr/>
          <p:nvPr/>
        </p:nvSpPr>
        <p:spPr>
          <a:xfrm>
            <a:off x="9747504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30" name="card-text-29"/>
          <p:cNvSpPr/>
          <p:nvPr/>
        </p:nvSpPr>
        <p:spPr>
          <a:xfrm>
            <a:off x="9838944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CALIBRATE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honest intervals</a:t>
            </a:r>
            <a:endParaRPr lang="en-US" sz="900"/>
          </a:p>
        </p:txBody>
      </p:sp>
      <p:sp>
        <p:nvSpPr>
          <p:cNvPr id="31" name="card-31"/>
          <p:cNvSpPr/>
          <p:nvPr/>
        </p:nvSpPr>
        <p:spPr>
          <a:xfrm>
            <a:off x="4892040" y="3017520"/>
            <a:ext cx="6309360" cy="1024128"/>
          </a:xfrm>
          <a:prstGeom prst="rect">
            <a:avLst/>
          </a:prstGeom>
          <a:solidFill>
            <a:srgbClr val="14253D"/>
          </a:solidFill>
          <a:ln>
            <a:noFill/>
          </a:ln>
        </p:spPr>
      </p:sp>
      <p:sp>
        <p:nvSpPr>
          <p:cNvPr id="32" name="card-text-31"/>
          <p:cNvSpPr/>
          <p:nvPr/>
        </p:nvSpPr>
        <p:spPr>
          <a:xfrm>
            <a:off x="4983480" y="3108960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OUTPUT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30 / 60 / 120-minute heads + risk + reason + provenance</a:t>
            </a:r>
            <a:endParaRPr lang="en-US" sz="9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Causal-in-time residual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A prior forecast error is used only after its target timestamp is observable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Per-patient, short, bounded error history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Strength selected on calibration-tuning patients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Adaptive residual only - not a clinical insulin-sensitivity model</a:t>
            </a:r>
            <a:endParaRPr lang="en-US" sz="1500"/>
          </a:p>
        </p:txBody>
      </p:sp>
      <p:sp>
        <p:nvSpPr>
          <p:cNvPr id="20" name="card-20"/>
          <p:cNvSpPr/>
          <p:nvPr/>
        </p:nvSpPr>
        <p:spPr>
          <a:xfrm>
            <a:off x="4892040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1" name="card-text-20"/>
          <p:cNvSpPr/>
          <p:nvPr/>
        </p:nvSpPr>
        <p:spPr>
          <a:xfrm>
            <a:off x="4983480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forecast</a:t>
            </a:r>
            <a:endParaRPr lang="en-US" sz="900"/>
          </a:p>
        </p:txBody>
      </p:sp>
      <p:sp>
        <p:nvSpPr>
          <p:cNvPr id="22" name="arrow-22"/>
          <p:cNvSpPr/>
          <p:nvPr/>
        </p:nvSpPr>
        <p:spPr>
          <a:xfrm>
            <a:off x="6318504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3" name="card-23"/>
          <p:cNvSpPr/>
          <p:nvPr/>
        </p:nvSpPr>
        <p:spPr>
          <a:xfrm>
            <a:off x="6510528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4" name="card-text-23"/>
          <p:cNvSpPr/>
          <p:nvPr/>
        </p:nvSpPr>
        <p:spPr>
          <a:xfrm>
            <a:off x="6601968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TARGET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time arrives</a:t>
            </a:r>
            <a:endParaRPr lang="en-US" sz="900"/>
          </a:p>
        </p:txBody>
      </p:sp>
      <p:sp>
        <p:nvSpPr>
          <p:cNvPr id="25" name="arrow-25"/>
          <p:cNvSpPr/>
          <p:nvPr/>
        </p:nvSpPr>
        <p:spPr>
          <a:xfrm>
            <a:off x="7936992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6" name="card-26"/>
          <p:cNvSpPr/>
          <p:nvPr/>
        </p:nvSpPr>
        <p:spPr>
          <a:xfrm>
            <a:off x="8129016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7" name="card-text-26"/>
          <p:cNvSpPr/>
          <p:nvPr/>
        </p:nvSpPr>
        <p:spPr>
          <a:xfrm>
            <a:off x="8220456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ERROR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observed</a:t>
            </a:r>
            <a:endParaRPr lang="en-US" sz="900"/>
          </a:p>
        </p:txBody>
      </p:sp>
      <p:sp>
        <p:nvSpPr>
          <p:cNvPr id="28" name="arrow-28"/>
          <p:cNvSpPr/>
          <p:nvPr/>
        </p:nvSpPr>
        <p:spPr>
          <a:xfrm>
            <a:off x="9555480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9" name="card-29"/>
          <p:cNvSpPr/>
          <p:nvPr/>
        </p:nvSpPr>
        <p:spPr>
          <a:xfrm>
            <a:off x="9747504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30" name="card-text-29"/>
          <p:cNvSpPr/>
          <p:nvPr/>
        </p:nvSpPr>
        <p:spPr>
          <a:xfrm>
            <a:off x="9838944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T+1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bounded update</a:t>
            </a:r>
            <a:endParaRPr lang="en-US" sz="900"/>
          </a:p>
        </p:txBody>
      </p:sp>
      <p:sp>
        <p:nvSpPr>
          <p:cNvPr id="31" name="card-31"/>
          <p:cNvSpPr/>
          <p:nvPr/>
        </p:nvSpPr>
        <p:spPr>
          <a:xfrm>
            <a:off x="4892040" y="3017520"/>
            <a:ext cx="6309360" cy="1024128"/>
          </a:xfrm>
          <a:prstGeom prst="rect">
            <a:avLst/>
          </a:prstGeom>
          <a:solidFill>
            <a:srgbClr val="14253D"/>
          </a:solidFill>
          <a:ln>
            <a:noFill/>
          </a:ln>
        </p:spPr>
      </p:sp>
      <p:sp>
        <p:nvSpPr>
          <p:cNvPr id="32" name="card-text-31"/>
          <p:cNvSpPr/>
          <p:nvPr/>
        </p:nvSpPr>
        <p:spPr>
          <a:xfrm>
            <a:off x="4983480" y="3108960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GUARDRAIL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Future target cannot influence its own forecast. Adaptive residual != physiology.</a:t>
            </a:r>
            <a:endParaRPr lang="en-US" sz="9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Serving boundary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TwinEngine loads artifacts and never trains during API requests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Local endpoints: health, patients, twin snapshot, scenario, metrics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Missing/stale CGM produces warnings and abstention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No fallback medical numbers are inserted</a:t>
            </a:r>
            <a:endParaRPr lang="en-US" sz="1500"/>
          </a:p>
        </p:txBody>
      </p:sp>
      <p:sp>
        <p:nvSpPr>
          <p:cNvPr id="20" name="card-20"/>
          <p:cNvSpPr/>
          <p:nvPr/>
        </p:nvSpPr>
        <p:spPr>
          <a:xfrm>
            <a:off x="4892040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1" name="card-text-20"/>
          <p:cNvSpPr/>
          <p:nvPr/>
        </p:nvSpPr>
        <p:spPr>
          <a:xfrm>
            <a:off x="4983480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BUNDLE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joblib + JSON</a:t>
            </a:r>
            <a:endParaRPr lang="en-US" sz="900"/>
          </a:p>
        </p:txBody>
      </p:sp>
      <p:sp>
        <p:nvSpPr>
          <p:cNvPr id="22" name="arrow-22"/>
          <p:cNvSpPr/>
          <p:nvPr/>
        </p:nvSpPr>
        <p:spPr>
          <a:xfrm>
            <a:off x="6318504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3" name="card-23"/>
          <p:cNvSpPr/>
          <p:nvPr/>
        </p:nvSpPr>
        <p:spPr>
          <a:xfrm>
            <a:off x="6510528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4" name="card-text-23"/>
          <p:cNvSpPr/>
          <p:nvPr/>
        </p:nvSpPr>
        <p:spPr>
          <a:xfrm>
            <a:off x="6601968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ENGINE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no training</a:t>
            </a:r>
            <a:endParaRPr lang="en-US" sz="900"/>
          </a:p>
        </p:txBody>
      </p:sp>
      <p:sp>
        <p:nvSpPr>
          <p:cNvPr id="25" name="arrow-25"/>
          <p:cNvSpPr/>
          <p:nvPr/>
        </p:nvSpPr>
        <p:spPr>
          <a:xfrm>
            <a:off x="7936992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6" name="card-26"/>
          <p:cNvSpPr/>
          <p:nvPr/>
        </p:nvSpPr>
        <p:spPr>
          <a:xfrm>
            <a:off x="8129016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7" name="card-text-26"/>
          <p:cNvSpPr/>
          <p:nvPr/>
        </p:nvSpPr>
        <p:spPr>
          <a:xfrm>
            <a:off x="8220456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API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127.0.0.1</a:t>
            </a:r>
            <a:endParaRPr lang="en-US" sz="900"/>
          </a:p>
        </p:txBody>
      </p:sp>
      <p:sp>
        <p:nvSpPr>
          <p:cNvPr id="28" name="arrow-28"/>
          <p:cNvSpPr/>
          <p:nvPr/>
        </p:nvSpPr>
        <p:spPr>
          <a:xfrm>
            <a:off x="9555480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9" name="card-29"/>
          <p:cNvSpPr/>
          <p:nvPr/>
        </p:nvSpPr>
        <p:spPr>
          <a:xfrm>
            <a:off x="9747504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30" name="card-text-29"/>
          <p:cNvSpPr/>
          <p:nvPr/>
        </p:nvSpPr>
        <p:spPr>
          <a:xfrm>
            <a:off x="9838944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UI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React/Vite</a:t>
            </a:r>
            <a:endParaRPr lang="en-US" sz="9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Dashboard boundary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Replay held-out patient history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Three named forecast heads and intervals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Event state and risk when eligible</a:t>
            </a:r>
            <a:endParaRPr lang="en-US" sz="1500"/>
          </a:p>
          <a:p>
            <a:pPr lvl="0">
              <a:buChar char="•"/>
            </a:pPr>
            <a:r>
              <a:rPr lang="en-US" sz="1500">
                <a:solidFill>
                  <a:srgbClr val="26364D"/>
                </a:solidFill>
                <a:latin typeface="Aptos"/>
              </a:rPr>
              <a:t>Dropout, provenance, limitations, and assumption-based scenario view</a:t>
            </a:r>
            <a:endParaRPr lang="en-US" sz="1500"/>
          </a:p>
        </p:txBody>
      </p:sp>
      <p:sp>
        <p:nvSpPr>
          <p:cNvPr id="20" name="card-20"/>
          <p:cNvSpPr/>
          <p:nvPr/>
        </p:nvSpPr>
        <p:spPr>
          <a:xfrm>
            <a:off x="4892040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1" name="card-text-20"/>
          <p:cNvSpPr/>
          <p:nvPr/>
        </p:nvSpPr>
        <p:spPr>
          <a:xfrm>
            <a:off x="4983480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SELECT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test patient</a:t>
            </a:r>
            <a:endParaRPr lang="en-US" sz="900"/>
          </a:p>
        </p:txBody>
      </p:sp>
      <p:sp>
        <p:nvSpPr>
          <p:cNvPr id="22" name="arrow-22"/>
          <p:cNvSpPr/>
          <p:nvPr/>
        </p:nvSpPr>
        <p:spPr>
          <a:xfrm>
            <a:off x="6318504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3" name="card-23"/>
          <p:cNvSpPr/>
          <p:nvPr/>
        </p:nvSpPr>
        <p:spPr>
          <a:xfrm>
            <a:off x="6510528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24" name="card-text-23"/>
          <p:cNvSpPr/>
          <p:nvPr/>
        </p:nvSpPr>
        <p:spPr>
          <a:xfrm>
            <a:off x="6601968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REPLAY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+5 min</a:t>
            </a:r>
            <a:endParaRPr lang="en-US" sz="900"/>
          </a:p>
        </p:txBody>
      </p:sp>
      <p:sp>
        <p:nvSpPr>
          <p:cNvPr id="25" name="arrow-25"/>
          <p:cNvSpPr/>
          <p:nvPr/>
        </p:nvSpPr>
        <p:spPr>
          <a:xfrm>
            <a:off x="7936992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6" name="card-26"/>
          <p:cNvSpPr/>
          <p:nvPr/>
        </p:nvSpPr>
        <p:spPr>
          <a:xfrm>
            <a:off x="8129016" y="1417320"/>
            <a:ext cx="1417320" cy="1024128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27" name="card-text-26"/>
          <p:cNvSpPr/>
          <p:nvPr/>
        </p:nvSpPr>
        <p:spPr>
          <a:xfrm>
            <a:off x="8220456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FORECAST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heads + bands</a:t>
            </a:r>
            <a:endParaRPr lang="en-US" sz="900"/>
          </a:p>
        </p:txBody>
      </p:sp>
      <p:sp>
        <p:nvSpPr>
          <p:cNvPr id="28" name="arrow-28"/>
          <p:cNvSpPr/>
          <p:nvPr/>
        </p:nvSpPr>
        <p:spPr>
          <a:xfrm>
            <a:off x="9555480" y="1700784"/>
            <a:ext cx="26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200" b="1">
                <a:solidFill>
                  <a:srgbClr val="7667E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9" name="card-29"/>
          <p:cNvSpPr/>
          <p:nvPr/>
        </p:nvSpPr>
        <p:spPr>
          <a:xfrm>
            <a:off x="9747504" y="1417320"/>
            <a:ext cx="1417320" cy="1024128"/>
          </a:xfrm>
          <a:prstGeom prst="rect">
            <a:avLst/>
          </a:prstGeom>
          <a:solidFill>
            <a:srgbClr val="7667E8"/>
          </a:solidFill>
          <a:ln>
            <a:noFill/>
          </a:ln>
        </p:spPr>
      </p:sp>
      <p:sp>
        <p:nvSpPr>
          <p:cNvPr id="30" name="card-text-29"/>
          <p:cNvSpPr/>
          <p:nvPr/>
        </p:nvSpPr>
        <p:spPr>
          <a:xfrm>
            <a:off x="9838944" y="1508760"/>
            <a:ext cx="1234440" cy="8412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1400" b="1">
                <a:solidFill>
                  <a:srgbClr val="FFFFFF"/>
                </a:solidFill>
                <a:latin typeface="Aptos"/>
              </a:rPr>
              <a:t>EVIDENCE</a:t>
            </a:r>
            <a:endParaRPr lang="en-US" sz="1400"/>
          </a:p>
          <a:p>
            <a:pPr lvl="0">
              <a:buNone/>
            </a:pPr>
            <a:r>
              <a:rPr lang="en-US" sz="900">
                <a:solidFill>
                  <a:srgbClr val="EAF4F5"/>
                </a:solidFill>
                <a:latin typeface="Aptos"/>
              </a:rPr>
              <a:t>limitations</a:t>
            </a:r>
            <a:endParaRPr lang="en-US" sz="9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Non-claims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65836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 clinical accuracy or real-patient generalization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 causal treatment effect or dosing recommendation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 arbitrary distribution-shift robustness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Full saved evidence is in docs/EVIDENCE_SUMMARY.md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9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rogyaTwin">
  <a:themeElements>
    <a:clrScheme name="Aarogya">
      <a:dk1>
        <a:sysClr val="windowText" lastClr="000000"/>
      </a:dk1>
      <a:lt1>
        <a:sysClr val="window" lastClr="FFFFFF"/>
      </a:lt1>
      <a:dk2>
        <a:srgbClr val="14253D"/>
      </a:dk2>
      <a:lt2>
        <a:srgbClr val="F4F7FA"/>
      </a:lt2>
      <a:accent1>
        <a:srgbClr val="159B9A"/>
      </a:accent1>
      <a:accent2>
        <a:srgbClr val="7667E8"/>
      </a:accent2>
      <a:accent3>
        <a:srgbClr val="D58A36"/>
      </a:accent3>
      <a:accent4>
        <a:srgbClr val="68758A"/>
      </a:accent4>
      <a:accent5>
        <a:srgbClr val="FFFFFF"/>
      </a:accent5>
      <a:accent6>
        <a:srgbClr val="F4F7FA"/>
      </a:accent6>
      <a:hlink>
        <a:srgbClr val="159B9A"/>
      </a:hlink>
      <a:folHlink>
        <a:srgbClr val="7667E8"/>
      </a:folHlink>
    </a:clrScheme>
    <a:fontScheme name="Aarogya">
      <a:majorFont>
        <a:latin typeface="Aptos Display"/>
      </a:majorFont>
      <a:minorFont>
        <a:latin typeface="Aptos"/>
      </a:minorFont>
    </a:fontScheme>
    <a:fmtScheme name="Aarogya">
      <a:fillStyleLst/>
      <a:lnStyleLst/>
      <a:effectStyleLst/>
      <a:bgFillStyleLst/>
    </a:fmtScheme>
  </a:themeElements>
</a:theme>
</file>