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 type="screen16x9"/>
  <p:notesSz cx="6858000" cy="9144000"/>
  <p:defaultTextStyle/>
</p:presentation>
</file>

<file path=ppt/presProps.xml><?xml version="1.0" encoding="utf-8"?>
<p:presentationPr xmlns:a="http://schemas.openxmlformats.org/drawingml/2006/main" xmlns:p="http://schemas.openxmlformats.org/presentationml/2006/main"/>
</file>

<file path=ppt/tableStyles.xml><?xml version="1.0" encoding="utf-8"?>
<a:tblStyleLst xmlns:a="http://schemas.openxmlformats.org/drawingml/2006/main" defaultTableStyle="{5C22544A-7EE6-4342-B048-85BDC9FD1C3A}"/>
</file>

<file path=ppt/viewProps.xml><?xml version="1.0" encoding="utf-8"?>
<p:viewPr xmlns:a="http://schemas.openxmlformats.org/drawingml/2006/main" xmlns:p="http://schemas.openxmlformats.org/presentationml/2006/main">
  <p:normalViewPr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1" r:id="rId1"/>
  </p:sldLayoutIdLst>
  <p:txStyles>
    <p:titleStyle/>
    <p:bodyStyle/>
    <p:otherStyle/>
  </p:txStyles>
  <p:clrMap accent1="159B9A" accent2="7667E8" accent3="14253D" accent4="68758A" accent5="F4F7FA" accent6="FFFFFF" bg1="FFFFFF" bg2="F4F7FA" tx1="14253D" tx2="68758A"/>
</p:sldMaster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AarogyaTwin-X architecture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749808" y="1261872"/>
            <a:ext cx="1069848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Local synthetic research prototype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Forecast heads at 30, 60, and 120 minutes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Evidence, uncertainty, provenance, and abstention are first-class outputs</a:t>
            </a:r>
            <a:endParaRPr lang="en-US" sz="17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1</a:t>
            </a:r>
            <a:endParaRPr lang="en-US" sz="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End-to-end data flow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749808" y="1261872"/>
            <a:ext cx="1069848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Seed 2026 -&gt; synthetic simulator -&gt; patient-disjoint split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Past-only feature builder -&gt; CPU temporal model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Calibration and bounded residual -&gt; joblib/JSON artifacts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FastAPI local API -&gt; React/Vite dashboard</a:t>
            </a:r>
            <a:endParaRPr lang="en-US" sz="17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2</a:t>
            </a:r>
            <a:endParaRPr lang="en-US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Synthetic data boundary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749808" y="1261872"/>
            <a:ext cx="1069848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60 patients, 5 days, 5-minute grid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CGM, heart rate, HRV, sleep, activity, meals, and static fields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Hidden simulator parameters never become model features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No real patient records or public benchmark data</a:t>
            </a:r>
            <a:endParaRPr lang="en-US" sz="17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3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Leakage-aware evaluation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749808" y="1261872"/>
            <a:ext cx="1069848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36 train patients; 6 calibration-tuning; 6 calibration-interval; 12 test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No test patient tunes models, calibration, thresholds, or intervals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Every feature vector is bounded by its replay anchor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Correlated replay windows are not independent subjects</a:t>
            </a:r>
            <a:endParaRPr lang="en-US" sz="17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4</a:t>
            </a:r>
            <a:endParaRPr lang="en-US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Model layers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749808" y="1261872"/>
            <a:ext cx="1069848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Temporal lag gradient-boosting heads for glucose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Fusion logistic classifier for the sustained-event endpoint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Train-only imputation, standardization, and missing indicators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Platt probability calibration and split-conformal intervals</a:t>
            </a:r>
            <a:endParaRPr lang="en-US" sz="17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5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Causal-in-time residual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749808" y="1261872"/>
            <a:ext cx="1069848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A prior forecast error is used only after its target timestamp is observable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Per-patient, short, bounded error history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Strength selected on calibration-tuning patients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Adaptive residual only - not a clinical insulin-sensitivity model</a:t>
            </a:r>
            <a:endParaRPr lang="en-US" sz="17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6</a:t>
            </a:r>
            <a:endParaRPr lang="en-US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Serving boundary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749808" y="1261872"/>
            <a:ext cx="1069848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TwinEngine loads artifacts and never trains during API requests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Local endpoints: health, patients, twin snapshot, scenario, metrics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Missing/stale CGM produces warnings and abstention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No fallback medical numbers are inserted</a:t>
            </a:r>
            <a:endParaRPr lang="en-US" sz="17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7</a:t>
            </a:r>
            <a:endParaRPr lang="en-US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Dashboard boundary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749808" y="1261872"/>
            <a:ext cx="1069848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Replay held-out patient history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Three named forecast heads and intervals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Event state and risk when eligible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Dropout, provenance, limitations, and assumption-based scenario view</a:t>
            </a:r>
            <a:endParaRPr lang="en-US" sz="17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8</a:t>
            </a:r>
            <a:endParaRPr lang="en-US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Non-claims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749808" y="1261872"/>
            <a:ext cx="1069848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No clinical accuracy or real-patient generalization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No causal treatment effect or dosing recommendation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No arbitrary distribution-shift robustness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Full saved evidence is in docs/EVIDENCE_SUMMARY.md</a:t>
            </a:r>
            <a:endParaRPr lang="en-US" sz="17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9</a:t>
            </a:r>
            <a:endParaRPr lang="en-US" sz="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arogyaTwin">
  <a:themeElements>
    <a:clrScheme name="Aarogya">
      <a:dk1>
        <a:sysClr val="windowText" lastClr="000000"/>
      </a:dk1>
      <a:lt1>
        <a:sysClr val="window" lastClr="FFFFFF"/>
      </a:lt1>
      <a:dk2>
        <a:srgbClr val="14253D"/>
      </a:dk2>
      <a:lt2>
        <a:srgbClr val="F4F7FA"/>
      </a:lt2>
      <a:accent1>
        <a:srgbClr val="159B9A"/>
      </a:accent1>
      <a:accent2>
        <a:srgbClr val="7667E8"/>
      </a:accent2>
      <a:accent3>
        <a:srgbClr val="D58A36"/>
      </a:accent3>
      <a:accent4>
        <a:srgbClr val="68758A"/>
      </a:accent4>
      <a:accent5>
        <a:srgbClr val="FFFFFF"/>
      </a:accent5>
      <a:accent6>
        <a:srgbClr val="F4F7FA"/>
      </a:accent6>
      <a:hlink>
        <a:srgbClr val="159B9A"/>
      </a:hlink>
      <a:folHlink>
        <a:srgbClr val="7667E8"/>
      </a:folHlink>
    </a:clrScheme>
    <a:fontScheme name="Aarogya">
      <a:majorFont>
        <a:latin typeface="Aptos Display"/>
      </a:majorFont>
      <a:minorFont>
        <a:latin typeface="Aptos"/>
      </a:minorFont>
    </a:fontScheme>
    <a:fmtScheme name="Aarogya">
      <a:fillStyleLst/>
      <a:lnStyleLst/>
      <a:effectStyleLst/>
      <a:bgFillStyleLst/>
    </a:fmtScheme>
  </a:themeElements>
</a:theme>
</file>